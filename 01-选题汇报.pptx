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0" r:id="rId4"/>
    <p:sldId id="272" r:id="rId5"/>
    <p:sldId id="290" r:id="rId6"/>
    <p:sldId id="291" r:id="rId7"/>
    <p:sldId id="288" r:id="rId8"/>
    <p:sldId id="273" r:id="rId9"/>
    <p:sldId id="281" r:id="rId10"/>
    <p:sldId id="282" r:id="rId11"/>
    <p:sldId id="274" r:id="rId12"/>
    <p:sldId id="287" r:id="rId13"/>
    <p:sldId id="280" r:id="rId14"/>
    <p:sldId id="279" r:id="rId15"/>
    <p:sldId id="276" r:id="rId16"/>
    <p:sldId id="277" r:id="rId17"/>
    <p:sldId id="278" r:id="rId18"/>
    <p:sldId id="275" r:id="rId19"/>
    <p:sldId id="292" r:id="rId20"/>
    <p:sldId id="294" r:id="rId21"/>
    <p:sldId id="284" r:id="rId22"/>
    <p:sldId id="295" r:id="rId23"/>
    <p:sldId id="293" r:id="rId24"/>
    <p:sldId id="271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33D"/>
    <a:srgbClr val="FFFFFA"/>
    <a:srgbClr val="FFFBF5"/>
    <a:srgbClr val="FFFFFF"/>
    <a:srgbClr val="00D473"/>
    <a:srgbClr val="00BA69"/>
    <a:srgbClr val="009457"/>
    <a:srgbClr val="00A867"/>
    <a:srgbClr val="008853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81" y="213"/>
      </p:cViewPr>
      <p:guideLst>
        <p:guide orient="horz" pos="2127"/>
        <p:guide pos="383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55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2.xml"/><Relationship Id="rId5" Type="http://schemas.openxmlformats.org/officeDocument/2006/relationships/image" Target="../media/image5.png"/><Relationship Id="rId4" Type="http://schemas.openxmlformats.org/officeDocument/2006/relationships/tags" Target="../tags/tag71.xml"/><Relationship Id="rId3" Type="http://schemas.openxmlformats.org/officeDocument/2006/relationships/image" Target="../media/image4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6.xml"/><Relationship Id="rId5" Type="http://schemas.openxmlformats.org/officeDocument/2006/relationships/image" Target="../media/image6.png"/><Relationship Id="rId4" Type="http://schemas.openxmlformats.org/officeDocument/2006/relationships/tags" Target="../tags/tag75.xml"/><Relationship Id="rId3" Type="http://schemas.openxmlformats.org/officeDocument/2006/relationships/image" Target="../media/image4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tags" Target="../tags/tag79.xml"/><Relationship Id="rId3" Type="http://schemas.openxmlformats.org/officeDocument/2006/relationships/image" Target="../media/image4.png"/><Relationship Id="rId2" Type="http://schemas.openxmlformats.org/officeDocument/2006/relationships/tags" Target="../tags/tag78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7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4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tags" Target="../tags/tag83.xml"/><Relationship Id="rId3" Type="http://schemas.openxmlformats.org/officeDocument/2006/relationships/image" Target="../media/image4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8.xml"/><Relationship Id="rId5" Type="http://schemas.openxmlformats.org/officeDocument/2006/relationships/image" Target="../media/image14.png"/><Relationship Id="rId4" Type="http://schemas.openxmlformats.org/officeDocument/2006/relationships/tags" Target="../tags/tag87.xml"/><Relationship Id="rId3" Type="http://schemas.openxmlformats.org/officeDocument/2006/relationships/image" Target="../media/image4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9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tags" Target="../tags/tag91.xml"/><Relationship Id="rId3" Type="http://schemas.openxmlformats.org/officeDocument/2006/relationships/image" Target="../media/image4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96.xml"/><Relationship Id="rId5" Type="http://schemas.openxmlformats.org/officeDocument/2006/relationships/image" Target="../media/image17.png"/><Relationship Id="rId4" Type="http://schemas.openxmlformats.org/officeDocument/2006/relationships/tags" Target="../tags/tag95.xml"/><Relationship Id="rId3" Type="http://schemas.openxmlformats.org/officeDocument/2006/relationships/image" Target="../media/image4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00.xml"/><Relationship Id="rId5" Type="http://schemas.openxmlformats.org/officeDocument/2006/relationships/image" Target="../media/image18.png"/><Relationship Id="rId4" Type="http://schemas.openxmlformats.org/officeDocument/2006/relationships/tags" Target="../tags/tag99.xml"/><Relationship Id="rId3" Type="http://schemas.openxmlformats.org/officeDocument/2006/relationships/image" Target="../media/image4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04.xml"/><Relationship Id="rId5" Type="http://schemas.openxmlformats.org/officeDocument/2006/relationships/image" Target="../media/image19.png"/><Relationship Id="rId4" Type="http://schemas.openxmlformats.org/officeDocument/2006/relationships/tags" Target="../tags/tag103.xml"/><Relationship Id="rId3" Type="http://schemas.openxmlformats.org/officeDocument/2006/relationships/image" Target="../media/image4.pn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08.xml"/><Relationship Id="rId5" Type="http://schemas.openxmlformats.org/officeDocument/2006/relationships/image" Target="../media/image20.png"/><Relationship Id="rId4" Type="http://schemas.openxmlformats.org/officeDocument/2006/relationships/tags" Target="../tags/tag107.xml"/><Relationship Id="rId3" Type="http://schemas.openxmlformats.org/officeDocument/2006/relationships/image" Target="../media/image4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image" Target="../media/image4.png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image" Target="../media/image4.png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image" Target="../media/image4.png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image" Target="../media/image4.png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image" Target="../media/image4.png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32.xml"/><Relationship Id="rId5" Type="http://schemas.openxmlformats.org/officeDocument/2006/relationships/image" Target="../media/image21.png"/><Relationship Id="rId4" Type="http://schemas.openxmlformats.org/officeDocument/2006/relationships/tags" Target="../tags/tag131.xml"/><Relationship Id="rId3" Type="http://schemas.openxmlformats.org/officeDocument/2006/relationships/image" Target="../media/image4.png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36.xml"/><Relationship Id="rId5" Type="http://schemas.openxmlformats.org/officeDocument/2006/relationships/image" Target="../media/image22.png"/><Relationship Id="rId4" Type="http://schemas.openxmlformats.org/officeDocument/2006/relationships/tags" Target="../tags/tag135.xml"/><Relationship Id="rId3" Type="http://schemas.openxmlformats.org/officeDocument/2006/relationships/image" Target="../media/image4.png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40.xml"/><Relationship Id="rId5" Type="http://schemas.openxmlformats.org/officeDocument/2006/relationships/image" Target="../media/image23.png"/><Relationship Id="rId4" Type="http://schemas.openxmlformats.org/officeDocument/2006/relationships/tags" Target="../tags/tag139.xml"/><Relationship Id="rId3" Type="http://schemas.openxmlformats.org/officeDocument/2006/relationships/image" Target="../media/image4.png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44.xml"/><Relationship Id="rId5" Type="http://schemas.openxmlformats.org/officeDocument/2006/relationships/image" Target="../media/image24.png"/><Relationship Id="rId4" Type="http://schemas.openxmlformats.org/officeDocument/2006/relationships/tags" Target="../tags/tag143.xml"/><Relationship Id="rId3" Type="http://schemas.openxmlformats.org/officeDocument/2006/relationships/image" Target="../media/image4.png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48.xml"/><Relationship Id="rId5" Type="http://schemas.openxmlformats.org/officeDocument/2006/relationships/image" Target="../media/image25.png"/><Relationship Id="rId4" Type="http://schemas.openxmlformats.org/officeDocument/2006/relationships/tags" Target="../tags/tag147.xml"/><Relationship Id="rId3" Type="http://schemas.openxmlformats.org/officeDocument/2006/relationships/image" Target="../media/image4.png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52.xml"/><Relationship Id="rId5" Type="http://schemas.openxmlformats.org/officeDocument/2006/relationships/image" Target="../media/image26.png"/><Relationship Id="rId4" Type="http://schemas.openxmlformats.org/officeDocument/2006/relationships/tags" Target="../tags/tag151.xml"/><Relationship Id="rId3" Type="http://schemas.openxmlformats.org/officeDocument/2006/relationships/image" Target="../media/image4.png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3970" y="1840230"/>
            <a:ext cx="12201525" cy="25196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校徽+南京师范大学"/>
          <p:cNvPicPr>
            <a:picLocks noChangeAspect="1"/>
          </p:cNvPicPr>
          <p:nvPr/>
        </p:nvPicPr>
        <p:blipFill>
          <a:blip r:embed="rId1"/>
          <a:srcRect t="33231" b="38380"/>
          <a:stretch>
            <a:fillRect/>
          </a:stretch>
        </p:blipFill>
        <p:spPr>
          <a:xfrm>
            <a:off x="4001135" y="743585"/>
            <a:ext cx="4171950" cy="8375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9485" y="2272030"/>
            <a:ext cx="102539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基于异构 NoSQL 数据库协同的个人知识管理与智能检索系统</a:t>
            </a:r>
            <a:endParaRPr lang="en-US" sz="5400" dirty="0"/>
          </a:p>
          <a:p>
            <a:pPr algn="ctr"/>
            <a:endParaRPr lang="en-US" sz="5400" dirty="0"/>
          </a:p>
          <a:p>
            <a:pPr algn="ctr"/>
            <a:endParaRPr lang="en-US" altLang="zh-CN" sz="54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grpSp>
        <p:nvGrpSpPr>
          <p:cNvPr id="13" name="组合 12"/>
          <p:cNvGrpSpPr/>
          <p:nvPr>
            <p:custDataLst>
              <p:tags r:id="rId2"/>
            </p:custDataLst>
          </p:nvPr>
        </p:nvGrpSpPr>
        <p:grpSpPr>
          <a:xfrm>
            <a:off x="3684270" y="4840605"/>
            <a:ext cx="7268845" cy="581025"/>
            <a:chOff x="4228" y="7790"/>
            <a:chExt cx="11447" cy="915"/>
          </a:xfrm>
        </p:grpSpPr>
        <p:pic>
          <p:nvPicPr>
            <p:cNvPr id="9" name="图片 8" descr="3b32313536353934363b4eba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28" y="7790"/>
              <a:ext cx="915" cy="915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>
              <p:custDataLst>
                <p:tags r:id="rId6"/>
              </p:custDataLst>
            </p:nvPr>
          </p:nvSpPr>
          <p:spPr>
            <a:xfrm>
              <a:off x="5401" y="7957"/>
              <a:ext cx="92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答辩人：黄俊杰、尤周、毛栋、惠宇</a:t>
              </a:r>
              <a:endParaRPr lang="zh-CN" altLang="en-US" b="1"/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12055" y="7957"/>
              <a:ext cx="36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b="1"/>
            </a:p>
          </p:txBody>
        </p:sp>
      </p:grp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4756785" y="6170930"/>
            <a:ext cx="26587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项目背景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94080" y="1240790"/>
            <a:ext cx="8394065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zh-CN" alt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问题：</a:t>
            </a: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学生资料不断积累，知识却难以真正复用</a:t>
            </a:r>
            <a:endParaRPr lang="en-US" altLang="en-US" sz="2500" b="1" dirty="0">
              <a:solidFill>
                <a:srgbClr val="1B2A44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015490"/>
            <a:ext cx="9534525" cy="23717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90600" y="5034915"/>
            <a:ext cx="73526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B2A44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把“存储 → 组织 → 关联 → 检索 → 复用”连成一条完整的知识工作流</a:t>
            </a:r>
            <a:endParaRPr lang="en-US" altLang="en-US" b="1" dirty="0">
              <a:solidFill>
                <a:srgbClr val="1B2A44"/>
              </a:solidFill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项目背景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72770" y="1205230"/>
            <a:ext cx="609600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一个知识库，贯穿课程、科研与校园生活</a:t>
            </a:r>
            <a:endParaRPr lang="en-US" altLang="en-US" sz="2500" b="1" dirty="0">
              <a:solidFill>
                <a:srgbClr val="1B2A44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2770" y="168071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针对大学生日常使用场景设计，不把使用范围局限于课堂资料。</a:t>
            </a:r>
            <a:endParaRPr lang="en-US" sz="125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70" y="2315845"/>
            <a:ext cx="9297670" cy="341566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项目背景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060" y="2054225"/>
            <a:ext cx="5798820" cy="367258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120" y="2054225"/>
            <a:ext cx="5798820" cy="36725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860040" y="124460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ima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775399" y="1244600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Zotero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5845" y="1139825"/>
            <a:ext cx="770890" cy="7550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0" y="1207135"/>
            <a:ext cx="649605" cy="62103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项目背景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605" y="1036661"/>
            <a:ext cx="5422394" cy="524822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34" y="1011261"/>
            <a:ext cx="2670506" cy="55092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01040" y="143764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obsidian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880" y="2139950"/>
            <a:ext cx="672465" cy="69913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项目背景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" y="1727574"/>
            <a:ext cx="10321290" cy="427952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9280" y="11783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三者对比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911080" y="4724400"/>
            <a:ext cx="2372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可为四种数据库做不同索引，自主控制更新与路径更改</a:t>
            </a:r>
            <a:endParaRPr lang="zh-CN" altLang="en-US" sz="1400" dirty="0"/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主要业务功能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99440" y="1169035"/>
            <a:ext cx="609600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六大功能模块，形成完整个人知识工作流</a:t>
            </a:r>
            <a:endParaRPr lang="en-US" altLang="en-US" sz="2500" b="1" dirty="0">
              <a:solidFill>
                <a:srgbClr val="1B2A44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9440" y="1644523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前三类解决内容产生与组织，后三类解决内容关联与复用。</a:t>
            </a:r>
            <a:endParaRPr lang="en-US" sz="125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" y="2129155"/>
            <a:ext cx="9464040" cy="31686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40" y="5467350"/>
            <a:ext cx="4774565" cy="41148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主要业务功能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85470" y="1116330"/>
            <a:ext cx="7671435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典型任务：复习“进程调度”时，系统如何工作？</a:t>
            </a:r>
            <a:endParaRPr lang="en-US" altLang="en-US" sz="2500" b="1" dirty="0">
              <a:solidFill>
                <a:srgbClr val="1B2A44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5470" y="1671955"/>
            <a:ext cx="6096000" cy="283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用一次完整的操作把用户价值与数据库作用连接起来。</a:t>
            </a:r>
            <a:endParaRPr lang="en-US" altLang="en-US" sz="1250" dirty="0">
              <a:solidFill>
                <a:srgbClr val="667792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70" y="2186940"/>
            <a:ext cx="10093325" cy="30695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主要业务功能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195705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交互界面构想：三栏知识工作台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671193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左侧知识组织 / 中间编辑与阅读 / 右侧关联笔记与知识图谱入口。</a:t>
            </a:r>
            <a:endParaRPr lang="en-US" sz="125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182495"/>
            <a:ext cx="9421495" cy="3712210"/>
          </a:xfrm>
          <a:prstGeom prst="rect">
            <a:avLst/>
          </a:prstGeom>
        </p:spPr>
      </p:pic>
      <p:sp>
        <p:nvSpPr>
          <p:cNvPr id="54" name="Text 52"/>
          <p:cNvSpPr/>
          <p:nvPr/>
        </p:nvSpPr>
        <p:spPr>
          <a:xfrm>
            <a:off x="6541262" y="6040247"/>
            <a:ext cx="3429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界面为设计示意，并非已实现系统截图</a:t>
            </a:r>
            <a:endParaRPr lang="en-US" sz="950" dirty="0"/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总体技术架构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a1a2e4f541ae9bbc3d8b54217f93fc8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99" y="680085"/>
            <a:ext cx="10423525" cy="586676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3187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主要技术与部署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86740" y="1085850"/>
            <a:ext cx="609600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技术选型：少而稳的工程边界</a:t>
            </a:r>
            <a:endParaRPr lang="en-US" altLang="en-US" sz="2500" b="1" dirty="0">
              <a:solidFill>
                <a:srgbClr val="1B2A44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6740" y="1561465"/>
            <a:ext cx="6096000" cy="283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选择成熟工具组合，优先保证在个人电脑上可重复部署。</a:t>
            </a:r>
            <a:endParaRPr lang="en-US" altLang="en-US" sz="1250" dirty="0">
              <a:solidFill>
                <a:srgbClr val="667792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" y="2077085"/>
            <a:ext cx="9721850" cy="37204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6740" y="5912485"/>
            <a:ext cx="6096000" cy="2660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安全约束：所有访问先做权限校验；数据库不直连公网；原文件与元数据分离保存。</a:t>
            </a:r>
            <a:endParaRPr lang="en-US" altLang="en-US" sz="1140" dirty="0">
              <a:solidFill>
                <a:srgbClr val="667792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总体技术架构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40460" y="1040765"/>
            <a:ext cx="8929370" cy="493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ct val="60000"/>
              </a:spcAft>
            </a:pPr>
            <a:r>
              <a:rPr lang="en-US" altLang="zh-CN" sz="2200" b="1" dirty="0"/>
              <a:t>MongoDB</a:t>
            </a:r>
            <a:r>
              <a:rPr lang="zh-CN" altLang="en-US" sz="2200" b="1" dirty="0"/>
              <a:t>｜文档型 </a:t>
            </a:r>
            <a:r>
              <a:rPr lang="en-US" altLang="zh-CN" sz="2200" b="1" dirty="0"/>
              <a:t>NoSQL </a:t>
            </a:r>
            <a:r>
              <a:rPr lang="zh-CN" altLang="en-US" sz="2200" b="1" dirty="0"/>
              <a:t>数据库</a:t>
            </a:r>
            <a:endParaRPr lang="zh-CN" altLang="en-US" sz="2200" b="1" dirty="0"/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核心定位：系统的权威数据存储中心</a:t>
            </a:r>
            <a:endParaRPr lang="zh-CN" altLang="en-US" sz="1600" b="1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① </a:t>
            </a:r>
            <a:r>
              <a:rPr lang="zh-CN" altLang="en-US" sz="1600" dirty="0"/>
              <a:t>核心数据管理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负责存储用户信息、知识库、</a:t>
            </a:r>
            <a:r>
              <a:rPr lang="en-US" altLang="zh-CN" sz="1600" dirty="0"/>
              <a:t>Markdown </a:t>
            </a:r>
            <a:r>
              <a:rPr lang="zh-CN" altLang="en-US" sz="1600" dirty="0"/>
              <a:t>笔记、文档元数据及历史版本，利用 </a:t>
            </a:r>
            <a:r>
              <a:rPr lang="en-US" altLang="zh-CN" sz="1600" dirty="0"/>
              <a:t>BSON </a:t>
            </a:r>
            <a:r>
              <a:rPr lang="zh-CN" altLang="en-US" sz="1600" dirty="0"/>
              <a:t>文档模型灵活组织异构知识内容。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② </a:t>
            </a:r>
            <a:r>
              <a:rPr lang="zh-CN" altLang="en-US" sz="1600" dirty="0"/>
              <a:t>文档内容管理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保存从 </a:t>
            </a:r>
            <a:r>
              <a:rPr lang="en-US" altLang="zh-CN" sz="1600" dirty="0"/>
              <a:t>PPT</a:t>
            </a:r>
            <a:r>
              <a:rPr lang="zh-CN" altLang="en-US" sz="1600" dirty="0"/>
              <a:t>、</a:t>
            </a:r>
            <a:r>
              <a:rPr lang="en-US" altLang="zh-CN" sz="1600" dirty="0"/>
              <a:t>PDF </a:t>
            </a:r>
            <a:r>
              <a:rPr lang="zh-CN" altLang="en-US" sz="1600" dirty="0"/>
              <a:t>等文件中解析出的文字、页码、图片引用和文本片段（</a:t>
            </a:r>
            <a:r>
              <a:rPr lang="en-US" altLang="zh-CN" sz="1600" dirty="0"/>
              <a:t>Chunk</a:t>
            </a:r>
            <a:r>
              <a:rPr lang="zh-CN" altLang="en-US" sz="1600" dirty="0"/>
              <a:t>），与 </a:t>
            </a:r>
            <a:r>
              <a:rPr lang="en-US" altLang="zh-CN" sz="1600" dirty="0" err="1"/>
              <a:t>MinIO</a:t>
            </a:r>
            <a:r>
              <a:rPr lang="en-US" altLang="zh-CN" sz="1600" dirty="0"/>
              <a:t> </a:t>
            </a:r>
            <a:r>
              <a:rPr lang="zh-CN" altLang="en-US" sz="1600" dirty="0"/>
              <a:t>中的原始文件建立关联。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③ </a:t>
            </a:r>
            <a:r>
              <a:rPr lang="zh-CN" altLang="en-US" sz="1600" dirty="0"/>
              <a:t>数据查询与维护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通过 </a:t>
            </a:r>
            <a:r>
              <a:rPr lang="en-US" altLang="zh-CN" sz="1600" dirty="0"/>
              <a:t>CRUD</a:t>
            </a:r>
            <a:r>
              <a:rPr lang="zh-CN" altLang="en-US" sz="1600" dirty="0"/>
              <a:t>、聚合管道和复合索引，实现知识分类、标签筛选、内容管理及统计分析，并维护数据版本和跨库同步事件。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技术亮点： 灵活文档建模、聚合分析、索引优化、权威数据管理。</a:t>
            </a:r>
            <a:endParaRPr lang="zh-CN" altLang="en-US" sz="1600" dirty="0"/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总体技术架构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330642" y="1192295"/>
            <a:ext cx="8941117" cy="1525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 err="1"/>
              <a:t>MinIO</a:t>
            </a:r>
            <a:r>
              <a:rPr lang="zh-CN" altLang="en-US" sz="1600" b="1" dirty="0"/>
              <a:t>｜对象存储服务</a:t>
            </a:r>
            <a:endParaRPr lang="zh-CN" altLang="en-US" sz="1600" b="1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负责存储用户上传的 </a:t>
            </a:r>
            <a:r>
              <a:rPr lang="en-US" altLang="zh-CN" sz="1600" dirty="0"/>
              <a:t>PDF</a:t>
            </a:r>
            <a:r>
              <a:rPr lang="zh-CN" altLang="en-US" sz="1600" dirty="0"/>
              <a:t>、</a:t>
            </a:r>
            <a:r>
              <a:rPr lang="en-US" altLang="zh-CN" sz="1600" dirty="0"/>
              <a:t>PPT</a:t>
            </a:r>
            <a:r>
              <a:rPr lang="zh-CN" altLang="en-US" sz="1600" dirty="0"/>
              <a:t>、</a:t>
            </a:r>
            <a:r>
              <a:rPr lang="en-US" altLang="zh-CN" sz="1600" dirty="0"/>
              <a:t>Word </a:t>
            </a:r>
            <a:r>
              <a:rPr lang="zh-CN" altLang="en-US" sz="1600" dirty="0"/>
              <a:t>等原始文件，以及解析过程中提取的图片和预览资源。通过 </a:t>
            </a:r>
            <a:r>
              <a:rPr lang="en-US" altLang="zh-CN" sz="1600" dirty="0"/>
              <a:t>S3 </a:t>
            </a:r>
            <a:r>
              <a:rPr lang="zh-CN" altLang="en-US" sz="1600" dirty="0"/>
              <a:t>兼容接口提供文件上传、读取与下载服务，并与 </a:t>
            </a:r>
            <a:r>
              <a:rPr lang="en-US" altLang="zh-CN" sz="1600" dirty="0"/>
              <a:t>MongoDB </a:t>
            </a:r>
            <a:r>
              <a:rPr lang="zh-CN" altLang="en-US" sz="1600" dirty="0"/>
              <a:t>中的文件元数据和内容记录建立关联，实现非结构化文件与结构化数据的分离管理。</a:t>
            </a:r>
            <a:endParaRPr lang="zh-CN" altLang="en-US" sz="1600" dirty="0"/>
          </a:p>
        </p:txBody>
      </p:sp>
      <p:sp>
        <p:nvSpPr>
          <p:cNvPr id="3" name="文本框 2"/>
          <p:cNvSpPr txBox="1"/>
          <p:nvPr/>
        </p:nvSpPr>
        <p:spPr>
          <a:xfrm>
            <a:off x="1330642" y="2951480"/>
            <a:ext cx="7584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b="1" dirty="0"/>
              <a:t>MongoDB 存文件的元数据（路径、标签、描述），MinIO 存文件本体。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91601" y="4667047"/>
            <a:ext cx="40135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MongoDB 普通 BSON 文档有 16 MiB 的大小限制，而 GridFS 可以通过分块存储解决大文件问题。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330642" y="3850175"/>
            <a:ext cx="611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+mj-ea"/>
                <a:ea typeface="+mj-ea"/>
              </a:rPr>
              <a:t>MongoDB GridFS</a:t>
            </a:r>
            <a:r>
              <a:rPr lang="en-US" altLang="zh-CN" b="1" dirty="0">
                <a:latin typeface="+mj-ea"/>
                <a:ea typeface="+mj-ea"/>
              </a:rPr>
              <a:t>|</a:t>
            </a:r>
            <a:r>
              <a:rPr lang="zh-CN" altLang="en-US" b="1" dirty="0">
                <a:latin typeface="+mj-ea"/>
                <a:ea typeface="+mj-ea"/>
              </a:rPr>
              <a:t>大文件存储规范（现阶段</a:t>
            </a:r>
            <a:r>
              <a:rPr lang="en-US" altLang="zh-CN" b="1" dirty="0">
                <a:latin typeface="+mj-ea"/>
                <a:ea typeface="+mj-ea"/>
              </a:rPr>
              <a:t>P0</a:t>
            </a:r>
            <a:r>
              <a:rPr lang="zh-CN" altLang="en-US" b="1" dirty="0">
                <a:latin typeface="+mj-ea"/>
                <a:ea typeface="+mj-ea"/>
              </a:rPr>
              <a:t>）</a:t>
            </a:r>
            <a:endParaRPr lang="zh-CN" altLang="en-US" b="1" dirty="0">
              <a:latin typeface="+mj-ea"/>
              <a:ea typeface="+mj-ea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7303452" y="3554258"/>
          <a:ext cx="4473575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3575"/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上传 PDF、PPT、Word</a:t>
                      </a:r>
                      <a:endParaRPr lang="zh-CN" sz="1800" dirty="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保存完整原始文件</a:t>
                      </a:r>
                      <a:endParaRPr lang="zh-CN" sz="1800" dirty="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保存提取的图片</a:t>
                      </a:r>
                      <a:endParaRPr lang="zh-CN" sz="180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保存页面预览图</a:t>
                      </a:r>
                      <a:endParaRPr lang="zh-CN" sz="180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后台 Worker 下载文件解析</a:t>
                      </a:r>
                      <a:endParaRPr lang="zh-CN" sz="180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按文件 ID 查询和下载</a:t>
                      </a:r>
                      <a:endParaRPr lang="zh-CN" sz="180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与 MongoDB 的元数据关联</a:t>
                      </a:r>
                      <a:endParaRPr lang="zh-CN" sz="180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配合 Milvus 实现语义检索</a:t>
                      </a:r>
                      <a:endParaRPr lang="zh-CN" sz="1800" dirty="0"/>
                    </a:p>
                  </a:txBody>
                  <a:tcPr anchor="ctr"/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总体技术架构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78560" y="1331439"/>
            <a:ext cx="9940925" cy="4083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ct val="60000"/>
              </a:spcAft>
            </a:pPr>
            <a:r>
              <a:rPr lang="en-US" altLang="zh-CN" sz="2200" b="1" dirty="0"/>
              <a:t>Redis</a:t>
            </a:r>
            <a:r>
              <a:rPr lang="zh-CN" altLang="en-US" sz="2200" b="1" dirty="0"/>
              <a:t>｜高性能键值数据库</a:t>
            </a:r>
            <a:endParaRPr lang="zh-CN" altLang="en-US" sz="2200" b="1" dirty="0"/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核心定位：系统的缓存加速与异步任务协调中心</a:t>
            </a:r>
            <a:endParaRPr lang="zh-CN" altLang="en-US" sz="1600" b="1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① </a:t>
            </a:r>
            <a:r>
              <a:rPr lang="zh-CN" altLang="en-US" sz="1600" dirty="0"/>
              <a:t>高速数据缓存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缓存热点笔记、知识库统计结果及用户会话信息，减少对 </a:t>
            </a:r>
            <a:r>
              <a:rPr lang="en-US" altLang="zh-CN" sz="1600" dirty="0"/>
              <a:t>MongoDB </a:t>
            </a:r>
            <a:r>
              <a:rPr lang="zh-CN" altLang="en-US" sz="1600" dirty="0"/>
              <a:t>的重复访问，提升系统响应效率。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② </a:t>
            </a:r>
            <a:r>
              <a:rPr lang="zh-CN" altLang="en-US" sz="1600" dirty="0"/>
              <a:t>异步任务处理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利用 </a:t>
            </a:r>
            <a:r>
              <a:rPr lang="en-US" altLang="zh-CN" sz="1600" dirty="0"/>
              <a:t>Redis Streams </a:t>
            </a:r>
            <a:r>
              <a:rPr lang="zh-CN" altLang="en-US" sz="1600" dirty="0"/>
              <a:t>和消费者组，将文档解析、文本向量化、知识图谱更新等耗时任务交由后台 </a:t>
            </a:r>
            <a:r>
              <a:rPr lang="en-US" altLang="zh-CN" sz="1600" dirty="0"/>
              <a:t>Worker </a:t>
            </a:r>
            <a:r>
              <a:rPr lang="zh-CN" altLang="en-US" sz="1600" dirty="0"/>
              <a:t>异步执行。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③ </a:t>
            </a:r>
            <a:r>
              <a:rPr lang="zh-CN" altLang="en-US" sz="1600" dirty="0"/>
              <a:t>跨数据库事件协调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结合 </a:t>
            </a:r>
            <a:r>
              <a:rPr lang="en-US" altLang="zh-CN" sz="1600" dirty="0"/>
              <a:t>MongoDB Outbox </a:t>
            </a:r>
            <a:r>
              <a:rPr lang="zh-CN" altLang="en-US" sz="1600" dirty="0"/>
              <a:t>机制，实现数据变更事件分发、消息确认、失败重试和任务状态管理。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技术亮点： </a:t>
            </a:r>
            <a:r>
              <a:rPr lang="en-US" altLang="zh-CN" sz="1600" dirty="0"/>
              <a:t>Cache-Aside </a:t>
            </a:r>
            <a:r>
              <a:rPr lang="zh-CN" altLang="en-US" sz="1600" dirty="0"/>
              <a:t>缓存策略、</a:t>
            </a:r>
            <a:r>
              <a:rPr lang="en-US" altLang="zh-CN" sz="1600" dirty="0"/>
              <a:t>Redis Streams</a:t>
            </a:r>
            <a:r>
              <a:rPr lang="zh-CN" altLang="en-US" sz="1600" dirty="0"/>
              <a:t>、消费者组、事件驱动处理。</a:t>
            </a:r>
            <a:endParaRPr lang="zh-CN" altLang="en-US" sz="1600" dirty="0"/>
          </a:p>
        </p:txBody>
      </p:sp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总体技术架构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20762" y="1271905"/>
            <a:ext cx="9611678" cy="3714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ct val="60000"/>
              </a:spcAft>
            </a:pPr>
            <a:r>
              <a:rPr lang="en-US" altLang="zh-CN" sz="2200" b="1" dirty="0"/>
              <a:t>Neo4j</a:t>
            </a:r>
            <a:r>
              <a:rPr lang="zh-CN" altLang="en-US" sz="2200" b="1" dirty="0"/>
              <a:t>｜图数据库</a:t>
            </a:r>
            <a:endParaRPr lang="zh-CN" altLang="en-US" sz="2200" b="1" dirty="0"/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核心定位：系统的知识关联与图谱管理中心</a:t>
            </a:r>
            <a:endParaRPr lang="zh-CN" altLang="en-US" sz="1600" b="1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① </a:t>
            </a:r>
            <a:r>
              <a:rPr lang="zh-CN" altLang="en-US" sz="1600" dirty="0"/>
              <a:t>知识关系建模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通过节点（</a:t>
            </a:r>
            <a:r>
              <a:rPr lang="en-US" altLang="zh-CN" sz="1600" dirty="0"/>
              <a:t>Node</a:t>
            </a:r>
            <a:r>
              <a:rPr lang="zh-CN" altLang="en-US" sz="1600" dirty="0"/>
              <a:t>）和关系（</a:t>
            </a:r>
            <a:r>
              <a:rPr lang="en-US" altLang="zh-CN" sz="1600" dirty="0"/>
              <a:t>Relationship</a:t>
            </a:r>
            <a:r>
              <a:rPr lang="zh-CN" altLang="en-US" sz="1600" dirty="0"/>
              <a:t>），建立知识库、笔记和知识概念之间的关联网络。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② </a:t>
            </a:r>
            <a:r>
              <a:rPr lang="zh-CN" altLang="en-US" sz="1600" dirty="0"/>
              <a:t>双向链接与知识图谱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支持 </a:t>
            </a:r>
            <a:r>
              <a:rPr lang="en-US" altLang="zh-CN" sz="1600" dirty="0"/>
              <a:t>Obsidian </a:t>
            </a:r>
            <a:r>
              <a:rPr lang="zh-CN" altLang="en-US" sz="1600" dirty="0"/>
              <a:t>风格的笔记双向链接、反向引用及全局知识图谱，实现知识内容的可视化组织。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③ </a:t>
            </a:r>
            <a:r>
              <a:rPr lang="zh-CN" altLang="en-US" sz="1600" dirty="0"/>
              <a:t>关联查询与知识发现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利用 </a:t>
            </a:r>
            <a:r>
              <a:rPr lang="en-US" altLang="zh-CN" sz="1600" dirty="0"/>
              <a:t>Cypher </a:t>
            </a:r>
            <a:r>
              <a:rPr lang="zh-CN" altLang="en-US" sz="1600" dirty="0"/>
              <a:t>图查询语言，实现关联笔记检索、多跳关系遍历、知识路径查询及相关内容推荐。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技术亮点： 属性图模型、</a:t>
            </a:r>
            <a:r>
              <a:rPr lang="en-US" altLang="zh-CN" sz="1600" dirty="0"/>
              <a:t>Cypher </a:t>
            </a:r>
            <a:r>
              <a:rPr lang="zh-CN" altLang="en-US" sz="1600" dirty="0"/>
              <a:t>查询、图遍历、知识关系可视化。</a:t>
            </a:r>
            <a:endParaRPr lang="zh-CN" altLang="en-US" sz="1600" dirty="0"/>
          </a:p>
        </p:txBody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总体技术架构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55040" y="1387319"/>
            <a:ext cx="9906000" cy="4083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ct val="60000"/>
              </a:spcAft>
            </a:pPr>
            <a:r>
              <a:rPr lang="en-US" altLang="zh-CN" sz="2200" b="1" dirty="0"/>
              <a:t>Milvus</a:t>
            </a:r>
            <a:r>
              <a:rPr lang="zh-CN" altLang="en-US" sz="2200" b="1" dirty="0"/>
              <a:t>｜高性能向量数据库</a:t>
            </a:r>
            <a:endParaRPr lang="zh-CN" altLang="en-US" sz="2200" b="1" dirty="0"/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核心定位：系统的语义检索与智能知识召回引擎</a:t>
            </a:r>
            <a:endParaRPr lang="zh-CN" altLang="en-US" sz="1600" b="1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① </a:t>
            </a:r>
            <a:r>
              <a:rPr lang="zh-CN" altLang="en-US" sz="1600" dirty="0"/>
              <a:t>知识向量化存储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通过 </a:t>
            </a:r>
            <a:r>
              <a:rPr lang="en-US" altLang="zh-CN" sz="1600" dirty="0"/>
              <a:t>Embedding </a:t>
            </a:r>
            <a:r>
              <a:rPr lang="zh-CN" altLang="en-US" sz="1600" dirty="0"/>
              <a:t>模型将笔记及文档片段转换为高维向量，利用 </a:t>
            </a:r>
            <a:r>
              <a:rPr lang="en-US" altLang="zh-CN" sz="1600" dirty="0"/>
              <a:t>Milvus Collection </a:t>
            </a:r>
            <a:r>
              <a:rPr lang="zh-CN" altLang="en-US" sz="1600" dirty="0"/>
              <a:t>管理向量索引及来源元数据。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② </a:t>
            </a:r>
            <a:r>
              <a:rPr lang="zh-CN" altLang="en-US" sz="1600" dirty="0"/>
              <a:t>智能语义检索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基于向量相似度实现自然语言检索，突破传统关键词匹配限制，并通过 </a:t>
            </a:r>
            <a:r>
              <a:rPr lang="en-US" altLang="zh-CN" sz="1600" dirty="0"/>
              <a:t>MongoDB </a:t>
            </a:r>
            <a:r>
              <a:rPr lang="zh-CN" altLang="en-US" sz="1600" dirty="0"/>
              <a:t>回溯原始文本及文档页码。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③ </a:t>
            </a:r>
            <a:r>
              <a:rPr lang="zh-CN" altLang="en-US" sz="1600" dirty="0"/>
              <a:t>混合检索与性能优化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支持 </a:t>
            </a:r>
            <a:r>
              <a:rPr lang="en-US" altLang="zh-CN" sz="1600" dirty="0"/>
              <a:t>Dense </a:t>
            </a:r>
            <a:r>
              <a:rPr lang="zh-CN" altLang="en-US" sz="1600" dirty="0"/>
              <a:t>向量检索与 </a:t>
            </a:r>
            <a:r>
              <a:rPr lang="en-US" altLang="zh-CN" sz="1600" dirty="0"/>
              <a:t>BM25 </a:t>
            </a:r>
            <a:r>
              <a:rPr lang="zh-CN" altLang="en-US" sz="1600" dirty="0"/>
              <a:t>全文检索融合，研究 </a:t>
            </a:r>
            <a:r>
              <a:rPr lang="en-US" altLang="zh-CN" sz="1600" dirty="0"/>
              <a:t>FLAT</a:t>
            </a:r>
            <a:r>
              <a:rPr lang="zh-CN" altLang="en-US" sz="1600" dirty="0"/>
              <a:t>、</a:t>
            </a:r>
            <a:r>
              <a:rPr lang="en-US" altLang="zh-CN" sz="1600" dirty="0"/>
              <a:t>IVF_FLAT</a:t>
            </a:r>
            <a:r>
              <a:rPr lang="zh-CN" altLang="en-US" sz="1600" dirty="0"/>
              <a:t>、</a:t>
            </a:r>
            <a:r>
              <a:rPr lang="en-US" altLang="zh-CN" sz="1600" dirty="0"/>
              <a:t>HNSW </a:t>
            </a:r>
            <a:r>
              <a:rPr lang="zh-CN" altLang="en-US" sz="1600" dirty="0"/>
              <a:t>等索引策略对检索效率与召回率的影响。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技术亮点： </a:t>
            </a:r>
            <a:r>
              <a:rPr lang="en-US" altLang="zh-CN" sz="1600" dirty="0"/>
              <a:t>Embedding</a:t>
            </a:r>
            <a:r>
              <a:rPr lang="zh-CN" altLang="en-US" sz="1600" dirty="0"/>
              <a:t>、</a:t>
            </a:r>
            <a:r>
              <a:rPr lang="en-US" altLang="zh-CN" sz="1600" dirty="0"/>
              <a:t>ANN </a:t>
            </a:r>
            <a:r>
              <a:rPr lang="zh-CN" altLang="en-US" sz="1600" dirty="0"/>
              <a:t>近似最近邻检索、混合搜索、向量索引优化。</a:t>
            </a:r>
            <a:endParaRPr lang="zh-CN" altLang="en-US" sz="1600" dirty="0"/>
          </a:p>
        </p:txBody>
      </p:sp>
      <p:sp>
        <p:nvSpPr>
          <p:cNvPr id="2" name="文本框 1"/>
          <p:cNvSpPr txBox="1"/>
          <p:nvPr/>
        </p:nvSpPr>
        <p:spPr>
          <a:xfrm>
            <a:off x="1167765" y="5838190"/>
            <a:ext cx="8260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BGE-M3</a:t>
            </a:r>
            <a:r>
              <a:rPr lang="zh-CN" altLang="en-US"/>
              <a:t>、</a:t>
            </a:r>
            <a:r>
              <a:rPr lang="en-US" altLang="zh-CN"/>
              <a:t>qwen-Embedding</a:t>
            </a:r>
            <a:r>
              <a:rPr lang="zh-CN" altLang="en-US"/>
              <a:t>系列、</a:t>
            </a:r>
            <a:r>
              <a:rPr lang="en-US" altLang="zh-CN"/>
              <a:t>text-Embedding</a:t>
            </a:r>
            <a:r>
              <a:rPr lang="zh-CN" altLang="en-US"/>
              <a:t>、</a:t>
            </a:r>
            <a:r>
              <a:rPr lang="en-US" altLang="zh-CN"/>
              <a:t>OCR/VLM/CLIP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3187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数据模型与协同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6100" y="1118870"/>
            <a:ext cx="8491855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统一搜索：结构化匹配 + 语义召回 + 来源核验</a:t>
            </a:r>
            <a:endParaRPr lang="en-US" altLang="en-US" sz="2500" b="1" dirty="0">
              <a:solidFill>
                <a:srgbClr val="1B2A44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6100" y="1594485"/>
            <a:ext cx="6096000" cy="283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先完成可解释、可溯源的检索，再将 RAG 问答作为上层能力。</a:t>
            </a:r>
            <a:endParaRPr lang="en-US" altLang="en-US" sz="1250" dirty="0">
              <a:solidFill>
                <a:srgbClr val="667792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00" y="2028825"/>
            <a:ext cx="9971405" cy="42125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3187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主要技术与部署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30580" y="1010295"/>
            <a:ext cx="1030478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Worker</a:t>
            </a:r>
            <a:r>
              <a:rPr lang="zh-CN" altLang="zh-CN" sz="2400" dirty="0"/>
              <a:t>后台工作进程</a:t>
            </a:r>
            <a:r>
              <a:rPr lang="zh-CN" altLang="en-US" sz="2400" dirty="0"/>
              <a:t>：</a:t>
            </a:r>
            <a:r>
              <a:rPr lang="zh-CN" altLang="zh-CN" sz="2400" dirty="0"/>
              <a:t>专门负责执行耗时任务的程序</a:t>
            </a:r>
            <a:endParaRPr lang="en-US" altLang="en-US" sz="2400" b="1" dirty="0">
              <a:solidFill>
                <a:srgbClr val="1B2A44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6997" y="1635125"/>
            <a:ext cx="6003781" cy="483616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766050" y="2350964"/>
            <a:ext cx="40449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Worker 异步任务处理模块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r>
              <a:rPr lang="zh-CN" altLang="zh-CN" dirty="0"/>
              <a:t>基于 Redis Streams 消费任务消息，异步执行文档解析、文本分块、向量化处理及知识图谱同步等耗时操作，实现前台业务请求与后台数据处理解耦，提升系统响应效率和任务处理可靠性。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7929880" y="4572000"/>
            <a:ext cx="2762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FastAPI</a:t>
            </a:r>
            <a:r>
              <a:rPr lang="zh-CN" altLang="en-US" dirty="0"/>
              <a:t>：处理</a:t>
            </a:r>
            <a:r>
              <a:rPr lang="en-US" altLang="zh-CN" dirty="0"/>
              <a:t>HTTP</a:t>
            </a:r>
            <a:r>
              <a:rPr lang="zh-CN" altLang="en-US" dirty="0"/>
              <a:t>请求</a:t>
            </a:r>
            <a:endParaRPr lang="en-US" altLang="zh-CN" dirty="0"/>
          </a:p>
          <a:p>
            <a:r>
              <a:rPr lang="en-US" altLang="zh-CN" dirty="0"/>
              <a:t>Worker</a:t>
            </a:r>
            <a:r>
              <a:rPr lang="zh-CN" altLang="en-US" dirty="0"/>
              <a:t>：执行后台任务</a:t>
            </a:r>
            <a:endParaRPr lang="zh-CN" altLang="en-US" dirty="0"/>
          </a:p>
        </p:txBody>
      </p:sp>
    </p:spTree>
    <p:custDataLst>
      <p:tags r:id="rId6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3187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主要技术与部署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335" y="1647190"/>
            <a:ext cx="8802370" cy="412877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3187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核心课程实验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12775" y="1102995"/>
            <a:ext cx="781685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五组实验：验证异构 NoSQL 协同与检索性能</a:t>
            </a:r>
            <a:endParaRPr lang="en-US" altLang="en-US" sz="2500" b="1" dirty="0">
              <a:solidFill>
                <a:srgbClr val="1B2A44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2775" y="1578610"/>
            <a:ext cx="6890385" cy="283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实验以同机器、固定负载、可重复脚本为原则；本页展示计划指标，不代表已有测试结果。</a:t>
            </a:r>
            <a:endParaRPr lang="en-US" altLang="en-US" sz="1250" dirty="0">
              <a:solidFill>
                <a:srgbClr val="667792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775" y="2111375"/>
            <a:ext cx="9768840" cy="3723640"/>
          </a:xfrm>
          <a:prstGeom prst="rect">
            <a:avLst/>
          </a:prstGeom>
        </p:spPr>
      </p:pic>
      <p:sp>
        <p:nvSpPr>
          <p:cNvPr id="45" name="Text 43"/>
          <p:cNvSpPr/>
          <p:nvPr/>
        </p:nvSpPr>
        <p:spPr>
          <a:xfrm>
            <a:off x="795528" y="6044184"/>
            <a:ext cx="1058875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实验产出：数据生成脚本 + 执行计划 / 日志 + 原始 CSV + 对比图 + 结论</a:t>
            </a:r>
            <a:endParaRPr lang="en-US" sz="1100" dirty="0"/>
          </a:p>
        </p:txBody>
      </p:sp>
    </p:spTree>
    <p:custDataLst>
      <p:tags r:id="rId6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3187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核心课程实验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35965" y="974725"/>
            <a:ext cx="9350375" cy="56781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  <a:spcAft>
                <a:spcPct val="60000"/>
              </a:spcAft>
            </a:pPr>
            <a:r>
              <a:rPr lang="zh-CN" altLang="en-US" sz="2200" b="1"/>
              <a:t>基于 </a:t>
            </a:r>
            <a:r>
              <a:rPr lang="en-US" altLang="zh-CN" sz="2200" b="1"/>
              <a:t>CAP </a:t>
            </a:r>
            <a:r>
              <a:rPr lang="zh-CN" altLang="en-US" sz="2200" b="1"/>
              <a:t>理论的异构数据库一致性设计</a:t>
            </a:r>
            <a:endParaRPr lang="zh-CN" altLang="en-US" sz="2200" b="1"/>
          </a:p>
          <a:p>
            <a:pPr>
              <a:lnSpc>
                <a:spcPct val="150000"/>
              </a:lnSpc>
            </a:pPr>
            <a:r>
              <a:rPr lang="en-US" altLang="zh-CN" sz="1600"/>
              <a:t>① </a:t>
            </a:r>
            <a:r>
              <a:rPr lang="zh-CN" altLang="en-US" sz="1600"/>
              <a:t>核心数据一致性优先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以 </a:t>
            </a:r>
            <a:r>
              <a:rPr lang="en-US" altLang="zh-CN" sz="1600"/>
              <a:t>MongoDB </a:t>
            </a:r>
            <a:r>
              <a:rPr lang="zh-CN" altLang="en-US" sz="1600"/>
              <a:t>为权威数据源，采用事务、版本控制及必要的多数派确认机制，保障笔记内容与业务事件的可靠存储。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② </a:t>
            </a:r>
            <a:r>
              <a:rPr lang="zh-CN" altLang="en-US" sz="1600"/>
              <a:t>派生索引最终一致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Neo4j </a:t>
            </a:r>
            <a:r>
              <a:rPr lang="zh-CN" altLang="en-US" sz="1600"/>
              <a:t>知识图谱与 </a:t>
            </a:r>
            <a:r>
              <a:rPr lang="en-US" altLang="zh-CN" sz="1600"/>
              <a:t>Milvus </a:t>
            </a:r>
            <a:r>
              <a:rPr lang="zh-CN" altLang="en-US" sz="1600"/>
              <a:t>向量索引采用异步更新，通过 </a:t>
            </a:r>
            <a:r>
              <a:rPr lang="en-US" altLang="zh-CN" sz="1600"/>
              <a:t>Redis Streams</a:t>
            </a:r>
            <a:r>
              <a:rPr lang="zh-CN" altLang="en-US" sz="1600"/>
              <a:t>、</a:t>
            </a:r>
            <a:r>
              <a:rPr lang="en-US" altLang="zh-CN" sz="1600"/>
              <a:t>Worker </a:t>
            </a:r>
            <a:r>
              <a:rPr lang="zh-CN" altLang="en-US" sz="1600"/>
              <a:t>与版本校验实现跨库最终一致性。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③ </a:t>
            </a:r>
            <a:r>
              <a:rPr lang="zh-CN" altLang="en-US" sz="1600"/>
              <a:t>可用性与服务降级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当缓存、图谱或向量检索服务出现故障时，尽可能保持核心笔记管理功能可用，允许非关键索引暂时延迟更新。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④ </a:t>
            </a:r>
            <a:r>
              <a:rPr lang="zh-CN" altLang="en-US" sz="1600"/>
              <a:t>故障恢复与一致性验证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通过 </a:t>
            </a:r>
            <a:r>
              <a:rPr lang="en-US" altLang="zh-CN" sz="1600"/>
              <a:t>Outbox</a:t>
            </a:r>
            <a:r>
              <a:rPr lang="zh-CN" altLang="en-US" sz="1600"/>
              <a:t>、消息重试、幂等处理和版本控制，保证故障恢复后派生索引与权威数据重新达到一致状态。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设计原则：核心数据一致性优先，派生数据最终一致，非核心功能支持降级。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8070" y="855980"/>
            <a:ext cx="2174875" cy="161544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项目规划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06095" y="1277620"/>
            <a:ext cx="739267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先做深、再做广：明确课程必交付与增强项</a:t>
            </a:r>
            <a:endParaRPr lang="en-US" altLang="en-US" sz="2500" b="1" dirty="0">
              <a:solidFill>
                <a:srgbClr val="1B2A44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6095" y="1753235"/>
            <a:ext cx="6096000" cy="283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以“真正可运行、可测试、可恢复”的核心闭环控制开发范围。</a:t>
            </a:r>
            <a:endParaRPr lang="en-US" altLang="en-US" sz="1250" dirty="0">
              <a:solidFill>
                <a:srgbClr val="667792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78" y="2246312"/>
            <a:ext cx="9144000" cy="361378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3970" y="1972310"/>
            <a:ext cx="12201525" cy="25196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校徽+南京师范大学"/>
          <p:cNvPicPr>
            <a:picLocks noChangeAspect="1"/>
          </p:cNvPicPr>
          <p:nvPr/>
        </p:nvPicPr>
        <p:blipFill>
          <a:blip r:embed="rId1"/>
          <a:srcRect t="33231" b="38380"/>
          <a:stretch>
            <a:fillRect/>
          </a:stretch>
        </p:blipFill>
        <p:spPr>
          <a:xfrm>
            <a:off x="4001135" y="875665"/>
            <a:ext cx="4171950" cy="8375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9485" y="2404110"/>
            <a:ext cx="10253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恳请各位老师批评指正</a:t>
            </a:r>
            <a:endParaRPr lang="zh-CN" altLang="en-US" sz="54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959485" y="3507105"/>
            <a:ext cx="102539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Thanks for watching</a:t>
            </a:r>
            <a:endParaRPr lang="en-US" altLang="zh-CN" sz="28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80.95,&quot;left&quot;:193.85,&quot;top&quot;:381.15,&quot;width&quot;:572.35}"/>
</p:tagLst>
</file>

<file path=ppt/tags/tag64.xml><?xml version="1.0" encoding="utf-8"?>
<p:tagLst xmlns:p="http://schemas.openxmlformats.org/presentationml/2006/main">
  <p:tag name="KSO_WM_DIAGRAM_VIRTUALLY_FRAME" val="{&quot;height&quot;:80.95,&quot;left&quot;:193.85,&quot;top&quot;:381.15,&quot;width&quot;:572.35}"/>
</p:tagLst>
</file>

<file path=ppt/tags/tag65.xml><?xml version="1.0" encoding="utf-8"?>
<p:tagLst xmlns:p="http://schemas.openxmlformats.org/presentationml/2006/main">
  <p:tag name="KSO_WM_DIAGRAM_VIRTUALLY_FRAME" val="{&quot;height&quot;:80.95,&quot;left&quot;:193.85,&quot;top&quot;:381.15,&quot;width&quot;:572.35}"/>
</p:tagLst>
</file>

<file path=ppt/tags/tag66.xml><?xml version="1.0" encoding="utf-8"?>
<p:tagLst xmlns:p="http://schemas.openxmlformats.org/presentationml/2006/main">
  <p:tag name="KSO_WM_BEAUTIFY_FLAG" val=""/>
  <p:tag name="KSO_WM_DIAGRAM_VIRTUALLY_FRAME" val="{&quot;height&quot;:80.95,&quot;left&quot;:193.85,&quot;top&quot;:381.15,&quot;width&quot;:572.35}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5.xml><?xml version="1.0" encoding="utf-8"?>
<p:tagLst xmlns:p="http://schemas.openxmlformats.org/presentationml/2006/main">
  <p:tag name="COMMONDATA" val="eyJoZGlkIjoiNzkwNzI2MWI5ZmNlYmI0MDZiNjg1NDNhOTJjMDUwYjA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2727</Words>
  <Application>WPS 演示</Application>
  <PresentationFormat>宽屏</PresentationFormat>
  <Paragraphs>190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宋体</vt:lpstr>
      <vt:lpstr>Wingdings</vt:lpstr>
      <vt:lpstr>Wingdings</vt:lpstr>
      <vt:lpstr>微软雅黑</vt:lpstr>
      <vt:lpstr>Noto Sans CJK SC</vt:lpstr>
      <vt:lpstr>FFont-Family</vt:lpstr>
      <vt:lpstr>Noto Sans CJK SC</vt:lpstr>
      <vt:lpstr>Noto Sans CJK SC</vt:lpstr>
      <vt:lpstr>华文宋体</vt:lpstr>
      <vt:lpstr>Arial Unicode MS</vt:lpstr>
      <vt:lpstr>Calibri</vt:lpstr>
      <vt:lpstr>MingLiU-ExtB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松鼠</cp:lastModifiedBy>
  <cp:revision>169</cp:revision>
  <dcterms:created xsi:type="dcterms:W3CDTF">2019-06-19T02:08:00Z</dcterms:created>
  <dcterms:modified xsi:type="dcterms:W3CDTF">2026-10-23T05:43:11Z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1D75D723BBA64971A5E47B318B248DC9_11</vt:lpwstr>
  </property>
</Properties>
</file>