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4" Type="http://schemas.openxmlformats.org/officeDocument/2006/relationships/tableStyles" Target="tableStyles.xml" /><Relationship Id="rId3" Type="http://schemas.openxmlformats.org/officeDocument/2006/relationships/presProps" Target="presProps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'44px 64px 36px 64px', display: 'flex', flexDirection: 'column' }}&gt;&#10;&#10;    &lt;Box style={{ flexDirection: 'row', justifyContent: 'space-between', alignItems: 'center' }}&gt;&#10;        &lt;Text style={{ fontSize: 12, fontWeight: 'bold', color: '#526BEA', letterSpacing: 2 }}&gt;01 / 项目背景 · 标杆对比&lt;/Text&gt;&#10;        &lt;Text style={{ fontSize: 11, color: '#667792' }}&gt;对标对象：Obsidian · Zotero · ima&lt;/Text&gt;&#10;    &lt;/Box&gt;&#10;&#10;    &lt;Text style={{ fontSize: 30, fontWeight: 'bold', color: '#1B2A44', marginTop: 6, lineHeight: 1.3 }}&gt;三个标杆各做对一段，没有一款打通整条链路&lt;/Text&gt;&#10;    &lt;Text style={{ fontSize: 14, color: '#667792', marginTop: 8, lineHeight: 1.6 }}&gt;对标不是为了复刻功能，而是找出它们各自留白的那一段 —— 我们把四段接起来，并且让它可测。&lt;/Text&gt;&#10;&#10;    &lt;Box style={{ flexDirection: 'row', marginTop: 22 }}&gt;&#10;        &lt;Box style={{ flexDirection: 'column', width: 208 }}&gt;&#10;            &lt;Box style={{ height: 50, justifyContent: 'flex-end', paddingBottom: 11 }}&gt;&#10;                &lt;Text style={{ fontSize: 13, fontWeight: 'bold', color: '#667792' }}&gt;能力维度&lt;/Text&gt;&#10;            &lt;/Box&gt;&#10;            {['多格式资料入库', '笔记与双向链接', '关系图谱可视化', '语义检索', '出处与原文回溯', '索引自建与可实验'].map((d, i) =&gt; (&#10;                &lt;Box key={i} style={{ height: 54, justifyContent: 'center', borderBottom: i === 5 ? 'none' : '1px solid #E5EAF3' }}&gt;&#10;                    &lt;Text style={{ fontSize: 14, color: '#1B2A44' }}&gt;{d}&lt;/Text&gt;&#10;                &lt;/Box&gt;&#10;            ))}&#10;        &lt;/Box&gt;&#10;&#10;        {[&#10;            {&#10;                name: 'Obsidian', sub: '本地 Markdown', width: 236,&#10;                headBg: '#F6F8FC', headColor: '#1B2A44', subColor: '#667792',&#10;                bodyBg: 'transparent', border: '#E5EAF3', cellColor: '#3A4863',&#10;                cells: [['◐', '靠插件', '#EFA942'], ['●', '原生', '#16AE9C'], ['●', '全局图谱', '#16AE9C'], ['◐', '靠插件', '#EFA942'], ['○', '无页码', '#9AA7BC'], ['○', '不可介入', '#9AA7BC']]&#10;            },&#10;            {&#10;                name: 'Zotero', sub: '文献与引文管理', width: 236,&#10;                headBg: '#F6F8FC', headColor: '#1B2A44', subColor: '#667792',&#10;                bodyBg: 'transparent', border: '#E5EAF3', cellColor: '#3A4863',&#10;                cells: [['◐', '仅文献', '#EFA942'], ['○', '无', '#9AA7BC'], ['○', '无', '#9AA7BC'], ['○', '仅关键词', '#9AA7BC'], ['●', '页码 + 引文', '#16AE9C'], ['○', '不可介入', '#9AA7BC']]&#10;            },&#10;            {&#10;                name: 'ima', sub: '腾讯 AI 知识库', width: 236,&#10;                headBg: '#F6F8FC', headColor: '#1B2A44', subColor: '#667792',&#10;                bodyBg: 'transparent', border: '#E5EAF3', cellColor: '#3A4863',&#10;                cells: [['●', '19+ 格式', '#16AE9C'], ['◐', '2026.07 补齐', '#EFA942'], ['○', '无', '#9AA7BC'], ['●', '大模型问答', '#16AE9C'], ['●', '原文溯源', '#16AE9C'], ['○', '云端托管', '#9AA7BC']]&#10;            },&#10;            {&#10;                name: '知序（本项目）', sub: '异构 NoSQL 协同', width: 236,&#10;                headBg: '#526BEA', headColor: '#FFFFFF', subColor: '#D9DFFC',&#10;                bodyBg: '#EEF2F9', border: '#DCE4F5', cellColor: '#1B2A44',&#10;                cells: [['●', '原生解析', '#16AE9C'], ['●', '原生双链', '#16AE9C'], ['●', '局部 + 全局', '#16AE9C'], ['●', '向量召回', '#16AE9C'], ['●', 'Chunk 定位', '#16AE9C'], ['●', '可重建可注入', '#16AE9C']]&#10;            }&#10;        ].map((col, ci) =&gt; (&#10;            &lt;Box key={ci} style={{ flexDirection: 'column', width: col.width, background: col.bodyBg, borderRadius: 12 }}&gt;&#10;                &lt;Box style={{ height: 50, width: col.width, background: col.headBg, borderRadius: '12px 12px 0 0', justifyContent: 'center', alignItems: 'center' }}&gt;&#10;                    &lt;Text style={{ fontSize: 15, fontWeight: 'bold', color: col.headColor }}&gt;{col.name}&lt;/Text&gt;&#10;                    &lt;Text style={{ fontSize: 11, color: col.subColor, marginTop: 3 }}&gt;{col.sub}&lt;/Text&gt;&#10;                &lt;/Box&gt;&#10;                {col.cells.map((c, ri) =&gt; (&#10;                    &lt;Box key={ri} style={{ height: 54, justifyContent: 'center', alignItems: 'center', borderBottom: ri === 5 ? 'none' : '1px solid ' + col.border }}&gt;&#10;                        &lt;Text style={{ fontSize: 13, color: col.cellColor }}&gt;&#10;                            &lt;span style={{ color: c[2], fontWeight: 'bold' }}&gt;{c[0]}&lt;/span&gt; {c[1]}&#10;                        &lt;/Text&gt;&#10;                    &lt;/Box&gt;&#10;                ))}&#10;            &lt;/Box&gt;&#10;        ))}&#10;    &lt;/Box&gt;&#10;&#10;    &lt;Box style={{ marginTop: 20, background: '#1B2A44', borderRadius: 12, padding: '16px 24px', flexDirection: 'row', alignItems: 'center' }}&gt;&#10;        &lt;Text style={{ fontSize: 13, fontWeight: 'bold', color: '#16AE9C', letterSpacing: 1, width: 104 }}&gt;本项目的位置&lt;/Text&gt;&#10;        &lt;Text style={{ fontSize: 14, color: '#FFFFFF', lineHeight: 1.6, flex: 1 }}&gt;把四段接成一条闭环 —— 资料进得来、笔记连得起来、语义搜得到、出处点得回去；并且索引可重建、可注入故障做实验。&lt;/Text&gt;&#10;    &lt;/Box&gt;&#10;&#10;    &lt;Box style={{ flexDirection: 'row', justifyContent: 'space-between', alignItems: 'center', marginTop: 12 }}&gt;&#10;        &lt;Text style={{ fontSize: 11, color: '#667792' }}&gt;● 原生具备　　◐ 需插件 / 能力较弱　　○ 不具备&lt;/Text&gt;&#10;        &lt;Text style={{ fontSize: 11, color: '#9AA7BC' }}&gt;判定依据：产品公开文档 + 2026.10 实测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526BEA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900" b="1" spc="150">
                <a:solidFill>
                  <a:srgbClr val="526BEA"/>
                </a:solidFill>
                <a:latin typeface="Microsoft YaHei"/>
                <a:ea typeface="Microsoft YaHei"/>
              </a:rPr>
              <a:t>项目背景</a:t>
            </a:r>
            <a:r>
              <a:rPr lang="en-US" sz="900" b="1" spc="150">
                <a:solidFill>
                  <a:srgbClr val="526BE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526BEA"/>
                </a:solidFill>
                <a:latin typeface="Microsoft YaHei"/>
                <a:ea typeface="Microsoft YaHei"/>
              </a:rPr>
              <a:t>标杆对比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915525" y="428625"/>
            <a:ext cx="1666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对标对象：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>Obsidian · Zotero · ima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19125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B2A44"/>
                </a:solidFill>
                <a:latin typeface="Microsoft YaHei"/>
                <a:ea typeface="Microsoft YaHei"/>
              </a:rPr>
              <a:t>三个标杆各做对一段，没有一款打通整条链路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67792"/>
                </a:solidFill>
                <a:latin typeface="Microsoft YaHei"/>
                <a:ea typeface="Microsoft YaHei"/>
              </a:rPr>
              <a:t>对标不是为了复刻功能，而是找出它们各自留白的那一段</a:t>
            </a:r>
            <a:r>
              <a:rPr lang="en-US" sz="1050">
                <a:solidFill>
                  <a:srgbClr val="66779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667792"/>
                </a:solidFill>
                <a:latin typeface="Microsoft YaHei"/>
                <a:ea typeface="Microsoft YaHei"/>
              </a:rPr>
              <a:t>我们把四段接起来，并且让它可测。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67792"/>
                </a:solidFill>
                <a:latin typeface="Microsoft YaHei"/>
                <a:ea typeface="Microsoft YaHei"/>
              </a:rPr>
              <a:t>能力维度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2085975"/>
            <a:ext cx="1981200" cy="514350"/>
          </a:xfrm>
          <a:custGeom>
            <a:pathLst>
              <a:path w="208" h="54">
                <a:moveTo>
                  <a:pt x="0" y="53"/>
                </a:moveTo>
                <a:lnTo>
                  <a:pt x="208" y="53"/>
                </a:lnTo>
                <a:lnTo>
                  <a:pt x="20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多格式资料入库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2600325"/>
            <a:ext cx="1981200" cy="514350"/>
          </a:xfrm>
          <a:custGeom>
            <a:pathLst>
              <a:path w="208" h="54">
                <a:moveTo>
                  <a:pt x="0" y="53"/>
                </a:moveTo>
                <a:lnTo>
                  <a:pt x="208" y="53"/>
                </a:lnTo>
                <a:lnTo>
                  <a:pt x="20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7717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笔记与双向链接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09600" y="3114675"/>
            <a:ext cx="1981200" cy="514350"/>
          </a:xfrm>
          <a:custGeom>
            <a:pathLst>
              <a:path w="208" h="54">
                <a:moveTo>
                  <a:pt x="0" y="53"/>
                </a:moveTo>
                <a:lnTo>
                  <a:pt x="208" y="53"/>
                </a:lnTo>
                <a:lnTo>
                  <a:pt x="20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32861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关系图谱可视化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3629025"/>
            <a:ext cx="1981200" cy="514350"/>
          </a:xfrm>
          <a:custGeom>
            <a:pathLst>
              <a:path w="208" h="54">
                <a:moveTo>
                  <a:pt x="0" y="53"/>
                </a:moveTo>
                <a:lnTo>
                  <a:pt x="208" y="53"/>
                </a:lnTo>
                <a:lnTo>
                  <a:pt x="20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38004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语义检索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9600" y="4143375"/>
            <a:ext cx="1981200" cy="514350"/>
          </a:xfrm>
          <a:custGeom>
            <a:pathLst>
              <a:path w="208" h="54">
                <a:moveTo>
                  <a:pt x="0" y="53"/>
                </a:moveTo>
                <a:lnTo>
                  <a:pt x="208" y="53"/>
                </a:lnTo>
                <a:lnTo>
                  <a:pt x="20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出处与原文回溯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48387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B2A44"/>
                </a:solidFill>
                <a:latin typeface="Microsoft YaHei"/>
                <a:ea typeface="Microsoft YaHei"/>
              </a:rPr>
              <a:t>索引自建与可实验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2590800" y="1609725"/>
            <a:ext cx="2247900" cy="3562350"/>
          </a:xfrm>
          <a:prstGeom prst="roundRect">
            <a:avLst>
              <a:gd name="adj" fmla="val 5085"/>
            </a:avLst>
          </a:prstGeom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2590800" y="1609725"/>
            <a:ext cx="2247900" cy="476250"/>
          </a:xfrm>
          <a:custGeom>
            <a:pathLst>
              <a:path w="236" h="50">
                <a:moveTo>
                  <a:pt x="12" y="0"/>
                </a:moveTo>
                <a:lnTo>
                  <a:pt x="224" y="0"/>
                </a:lnTo>
                <a:cubicBezTo>
                  <a:pt x="231" y="0"/>
                  <a:pt x="236" y="5"/>
                  <a:pt x="236" y="12"/>
                </a:cubicBezTo>
                <a:lnTo>
                  <a:pt x="236" y="50"/>
                </a:lnTo>
                <a:lnTo>
                  <a:pt x="236" y="50"/>
                </a:lnTo>
                <a:lnTo>
                  <a:pt x="0" y="50"/>
                </a:lnTo>
                <a:lnTo>
                  <a:pt x="0" y="50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6F8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400425" y="1685925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B2A44"/>
                </a:solidFill>
                <a:latin typeface="Microsoft YaHei"/>
                <a:ea typeface="Microsoft YaHei"/>
              </a:rPr>
              <a:t>Obsidian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324225" y="1885950"/>
            <a:ext cx="781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本地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 Markdown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2590800" y="20859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448050" y="226695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FA942"/>
                </a:solidFill>
                <a:latin typeface="Microsoft YaHei"/>
                <a:ea typeface="Microsoft YaHei"/>
              </a:rPr>
              <a:t>◐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靠插件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2590800" y="26003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533775" y="27813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原生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2590800" y="31146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409950" y="3295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全局图谱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2590800" y="36290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448050" y="38100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FA942"/>
                </a:solidFill>
                <a:latin typeface="Microsoft YaHei"/>
                <a:ea typeface="Microsoft YaHei"/>
              </a:rPr>
              <a:t>◐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靠插件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2590800" y="41433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476625" y="43243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无页码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409950" y="483870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不可介入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838700" y="1609725"/>
            <a:ext cx="2247900" cy="3562350"/>
          </a:xfrm>
          <a:prstGeom prst="roundRect">
            <a:avLst>
              <a:gd name="adj" fmla="val 5085"/>
            </a:avLst>
          </a:prstGeom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4838700" y="1609725"/>
            <a:ext cx="2247900" cy="476250"/>
          </a:xfrm>
          <a:custGeom>
            <a:pathLst>
              <a:path w="236" h="50">
                <a:moveTo>
                  <a:pt x="12" y="0"/>
                </a:moveTo>
                <a:lnTo>
                  <a:pt x="224" y="0"/>
                </a:lnTo>
                <a:cubicBezTo>
                  <a:pt x="231" y="0"/>
                  <a:pt x="236" y="5"/>
                  <a:pt x="236" y="12"/>
                </a:cubicBezTo>
                <a:lnTo>
                  <a:pt x="236" y="50"/>
                </a:lnTo>
                <a:lnTo>
                  <a:pt x="236" y="50"/>
                </a:lnTo>
                <a:lnTo>
                  <a:pt x="0" y="50"/>
                </a:lnTo>
                <a:lnTo>
                  <a:pt x="0" y="50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6F8F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24525" y="16859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B2A44"/>
                </a:solidFill>
                <a:latin typeface="Microsoft YaHei"/>
                <a:ea typeface="Microsoft YaHei"/>
              </a:rPr>
              <a:t>Zotero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600700" y="1885950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文献与引文管理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838700" y="20859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695950" y="226695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FA942"/>
                </a:solidFill>
                <a:latin typeface="Microsoft YaHei"/>
                <a:ea typeface="Microsoft YaHei"/>
              </a:rPr>
              <a:t>◐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仅文献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838700" y="26003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848350" y="27813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838700" y="31146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848350" y="32956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838700" y="36290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657850" y="381000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仅关键词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838700" y="41433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572125" y="43243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页码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引文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57850" y="483870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不可介入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086600" y="1609725"/>
            <a:ext cx="2247900" cy="3562350"/>
          </a:xfrm>
          <a:prstGeom prst="roundRect">
            <a:avLst>
              <a:gd name="adj" fmla="val 5085"/>
            </a:avLst>
          </a:prstGeom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7086600" y="1609725"/>
            <a:ext cx="2247900" cy="476250"/>
          </a:xfrm>
          <a:custGeom>
            <a:pathLst>
              <a:path w="236" h="50">
                <a:moveTo>
                  <a:pt x="12" y="0"/>
                </a:moveTo>
                <a:lnTo>
                  <a:pt x="224" y="0"/>
                </a:lnTo>
                <a:cubicBezTo>
                  <a:pt x="231" y="0"/>
                  <a:pt x="236" y="5"/>
                  <a:pt x="236" y="12"/>
                </a:cubicBezTo>
                <a:lnTo>
                  <a:pt x="236" y="50"/>
                </a:lnTo>
                <a:lnTo>
                  <a:pt x="236" y="50"/>
                </a:lnTo>
                <a:lnTo>
                  <a:pt x="0" y="50"/>
                </a:lnTo>
                <a:lnTo>
                  <a:pt x="0" y="50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6F8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77200" y="168592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B2A44"/>
                </a:solidFill>
                <a:latin typeface="Microsoft YaHei"/>
                <a:ea typeface="Microsoft YaHei"/>
              </a:rPr>
              <a:t>ima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67650" y="1885950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腾讯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086600" y="20859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86700" y="2266950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19+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格式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086600" y="26003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753350" y="278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FA942"/>
                </a:solidFill>
                <a:latin typeface="Microsoft YaHei"/>
                <a:ea typeface="Microsoft YaHei"/>
              </a:rPr>
              <a:t>◐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2026.07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补齐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7086600" y="31146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96250" y="32956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086600" y="36290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839075" y="38100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大模型问答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7086600" y="41433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5EAF3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905750" y="43243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原文溯源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905750" y="483870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AA7BC"/>
                </a:solidFill>
                <a:latin typeface="Microsoft YaHei"/>
                <a:ea typeface="Microsoft YaHei"/>
              </a:rPr>
              <a:t>○</a:t>
            </a:r>
            <a:r>
              <a:rPr lang="en-US" sz="975">
                <a:solidFill>
                  <a:srgbClr val="3A486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863"/>
                </a:solidFill>
                <a:latin typeface="Microsoft YaHei"/>
                <a:ea typeface="Microsoft YaHei"/>
              </a:rPr>
              <a:t>云端托管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9334500" y="1609725"/>
            <a:ext cx="2247900" cy="3562350"/>
          </a:xfrm>
          <a:prstGeom prst="roundRect">
            <a:avLst>
              <a:gd name="adj" fmla="val 5085"/>
            </a:avLst>
          </a:prstGeom>
          <a:solidFill>
            <a:srgbClr val="EEF2F9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9334500" y="1609725"/>
            <a:ext cx="2247900" cy="476250"/>
          </a:xfrm>
          <a:custGeom>
            <a:pathLst>
              <a:path w="236" h="50">
                <a:moveTo>
                  <a:pt x="12" y="0"/>
                </a:moveTo>
                <a:lnTo>
                  <a:pt x="224" y="0"/>
                </a:lnTo>
                <a:cubicBezTo>
                  <a:pt x="231" y="0"/>
                  <a:pt x="236" y="5"/>
                  <a:pt x="236" y="12"/>
                </a:cubicBezTo>
                <a:lnTo>
                  <a:pt x="236" y="50"/>
                </a:lnTo>
                <a:lnTo>
                  <a:pt x="236" y="50"/>
                </a:lnTo>
                <a:lnTo>
                  <a:pt x="0" y="50"/>
                </a:lnTo>
                <a:lnTo>
                  <a:pt x="0" y="50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526BEA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963150" y="16859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知序（本项目）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039350" y="188595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D9DFFC"/>
                </a:solidFill>
                <a:latin typeface="Microsoft YaHei"/>
                <a:ea typeface="Microsoft YaHei"/>
              </a:rPr>
              <a:t>异构</a:t>
            </a:r>
            <a:r>
              <a:rPr lang="en-US" sz="825">
                <a:solidFill>
                  <a:srgbClr val="D9DFFC"/>
                </a:solidFill>
                <a:latin typeface="Microsoft YaHei"/>
                <a:ea typeface="Microsoft YaHei"/>
              </a:rPr>
              <a:t xml:space="preserve"> NoSQL </a:t>
            </a:r>
            <a:r>
              <a:rPr lang="zh-CN" sz="825">
                <a:solidFill>
                  <a:srgbClr val="D9DFFC"/>
                </a:solidFill>
                <a:latin typeface="Microsoft YaHei"/>
                <a:ea typeface="Microsoft YaHei"/>
              </a:rPr>
              <a:t>协同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334500" y="20859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DCE4F5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153650" y="22669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原生解析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9334500" y="26003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DCE4F5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153650" y="27813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原生双链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334500" y="31146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DCE4F5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067925" y="32956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局部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全局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9334500" y="362902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DCE4F5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153650" y="38100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向量召回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9334500" y="4143375"/>
            <a:ext cx="2247900" cy="514350"/>
          </a:xfrm>
          <a:custGeom>
            <a:pathLst>
              <a:path w="236" h="54">
                <a:moveTo>
                  <a:pt x="0" y="53"/>
                </a:moveTo>
                <a:lnTo>
                  <a:pt x="236" y="53"/>
                </a:lnTo>
                <a:lnTo>
                  <a:pt x="23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DCE4F5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067925" y="43243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Chunk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029825" y="48387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16AE9C"/>
                </a:solidFill>
                <a:latin typeface="Microsoft YaHei"/>
                <a:ea typeface="Microsoft YaHei"/>
              </a:rPr>
              <a:t>●</a:t>
            </a:r>
            <a:r>
              <a:rPr lang="en-US" sz="975">
                <a:solidFill>
                  <a:srgbClr val="1B2A4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B2A44"/>
                </a:solidFill>
                <a:latin typeface="Microsoft YaHei"/>
                <a:ea typeface="Microsoft YaHei"/>
              </a:rPr>
              <a:t>可重建可注入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5362575"/>
            <a:ext cx="10972800" cy="561975"/>
          </a:xfrm>
          <a:prstGeom prst="roundRect">
            <a:avLst>
              <a:gd name="adj" fmla="val 20339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8200" y="55721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6AE9C"/>
                </a:solidFill>
                <a:latin typeface="Microsoft YaHei"/>
                <a:ea typeface="Microsoft YaHei"/>
              </a:rPr>
              <a:t>本项目的位置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828800" y="5514975"/>
            <a:ext cx="9525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把四段接成一条闭环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资料进得来、笔记连得起来、语义搜得到、出处点得回去；并且索引可重建、可注入故障做实验。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2324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● </a:t>
            </a: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原生具备　　◐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需插件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能力较弱　　○</a:t>
            </a:r>
            <a:r>
              <a:rPr lang="en-US" sz="825">
                <a:solidFill>
                  <a:srgbClr val="66779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667792"/>
                </a:solidFill>
                <a:latin typeface="Microsoft YaHei"/>
                <a:ea typeface="Microsoft YaHei"/>
              </a:rPr>
              <a:t>不具备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648825" y="6038850"/>
            <a:ext cx="1933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A7BC"/>
                </a:solidFill>
                <a:latin typeface="Microsoft YaHei"/>
                <a:ea typeface="Microsoft YaHei"/>
              </a:rPr>
              <a:t>判定依据：产品公开文档</a:t>
            </a:r>
            <a:r>
              <a:rPr lang="en-US" sz="825">
                <a:solidFill>
                  <a:srgbClr val="9AA7BC"/>
                </a:solidFill>
                <a:latin typeface="Microsoft YaHei"/>
                <a:ea typeface="Microsoft YaHei"/>
              </a:rPr>
              <a:t xml:space="preserve"> + 2026.10 </a:t>
            </a:r>
            <a:r>
              <a:rPr lang="zh-CN" sz="825">
                <a:solidFill>
                  <a:srgbClr val="9AA7BC"/>
                </a:solidFill>
                <a:latin typeface="Microsoft YaHei"/>
                <a:ea typeface="Microsoft YaHei"/>
              </a:rPr>
              <a:t>实测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2026-10-21T21:40:17Z</dcterms:created>
  <dcterms:modified xsi:type="dcterms:W3CDTF">2026-10-21T21:40:17Z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{"AIGC":{"Label":"1","ContentProducer":"00119111010856365494821B355","ProduceID":"01a15eaadd1b7c539d4065126ac3db25","ReservedCode1":"","ContentPropagator":"00119111010856365494821B355","PropagateID":"01a15eaadd1b7c539d4065126ac3db25","ReservedCode2":""}}</vt:lpwstr>
  </property>
</Properties>
</file>