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开场：本项目不是简单搭建笔记 CRUD 系统，而是围绕一个真实可用的个人知识库，研究四种 NoSQL 的数据协作与工程实践。,核心记忆点：真实场景、异构分工、可量化课程实验。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场景主要针对大学生：课件和笔记容易积压，但缺少统一的归档、检索和关联机制。,采用文档、键值、图与向量数据模型，分别解决不同的数据访问问题。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Obsidian 提供笔记的编辑和关联思路，ima 提供资料汇聚和 AI 检索思路。,本项目独特价值并不在于对竞品功能的简单拼接，而在于把四类 NoSQL 作为可观测、可对照、可恢复的架构整体。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展示三类场景即可，避免展开所有需求细节。,课程学习是最强演示案例，科研和日常生活证明平台具有扩展空间。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用户场景以操作系统课程为例：将课件 PDF 导入系统，并编辑几篇相关笔记。,展示从业务动作到四库服务的映射，突出“上传后可找回、可关联、可引用”。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明确 AI 问答是 P1，先完成检索与原文引用。,课程主线包含功能模块与数据库课程实验面板；实验面板虽然不是普通用户常用功能，但必须作为课程交付。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这里是产品化布局示意，注意不能向老师声称是已实现截图。,三栏工作台信息结构清晰；知识库检索、文档来源、双向链接三个特点可一页展示。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P0 的硬指标是数据全链路打通，不一定要具备商业产品的全部功能。,刻意排除 OCR、多人协同、离线同步等高复杂度任务，以保证课程质量。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这是技术架构的主图。强调 MongoDB 是唯一权威数据源；Redis、Neo4j、Milvus 不是对等业务主数据库。,独立 Worker 用于耗时的文档解析、关系同步和向量化。,实际架构通过后端或 Worker 访问数据库，不允许浏览器直接连接数据库。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这页不只是列数据库名，而是说明每一种对应的查询模型和服务场景。,MongoDB 管理权威内容；Redis 管理时间敏感的数据和任务；Neo4j 管理显式关系；Milvus 管理高维向量。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展示 MongoDB 的代表性 Collections，以及跨四个数据库共享的业务标识。,content_version 解决异步同步可能产生的陈旧数据问题，是本系统一致性设计的关键字段。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解析文件可以很耗时，必须与用户的 HTTP 上传请求解耦。,同时保存 Chunk 原文和页码，后续回答能够回溯到真实资料。,从技术上注意 Stream 消息确认、失败重试、索引版本校验。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这是用户感知价值的核心：相似概念不一定包含相同关键词，因此引入语义搜索。,检索结果由 Milvus 提供候选，再回 MongoDB 按权限和版本做二次校验。,没有足够引用依据时，不应强行生成答案。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用户修改笔记时，业务数据和 Outbox 事件在 MongoDB 同一事务里提交。,发布器将事件写入 Redis Stream，Graph Worker 与 Vector Worker 分别更新索引。,重复事件靠幂等机制安全处理，乱序事件靠版本比对过滤；定期对账保证最终收敛。,MongoDB 事务部署前提：必须使用支持事务的副本集。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对课程项目而言，采用模块化单体比微服务更稳妥。,MongoDB 采用副本集以支持 Transactional Outbox 的多文档事务；四数据库可以放在 Docker Compose 中。,初期不强制本地部署 LLM，AI 能力单独解耦。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这是课程技术深度的核心：从“数据库用得上”到“数据库为什么要这样用”。,特别强调第五组故障恢复实验，并补充 Milvus FLAT/IVF/HNSW 多索引实验，将整个异构数据架构串联起来。,所有性能数字必须实测，不能采用模拟数据当作结论。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六阶段按依赖顺序展开，而非并行堆功能。,每一阶段都有独立的验收点，避免最后四种数据库同时联调导致风险集中。,实际日程应按课程周次倒排，AI 问答是可选增强，不影响交付主链路。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答辩第一部分演示实际知识管理工作流，第二部分演示数据管理技术。,最有冲击力的技术演示是人为停掉 Worker，在恢复后让数据自动一致。,交付的重点是可复现，不是只提交一段视频。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结尾重申三个价值：可用产品、四库协同、课程实验。,下一步首先落地四数据库开发环境以及统一 ID、索引和初始集合，然后开发 MongoDB 基础笔记工作流。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技术资料优先采用官方文档。,开源案例可帮助入门，但本项目的数据所有权、跨库协同和课程实验需要独立设计实现。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7" Type="http://schemas.openxmlformats.org/officeDocument/2006/relationships/notesSlide" Target="../notesSlides/notesSlide2.xml"/><Relationship Id="rId16" Type="http://schemas.openxmlformats.org/officeDocument/2006/relationships/slideLayout" Target="../slideLayouts/slideLayout1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1" Type="http://schemas.openxmlformats.org/officeDocument/2006/relationships/notesSlide" Target="../notesSlides/notesSlide12.xml"/><Relationship Id="rId30" Type="http://schemas.openxmlformats.org/officeDocument/2006/relationships/slideLayout" Target="../slideLayouts/slideLayout1.xml"/><Relationship Id="rId3" Type="http://schemas.openxmlformats.org/officeDocument/2006/relationships/tags" Target="../tags/tag18.xml"/><Relationship Id="rId29" Type="http://schemas.openxmlformats.org/officeDocument/2006/relationships/tags" Target="../tags/tag44.xml"/><Relationship Id="rId28" Type="http://schemas.openxmlformats.org/officeDocument/2006/relationships/tags" Target="../tags/tag43.xml"/><Relationship Id="rId27" Type="http://schemas.openxmlformats.org/officeDocument/2006/relationships/tags" Target="../tags/tag42.xml"/><Relationship Id="rId26" Type="http://schemas.openxmlformats.org/officeDocument/2006/relationships/tags" Target="../tags/tag41.xml"/><Relationship Id="rId25" Type="http://schemas.openxmlformats.org/officeDocument/2006/relationships/tags" Target="../tags/tag40.xml"/><Relationship Id="rId24" Type="http://schemas.openxmlformats.org/officeDocument/2006/relationships/tags" Target="../tags/tag39.xml"/><Relationship Id="rId23" Type="http://schemas.openxmlformats.org/officeDocument/2006/relationships/tags" Target="../tags/tag38.xml"/><Relationship Id="rId22" Type="http://schemas.openxmlformats.org/officeDocument/2006/relationships/tags" Target="../tags/tag37.xml"/><Relationship Id="rId21" Type="http://schemas.openxmlformats.org/officeDocument/2006/relationships/tags" Target="../tags/tag36.xml"/><Relationship Id="rId20" Type="http://schemas.openxmlformats.org/officeDocument/2006/relationships/tags" Target="../tags/tag35.xml"/><Relationship Id="rId2" Type="http://schemas.openxmlformats.org/officeDocument/2006/relationships/tags" Target="../tags/tag17.xml"/><Relationship Id="rId19" Type="http://schemas.openxmlformats.org/officeDocument/2006/relationships/tags" Target="../tags/tag34.xml"/><Relationship Id="rId18" Type="http://schemas.openxmlformats.org/officeDocument/2006/relationships/tags" Target="../tags/tag33.xml"/><Relationship Id="rId17" Type="http://schemas.openxmlformats.org/officeDocument/2006/relationships/tags" Target="../tags/tag32.xml"/><Relationship Id="rId16" Type="http://schemas.openxmlformats.org/officeDocument/2006/relationships/tags" Target="../tags/tag31.xml"/><Relationship Id="rId15" Type="http://schemas.openxmlformats.org/officeDocument/2006/relationships/tags" Target="../tags/tag30.xml"/><Relationship Id="rId14" Type="http://schemas.openxmlformats.org/officeDocument/2006/relationships/tags" Target="../tags/tag29.xml"/><Relationship Id="rId13" Type="http://schemas.openxmlformats.org/officeDocument/2006/relationships/tags" Target="../tags/tag28.xml"/><Relationship Id="rId12" Type="http://schemas.openxmlformats.org/officeDocument/2006/relationships/tags" Target="../tags/tag27.xml"/><Relationship Id="rId11" Type="http://schemas.openxmlformats.org/officeDocument/2006/relationships/tags" Target="../tags/tag26.xml"/><Relationship Id="rId10" Type="http://schemas.openxmlformats.org/officeDocument/2006/relationships/tags" Target="../tags/tag25.xml"/><Relationship Id="rId1" Type="http://schemas.openxmlformats.org/officeDocument/2006/relationships/tags" Target="../tags/tag1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6AE9C"/>
          </a:solidFill>
          <a:ln w="12700">
            <a:solidFill>
              <a:srgbClr val="16AE9C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8348472" y="274320"/>
            <a:ext cx="3429000" cy="3429000"/>
          </a:xfrm>
          <a:prstGeom prst="ellipse">
            <a:avLst/>
          </a:prstGeom>
          <a:solidFill>
            <a:srgbClr val="142342"/>
          </a:solidFill>
          <a:ln w="17780">
            <a:solidFill>
              <a:srgbClr val="2D436B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" name="Shape 2"/>
          <p:cNvSpPr/>
          <p:nvPr/>
        </p:nvSpPr>
        <p:spPr>
          <a:xfrm>
            <a:off x="8823960" y="749808"/>
            <a:ext cx="2450592" cy="2450592"/>
          </a:xfrm>
          <a:prstGeom prst="ellipse">
            <a:avLst/>
          </a:prstGeom>
          <a:solidFill>
            <a:srgbClr val="182A4E"/>
          </a:solidFill>
          <a:ln w="15240">
            <a:solidFill>
              <a:srgbClr val="34537C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" name="Shape 3"/>
          <p:cNvSpPr/>
          <p:nvPr/>
        </p:nvSpPr>
        <p:spPr>
          <a:xfrm>
            <a:off x="9409176" y="1344168"/>
            <a:ext cx="1261872" cy="1261872"/>
          </a:xfrm>
          <a:prstGeom prst="ellipse">
            <a:avLst/>
          </a:prstGeom>
          <a:solidFill>
            <a:srgbClr val="526BEA"/>
          </a:solidFill>
          <a:ln w="12700">
            <a:solidFill>
              <a:srgbClr val="526BE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6" name="Text 4"/>
          <p:cNvSpPr/>
          <p:nvPr/>
        </p:nvSpPr>
        <p:spPr>
          <a:xfrm>
            <a:off x="9646920" y="1655064"/>
            <a:ext cx="786384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KH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7616952" y="2377440"/>
            <a:ext cx="502920" cy="1892808"/>
          </a:xfrm>
          <a:prstGeom prst="line">
            <a:avLst/>
          </a:prstGeom>
          <a:noFill/>
          <a:ln w="20320">
            <a:solidFill>
              <a:srgbClr val="52719C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8" name="Shape 6"/>
          <p:cNvSpPr/>
          <p:nvPr/>
        </p:nvSpPr>
        <p:spPr>
          <a:xfrm>
            <a:off x="7616952" y="1673352"/>
            <a:ext cx="3758184" cy="704088"/>
          </a:xfrm>
          <a:prstGeom prst="line">
            <a:avLst/>
          </a:prstGeom>
          <a:noFill/>
          <a:ln w="20320">
            <a:solidFill>
              <a:srgbClr val="52719C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Shape 7"/>
          <p:cNvSpPr/>
          <p:nvPr/>
        </p:nvSpPr>
        <p:spPr>
          <a:xfrm>
            <a:off x="8119872" y="4270248"/>
            <a:ext cx="2048256" cy="749808"/>
          </a:xfrm>
          <a:prstGeom prst="line">
            <a:avLst/>
          </a:prstGeom>
          <a:noFill/>
          <a:ln w="20320">
            <a:solidFill>
              <a:srgbClr val="52719C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0" name="Shape 8"/>
          <p:cNvSpPr/>
          <p:nvPr/>
        </p:nvSpPr>
        <p:spPr>
          <a:xfrm>
            <a:off x="10168128" y="3730752"/>
            <a:ext cx="1408176" cy="1289304"/>
          </a:xfrm>
          <a:prstGeom prst="line">
            <a:avLst/>
          </a:prstGeom>
          <a:noFill/>
          <a:ln w="20320">
            <a:solidFill>
              <a:srgbClr val="52719C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1" name="Shape 9"/>
          <p:cNvSpPr/>
          <p:nvPr/>
        </p:nvSpPr>
        <p:spPr>
          <a:xfrm>
            <a:off x="11375136" y="1673352"/>
            <a:ext cx="201168" cy="2057400"/>
          </a:xfrm>
          <a:prstGeom prst="line">
            <a:avLst/>
          </a:prstGeom>
          <a:noFill/>
          <a:ln w="20320">
            <a:solidFill>
              <a:srgbClr val="52719C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2" name="Shape 10"/>
          <p:cNvSpPr/>
          <p:nvPr/>
        </p:nvSpPr>
        <p:spPr>
          <a:xfrm>
            <a:off x="7616952" y="2377440"/>
            <a:ext cx="3959352" cy="1353312"/>
          </a:xfrm>
          <a:prstGeom prst="line">
            <a:avLst/>
          </a:prstGeom>
          <a:noFill/>
          <a:ln w="20320">
            <a:solidFill>
              <a:srgbClr val="52719C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3" name="Shape 11"/>
          <p:cNvSpPr/>
          <p:nvPr/>
        </p:nvSpPr>
        <p:spPr>
          <a:xfrm>
            <a:off x="7269480" y="2029968"/>
            <a:ext cx="694944" cy="694944"/>
          </a:xfrm>
          <a:prstGeom prst="ellipse">
            <a:avLst/>
          </a:prstGeom>
          <a:solidFill>
            <a:srgbClr val="1A345A"/>
          </a:solidFill>
          <a:ln w="15240">
            <a:solidFill>
              <a:srgbClr val="7394C1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4" name="Text 12"/>
          <p:cNvSpPr/>
          <p:nvPr/>
        </p:nvSpPr>
        <p:spPr>
          <a:xfrm>
            <a:off x="7296912" y="2212848"/>
            <a:ext cx="64008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E6F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笔记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772400" y="3922776"/>
            <a:ext cx="694944" cy="694944"/>
          </a:xfrm>
          <a:prstGeom prst="ellipse">
            <a:avLst/>
          </a:prstGeom>
          <a:solidFill>
            <a:srgbClr val="1A345A"/>
          </a:solidFill>
          <a:ln w="15240">
            <a:solidFill>
              <a:srgbClr val="7394C1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6" name="Text 14"/>
          <p:cNvSpPr/>
          <p:nvPr/>
        </p:nvSpPr>
        <p:spPr>
          <a:xfrm>
            <a:off x="7799832" y="4105656"/>
            <a:ext cx="64008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E6F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文档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820656" y="4672584"/>
            <a:ext cx="694944" cy="694944"/>
          </a:xfrm>
          <a:prstGeom prst="ellipse">
            <a:avLst/>
          </a:prstGeom>
          <a:solidFill>
            <a:srgbClr val="214C68"/>
          </a:solidFill>
          <a:ln w="15240">
            <a:solidFill>
              <a:srgbClr val="7394C1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8" name="Text 16"/>
          <p:cNvSpPr/>
          <p:nvPr/>
        </p:nvSpPr>
        <p:spPr>
          <a:xfrm>
            <a:off x="9848088" y="4855464"/>
            <a:ext cx="64008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E6F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搜索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1228832" y="3383280"/>
            <a:ext cx="694944" cy="694944"/>
          </a:xfrm>
          <a:prstGeom prst="ellipse">
            <a:avLst/>
          </a:prstGeom>
          <a:solidFill>
            <a:srgbClr val="1A345A"/>
          </a:solidFill>
          <a:ln w="15240">
            <a:solidFill>
              <a:srgbClr val="7394C1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0" name="Text 18"/>
          <p:cNvSpPr/>
          <p:nvPr/>
        </p:nvSpPr>
        <p:spPr>
          <a:xfrm>
            <a:off x="11256264" y="3566160"/>
            <a:ext cx="64008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E6F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图谱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1027664" y="1325880"/>
            <a:ext cx="694944" cy="694944"/>
          </a:xfrm>
          <a:prstGeom prst="ellipse">
            <a:avLst/>
          </a:prstGeom>
          <a:solidFill>
            <a:srgbClr val="1A345A"/>
          </a:solidFill>
          <a:ln w="15240">
            <a:solidFill>
              <a:srgbClr val="7394C1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2" name="Text 20"/>
          <p:cNvSpPr/>
          <p:nvPr/>
        </p:nvSpPr>
        <p:spPr>
          <a:xfrm>
            <a:off x="11055096" y="1508760"/>
            <a:ext cx="64008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E6F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问答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66928" y="539496"/>
            <a:ext cx="3063240" cy="283464"/>
          </a:xfrm>
          <a:prstGeom prst="roundRect">
            <a:avLst>
              <a:gd name="adj" fmla="val 41935"/>
            </a:avLst>
          </a:prstGeom>
          <a:solidFill>
            <a:srgbClr val="24365C"/>
          </a:solidFill>
          <a:ln w="12700">
            <a:solidFill>
              <a:srgbClr val="24365C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4" name="Text 22"/>
          <p:cNvSpPr/>
          <p:nvPr/>
        </p:nvSpPr>
        <p:spPr>
          <a:xfrm>
            <a:off x="640080" y="553212"/>
            <a:ext cx="2916936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4E3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课程项目  /  技术设计与实施计划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76072" y="1517904"/>
            <a:ext cx="6217920" cy="95097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知序</a:t>
            </a:r>
            <a:endParaRPr lang="en-US" sz="4900" dirty="0"/>
          </a:p>
        </p:txBody>
      </p:sp>
      <p:sp>
        <p:nvSpPr>
          <p:cNvPr id="26" name="Text 24"/>
          <p:cNvSpPr/>
          <p:nvPr/>
        </p:nvSpPr>
        <p:spPr>
          <a:xfrm>
            <a:off x="585216" y="2487168"/>
            <a:ext cx="6400800" cy="5852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500" b="1" dirty="0">
                <a:solidFill>
                  <a:srgbClr val="A6B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KnowledgeHub</a:t>
            </a:r>
            <a:endParaRPr lang="en-US" sz="3500" dirty="0"/>
          </a:p>
        </p:txBody>
      </p:sp>
      <p:sp>
        <p:nvSpPr>
          <p:cNvPr id="27" name="Shape 25"/>
          <p:cNvSpPr/>
          <p:nvPr/>
        </p:nvSpPr>
        <p:spPr>
          <a:xfrm>
            <a:off x="585216" y="3364992"/>
            <a:ext cx="704088" cy="54864"/>
          </a:xfrm>
          <a:prstGeom prst="rect">
            <a:avLst/>
          </a:prstGeom>
          <a:solidFill>
            <a:srgbClr val="16AE9C"/>
          </a:solidFill>
          <a:ln w="12700">
            <a:solidFill>
              <a:srgbClr val="16AE9C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8" name="Text 26"/>
          <p:cNvSpPr/>
          <p:nvPr/>
        </p:nvSpPr>
        <p:spPr>
          <a:xfrm>
            <a:off x="585216" y="3675888"/>
            <a:ext cx="612648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EAF2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基于异构 NoSQL 数据库协同的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85216" y="4096512"/>
            <a:ext cx="6172200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EAF2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个人知识管理与智能检索系统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03504" y="4992624"/>
            <a:ext cx="589788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91A8C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MongoDB   ·   Redis   ·   Neo4j   ·   Milvus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94360" y="5971032"/>
            <a:ext cx="10927080" cy="0"/>
          </a:xfrm>
          <a:prstGeom prst="line">
            <a:avLst/>
          </a:prstGeom>
          <a:noFill/>
          <a:ln w="12700">
            <a:solidFill>
              <a:srgbClr val="2C3B5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/>
          <p:nvPr/>
        </p:nvSpPr>
        <p:spPr>
          <a:xfrm>
            <a:off x="603504" y="6089904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A6B4C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大数据管理  ·  立项汇报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732520" y="6089904"/>
            <a:ext cx="27889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dirty="0">
                <a:solidFill>
                  <a:srgbClr val="A6B4C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2026 · 项目设计稿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526BEA"/>
          </a:solidFill>
          <a:ln w="12700">
            <a:solidFill>
              <a:srgbClr val="526BE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/>
          <p:nvPr/>
        </p:nvSpPr>
        <p:spPr>
          <a:xfrm>
            <a:off x="548640" y="310896"/>
            <a:ext cx="731520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26BE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 / 项目背景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B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学生资料不断积累，知识却难以真正复用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16128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问题不在于“缺少资料”，而在于“存得分散、找得困难、连不起来”。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6528816"/>
            <a:ext cx="11091672" cy="0"/>
          </a:xfrm>
          <a:prstGeom prst="line">
            <a:avLst/>
          </a:prstGeom>
          <a:noFill/>
          <a:ln w="8890">
            <a:solidFill>
              <a:srgbClr val="E2EAF4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/>
          <p:nvPr/>
        </p:nvSpPr>
        <p:spPr>
          <a:xfrm>
            <a:off x="566928" y="6574536"/>
            <a:ext cx="658368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知序 KnowledgeHub  /  大数据管理课程项目</a:t>
            </a:r>
            <a:endParaRPr lang="en-US" sz="830" dirty="0"/>
          </a:p>
        </p:txBody>
      </p:sp>
      <p:sp>
        <p:nvSpPr>
          <p:cNvPr id="8" name="Text 6"/>
          <p:cNvSpPr/>
          <p:nvPr/>
        </p:nvSpPr>
        <p:spPr>
          <a:xfrm>
            <a:off x="11109960" y="6547104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950" dirty="0"/>
          </a:p>
        </p:txBody>
      </p:sp>
      <p:sp>
        <p:nvSpPr>
          <p:cNvPr id="9" name="Shape 7"/>
          <p:cNvSpPr/>
          <p:nvPr>
            <p:custDataLst>
              <p:tags r:id="rId1"/>
            </p:custDataLst>
          </p:nvPr>
        </p:nvSpPr>
        <p:spPr>
          <a:xfrm>
            <a:off x="548640" y="1810512"/>
            <a:ext cx="3602736" cy="2788920"/>
          </a:xfrm>
          <a:prstGeom prst="roundRect">
            <a:avLst>
              <a:gd name="adj" fmla="val 5902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0" name="Shape 8"/>
          <p:cNvSpPr/>
          <p:nvPr>
            <p:custDataLst>
              <p:tags r:id="rId2"/>
            </p:custDataLst>
          </p:nvPr>
        </p:nvSpPr>
        <p:spPr>
          <a:xfrm>
            <a:off x="822960" y="2084832"/>
            <a:ext cx="594360" cy="594360"/>
          </a:xfrm>
          <a:prstGeom prst="ellipse">
            <a:avLst/>
          </a:prstGeom>
          <a:solidFill>
            <a:srgbClr val="526BEA"/>
          </a:solidFill>
          <a:ln w="12700">
            <a:solidFill>
              <a:srgbClr val="526BE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1" name="Text 9"/>
          <p:cNvSpPr/>
          <p:nvPr>
            <p:custDataLst>
              <p:tags r:id="rId3"/>
            </p:custDataLst>
          </p:nvPr>
        </p:nvSpPr>
        <p:spPr>
          <a:xfrm>
            <a:off x="822960" y="2221992"/>
            <a:ext cx="594360" cy="26517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400" dirty="0"/>
          </a:p>
        </p:txBody>
      </p:sp>
      <p:sp>
        <p:nvSpPr>
          <p:cNvPr id="12" name="Text 10"/>
          <p:cNvSpPr/>
          <p:nvPr>
            <p:custDataLst>
              <p:tags r:id="rId4"/>
            </p:custDataLst>
          </p:nvPr>
        </p:nvSpPr>
        <p:spPr>
          <a:xfrm>
            <a:off x="822960" y="2926080"/>
            <a:ext cx="292608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B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资料分散</a:t>
            </a:r>
            <a:endParaRPr lang="en-US" sz="2200" dirty="0"/>
          </a:p>
        </p:txBody>
      </p:sp>
      <p:sp>
        <p:nvSpPr>
          <p:cNvPr id="13" name="Text 11"/>
          <p:cNvSpPr/>
          <p:nvPr>
            <p:custDataLst>
              <p:tags r:id="rId5"/>
            </p:custDataLst>
          </p:nvPr>
        </p:nvSpPr>
        <p:spPr>
          <a:xfrm>
            <a:off x="822960" y="3447288"/>
            <a:ext cx="3017520" cy="77724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课程 PPT、论文、代码、笔记和网页收藏分散在文件夹与不同工具。</a:t>
            </a:r>
            <a:endParaRPr lang="en-US" sz="1400" dirty="0"/>
          </a:p>
        </p:txBody>
      </p:sp>
      <p:sp>
        <p:nvSpPr>
          <p:cNvPr id="14" name="Shape 12"/>
          <p:cNvSpPr/>
          <p:nvPr>
            <p:custDataLst>
              <p:tags r:id="rId6"/>
            </p:custDataLst>
          </p:nvPr>
        </p:nvSpPr>
        <p:spPr>
          <a:xfrm>
            <a:off x="4352544" y="1810512"/>
            <a:ext cx="3602736" cy="2788920"/>
          </a:xfrm>
          <a:prstGeom prst="roundRect">
            <a:avLst>
              <a:gd name="adj" fmla="val 5902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5" name="Shape 13"/>
          <p:cNvSpPr/>
          <p:nvPr>
            <p:custDataLst>
              <p:tags r:id="rId7"/>
            </p:custDataLst>
          </p:nvPr>
        </p:nvSpPr>
        <p:spPr>
          <a:xfrm>
            <a:off x="4626864" y="2084832"/>
            <a:ext cx="594360" cy="594360"/>
          </a:xfrm>
          <a:prstGeom prst="ellipse">
            <a:avLst/>
          </a:prstGeom>
          <a:solidFill>
            <a:srgbClr val="16AE9C"/>
          </a:solidFill>
          <a:ln w="12700">
            <a:solidFill>
              <a:srgbClr val="16AE9C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6" name="Text 14"/>
          <p:cNvSpPr/>
          <p:nvPr>
            <p:custDataLst>
              <p:tags r:id="rId8"/>
            </p:custDataLst>
          </p:nvPr>
        </p:nvSpPr>
        <p:spPr>
          <a:xfrm>
            <a:off x="4626864" y="2221992"/>
            <a:ext cx="594360" cy="26517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400" dirty="0"/>
          </a:p>
        </p:txBody>
      </p:sp>
      <p:sp>
        <p:nvSpPr>
          <p:cNvPr id="17" name="Text 15"/>
          <p:cNvSpPr/>
          <p:nvPr>
            <p:custDataLst>
              <p:tags r:id="rId9"/>
            </p:custDataLst>
          </p:nvPr>
        </p:nvSpPr>
        <p:spPr>
          <a:xfrm>
            <a:off x="4626864" y="2926080"/>
            <a:ext cx="292608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B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检索低效</a:t>
            </a:r>
            <a:endParaRPr lang="en-US" sz="2200" dirty="0"/>
          </a:p>
        </p:txBody>
      </p:sp>
      <p:sp>
        <p:nvSpPr>
          <p:cNvPr id="18" name="Text 16"/>
          <p:cNvSpPr/>
          <p:nvPr>
            <p:custDataLst>
              <p:tags r:id="rId10"/>
            </p:custDataLst>
          </p:nvPr>
        </p:nvSpPr>
        <p:spPr>
          <a:xfrm>
            <a:off x="4626864" y="3447288"/>
            <a:ext cx="3017520" cy="77724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文件名难覆盖内容；同义表达难被传统关键词搜索捕获。</a:t>
            </a:r>
            <a:endParaRPr lang="en-US" sz="1400" dirty="0"/>
          </a:p>
        </p:txBody>
      </p:sp>
      <p:sp>
        <p:nvSpPr>
          <p:cNvPr id="19" name="Shape 17"/>
          <p:cNvSpPr/>
          <p:nvPr>
            <p:custDataLst>
              <p:tags r:id="rId11"/>
            </p:custDataLst>
          </p:nvPr>
        </p:nvSpPr>
        <p:spPr>
          <a:xfrm>
            <a:off x="8156448" y="1810512"/>
            <a:ext cx="3602736" cy="2788920"/>
          </a:xfrm>
          <a:prstGeom prst="roundRect">
            <a:avLst>
              <a:gd name="adj" fmla="val 5902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0" name="Shape 18"/>
          <p:cNvSpPr/>
          <p:nvPr>
            <p:custDataLst>
              <p:tags r:id="rId12"/>
            </p:custDataLst>
          </p:nvPr>
        </p:nvSpPr>
        <p:spPr>
          <a:xfrm>
            <a:off x="8430768" y="2084832"/>
            <a:ext cx="594360" cy="594360"/>
          </a:xfrm>
          <a:prstGeom prst="ellipse">
            <a:avLst/>
          </a:prstGeom>
          <a:solidFill>
            <a:srgbClr val="8B71E8"/>
          </a:solidFill>
          <a:ln w="12700">
            <a:solidFill>
              <a:srgbClr val="8B71E8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1" name="Text 19"/>
          <p:cNvSpPr/>
          <p:nvPr>
            <p:custDataLst>
              <p:tags r:id="rId13"/>
            </p:custDataLst>
          </p:nvPr>
        </p:nvSpPr>
        <p:spPr>
          <a:xfrm>
            <a:off x="8430768" y="2221992"/>
            <a:ext cx="594360" cy="26517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400" dirty="0"/>
          </a:p>
        </p:txBody>
      </p:sp>
      <p:sp>
        <p:nvSpPr>
          <p:cNvPr id="22" name="Text 20"/>
          <p:cNvSpPr/>
          <p:nvPr>
            <p:custDataLst>
              <p:tags r:id="rId14"/>
            </p:custDataLst>
          </p:nvPr>
        </p:nvSpPr>
        <p:spPr>
          <a:xfrm>
            <a:off x="8430768" y="2926080"/>
            <a:ext cx="292608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B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知识孤岛</a:t>
            </a:r>
            <a:endParaRPr lang="en-US" sz="2200" dirty="0"/>
          </a:p>
        </p:txBody>
      </p:sp>
      <p:sp>
        <p:nvSpPr>
          <p:cNvPr id="23" name="Text 21"/>
          <p:cNvSpPr/>
          <p:nvPr>
            <p:custDataLst>
              <p:tags r:id="rId15"/>
            </p:custDataLst>
          </p:nvPr>
        </p:nvSpPr>
        <p:spPr>
          <a:xfrm>
            <a:off x="8430768" y="3447288"/>
            <a:ext cx="3017520" cy="77724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笔记与知识点缺乏可视化关联，后续复习与复用效率低。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4983480"/>
            <a:ext cx="11100816" cy="859536"/>
          </a:xfrm>
          <a:prstGeom prst="roundRect">
            <a:avLst>
              <a:gd name="adj" fmla="val 15957"/>
            </a:avLst>
          </a:prstGeom>
          <a:solidFill>
            <a:srgbClr val="E8EEFD"/>
          </a:solidFill>
          <a:ln w="12700">
            <a:solidFill>
              <a:srgbClr val="E8EEFD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5" name="Shape 23"/>
          <p:cNvSpPr/>
          <p:nvPr/>
        </p:nvSpPr>
        <p:spPr>
          <a:xfrm>
            <a:off x="548640" y="4983480"/>
            <a:ext cx="91440" cy="859536"/>
          </a:xfrm>
          <a:prstGeom prst="rect">
            <a:avLst/>
          </a:prstGeom>
          <a:solidFill>
            <a:srgbClr val="526BEA"/>
          </a:solidFill>
          <a:ln w="12700">
            <a:solidFill>
              <a:srgbClr val="526BE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Text 24"/>
          <p:cNvSpPr/>
          <p:nvPr/>
        </p:nvSpPr>
        <p:spPr>
          <a:xfrm>
            <a:off x="804672" y="5175504"/>
            <a:ext cx="1261872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526BE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设计机会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048256" y="5138928"/>
            <a:ext cx="923544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B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把“存储 → 组织 → 关联 → 检索 → 复用”连成一条完整的知识工作流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526BEA"/>
          </a:solidFill>
          <a:ln w="12700">
            <a:solidFill>
              <a:srgbClr val="526BE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/>
          <p:nvPr/>
        </p:nvSpPr>
        <p:spPr>
          <a:xfrm>
            <a:off x="548640" y="310896"/>
            <a:ext cx="731520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26BE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 / 项目背景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B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借鉴成熟产品体验，聚焦课程项目的差异化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16128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不是复刻商业工具：让用户可用，也让数据库原理可测。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6528816"/>
            <a:ext cx="11091672" cy="0"/>
          </a:xfrm>
          <a:prstGeom prst="line">
            <a:avLst/>
          </a:prstGeom>
          <a:noFill/>
          <a:ln w="8890">
            <a:solidFill>
              <a:srgbClr val="E2EAF4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/>
          <p:nvPr/>
        </p:nvSpPr>
        <p:spPr>
          <a:xfrm>
            <a:off x="566928" y="6574536"/>
            <a:ext cx="658368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知序 KnowledgeHub  /  大数据管理课程项目</a:t>
            </a:r>
            <a:endParaRPr lang="en-US" sz="830" dirty="0"/>
          </a:p>
        </p:txBody>
      </p:sp>
      <p:sp>
        <p:nvSpPr>
          <p:cNvPr id="8" name="Text 6"/>
          <p:cNvSpPr/>
          <p:nvPr/>
        </p:nvSpPr>
        <p:spPr>
          <a:xfrm>
            <a:off x="11109960" y="6547104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1737360"/>
            <a:ext cx="5394960" cy="1307592"/>
          </a:xfrm>
          <a:prstGeom prst="roundRect">
            <a:avLst>
              <a:gd name="adj" fmla="val 10490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0" name="Shape 8"/>
          <p:cNvSpPr/>
          <p:nvPr/>
        </p:nvSpPr>
        <p:spPr>
          <a:xfrm>
            <a:off x="758952" y="1956816"/>
            <a:ext cx="1444752" cy="283464"/>
          </a:xfrm>
          <a:prstGeom prst="roundRect">
            <a:avLst>
              <a:gd name="adj" fmla="val 41935"/>
            </a:avLst>
          </a:prstGeom>
          <a:solidFill>
            <a:srgbClr val="ECE8FC"/>
          </a:solidFill>
          <a:ln w="12700">
            <a:solidFill>
              <a:srgbClr val="ECE8FC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1" name="Text 9"/>
          <p:cNvSpPr/>
          <p:nvPr/>
        </p:nvSpPr>
        <p:spPr>
          <a:xfrm>
            <a:off x="832104" y="1970532"/>
            <a:ext cx="129844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71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Obsidian 启发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86384" y="2423160"/>
            <a:ext cx="4873752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B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Markdown · 双向链接 · 关系图谱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45352" y="1737360"/>
            <a:ext cx="5394960" cy="1307592"/>
          </a:xfrm>
          <a:prstGeom prst="roundRect">
            <a:avLst>
              <a:gd name="adj" fmla="val 10490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4" name="Shape 12"/>
          <p:cNvSpPr/>
          <p:nvPr/>
        </p:nvSpPr>
        <p:spPr>
          <a:xfrm>
            <a:off x="6464808" y="1956816"/>
            <a:ext cx="1188720" cy="283464"/>
          </a:xfrm>
          <a:prstGeom prst="roundRect">
            <a:avLst>
              <a:gd name="adj" fmla="val 41935"/>
            </a:avLst>
          </a:prstGeom>
          <a:solidFill>
            <a:srgbClr val="D9F6F0"/>
          </a:solidFill>
          <a:ln w="12700">
            <a:solidFill>
              <a:srgbClr val="D9F6F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5" name="Text 13"/>
          <p:cNvSpPr/>
          <p:nvPr/>
        </p:nvSpPr>
        <p:spPr>
          <a:xfrm>
            <a:off x="6537960" y="1970532"/>
            <a:ext cx="1042416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AE9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ima 启发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73952" y="2423160"/>
            <a:ext cx="4873752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B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资料导入 · 智能搜索 · 来源引用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218688" y="3090672"/>
            <a:ext cx="2084832" cy="548640"/>
          </a:xfrm>
          <a:prstGeom prst="line">
            <a:avLst/>
          </a:prstGeom>
          <a:noFill/>
          <a:ln w="25400">
            <a:solidFill>
              <a:srgbClr val="8B71E8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8" name="Shape 16"/>
          <p:cNvSpPr/>
          <p:nvPr/>
        </p:nvSpPr>
        <p:spPr>
          <a:xfrm>
            <a:off x="6839712" y="3090672"/>
            <a:ext cx="2011680" cy="548640"/>
          </a:xfrm>
          <a:prstGeom prst="line">
            <a:avLst/>
          </a:prstGeom>
          <a:noFill/>
          <a:ln w="25400">
            <a:solidFill>
              <a:srgbClr val="16AE9C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9" name="Shape 17"/>
          <p:cNvSpPr/>
          <p:nvPr/>
        </p:nvSpPr>
        <p:spPr>
          <a:xfrm>
            <a:off x="2139696" y="3749040"/>
            <a:ext cx="7918704" cy="969264"/>
          </a:xfrm>
          <a:prstGeom prst="roundRect">
            <a:avLst>
              <a:gd name="adj" fmla="val 16981"/>
            </a:avLst>
          </a:prstGeom>
          <a:solidFill>
            <a:srgbClr val="0C1428"/>
          </a:solidFill>
          <a:ln w="12700">
            <a:solidFill>
              <a:srgbClr val="0C1428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0" name="Text 18"/>
          <p:cNvSpPr/>
          <p:nvPr/>
        </p:nvSpPr>
        <p:spPr>
          <a:xfrm>
            <a:off x="2441448" y="3977640"/>
            <a:ext cx="406908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知序 KnowledgeHub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6720840" y="4096512"/>
            <a:ext cx="2926080" cy="283464"/>
          </a:xfrm>
          <a:prstGeom prst="roundRect">
            <a:avLst>
              <a:gd name="adj" fmla="val 41935"/>
            </a:avLst>
          </a:prstGeom>
          <a:solidFill>
            <a:srgbClr val="263D67"/>
          </a:solidFill>
          <a:ln w="12700">
            <a:solidFill>
              <a:srgbClr val="263D6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2" name="Text 20"/>
          <p:cNvSpPr/>
          <p:nvPr/>
        </p:nvSpPr>
        <p:spPr>
          <a:xfrm>
            <a:off x="6793992" y="4110228"/>
            <a:ext cx="2779776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DA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异构 NoSQL 协同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5294376"/>
            <a:ext cx="365760" cy="365760"/>
          </a:xfrm>
          <a:prstGeom prst="ellipse">
            <a:avLst/>
          </a:prstGeom>
          <a:solidFill>
            <a:srgbClr val="526BEA"/>
          </a:solidFill>
          <a:ln w="12700">
            <a:solidFill>
              <a:srgbClr val="526BE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4" name="Text 22"/>
          <p:cNvSpPr/>
          <p:nvPr/>
        </p:nvSpPr>
        <p:spPr>
          <a:xfrm>
            <a:off x="576072" y="5358384"/>
            <a:ext cx="347472" cy="1737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60704" y="5248656"/>
            <a:ext cx="306324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B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可用产品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60704" y="5596128"/>
            <a:ext cx="3172968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课程、科研、生活三类资料统一组织</a:t>
            </a:r>
            <a:endParaRPr lang="en-US" sz="1170" dirty="0"/>
          </a:p>
        </p:txBody>
      </p:sp>
      <p:sp>
        <p:nvSpPr>
          <p:cNvPr id="27" name="Shape 25"/>
          <p:cNvSpPr/>
          <p:nvPr/>
        </p:nvSpPr>
        <p:spPr>
          <a:xfrm>
            <a:off x="4361688" y="5294376"/>
            <a:ext cx="365760" cy="365760"/>
          </a:xfrm>
          <a:prstGeom prst="ellipse">
            <a:avLst/>
          </a:prstGeom>
          <a:solidFill>
            <a:srgbClr val="16AE9C"/>
          </a:solidFill>
          <a:ln w="12700">
            <a:solidFill>
              <a:srgbClr val="16AE9C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8" name="Text 26"/>
          <p:cNvSpPr/>
          <p:nvPr/>
        </p:nvSpPr>
        <p:spPr>
          <a:xfrm>
            <a:off x="4370832" y="5358384"/>
            <a:ext cx="347472" cy="1737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55464" y="5248656"/>
            <a:ext cx="306324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B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数据协同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855464" y="5596128"/>
            <a:ext cx="3172968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四种数据库按访问模式分工</a:t>
            </a:r>
            <a:endParaRPr lang="en-US" sz="1170" dirty="0"/>
          </a:p>
        </p:txBody>
      </p:sp>
      <p:sp>
        <p:nvSpPr>
          <p:cNvPr id="31" name="Shape 29"/>
          <p:cNvSpPr/>
          <p:nvPr/>
        </p:nvSpPr>
        <p:spPr>
          <a:xfrm>
            <a:off x="8156448" y="5294376"/>
            <a:ext cx="365760" cy="365760"/>
          </a:xfrm>
          <a:prstGeom prst="ellipse">
            <a:avLst/>
          </a:prstGeom>
          <a:solidFill>
            <a:srgbClr val="8B71E8"/>
          </a:solidFill>
          <a:ln w="12700">
            <a:solidFill>
              <a:srgbClr val="8B71E8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/>
          <p:nvPr/>
        </p:nvSpPr>
        <p:spPr>
          <a:xfrm>
            <a:off x="8165592" y="5358384"/>
            <a:ext cx="347472" cy="1737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650224" y="5248656"/>
            <a:ext cx="306324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B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实验验证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650224" y="5596128"/>
            <a:ext cx="3172968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性能对照、故障恢复、可复现实验</a:t>
            </a:r>
            <a:endParaRPr lang="en-US" sz="117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526BEA"/>
          </a:solidFill>
          <a:ln w="12700">
            <a:solidFill>
              <a:srgbClr val="526BE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/>
          <p:nvPr/>
        </p:nvSpPr>
        <p:spPr>
          <a:xfrm>
            <a:off x="548640" y="310896"/>
            <a:ext cx="731520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26BE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 / 典型用户场景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B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一个知识库，贯穿课程、科研与校园生活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16128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针对大学生日常使用场景设计，不把使用范围局限于课堂资料。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6528816"/>
            <a:ext cx="11091672" cy="0"/>
          </a:xfrm>
          <a:prstGeom prst="line">
            <a:avLst/>
          </a:prstGeom>
          <a:noFill/>
          <a:ln w="8890">
            <a:solidFill>
              <a:srgbClr val="E2EAF4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/>
          <p:nvPr/>
        </p:nvSpPr>
        <p:spPr>
          <a:xfrm>
            <a:off x="566928" y="6574536"/>
            <a:ext cx="658368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知序 KnowledgeHub  /  大数据管理课程项目</a:t>
            </a:r>
            <a:endParaRPr lang="en-US" sz="830" dirty="0"/>
          </a:p>
        </p:txBody>
      </p:sp>
      <p:sp>
        <p:nvSpPr>
          <p:cNvPr id="8" name="Text 6"/>
          <p:cNvSpPr/>
          <p:nvPr/>
        </p:nvSpPr>
        <p:spPr>
          <a:xfrm>
            <a:off x="11109960" y="6547104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66928" y="1783080"/>
            <a:ext cx="3602736" cy="4069080"/>
          </a:xfrm>
          <a:prstGeom prst="roundRect">
            <a:avLst>
              <a:gd name="adj" fmla="val 4315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0" name="Shape 8"/>
          <p:cNvSpPr/>
          <p:nvPr/>
        </p:nvSpPr>
        <p:spPr>
          <a:xfrm>
            <a:off x="566928" y="1783080"/>
            <a:ext cx="3602736" cy="118872"/>
          </a:xfrm>
          <a:prstGeom prst="rect">
            <a:avLst/>
          </a:prstGeom>
          <a:solidFill>
            <a:srgbClr val="526BEA"/>
          </a:solidFill>
          <a:ln w="12700">
            <a:solidFill>
              <a:srgbClr val="526BE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1" name="Shape 9"/>
          <p:cNvSpPr/>
          <p:nvPr/>
        </p:nvSpPr>
        <p:spPr>
          <a:xfrm>
            <a:off x="841248" y="2157984"/>
            <a:ext cx="667512" cy="667512"/>
          </a:xfrm>
          <a:prstGeom prst="ellipse">
            <a:avLst/>
          </a:prstGeom>
          <a:solidFill>
            <a:srgbClr val="526BEA"/>
          </a:solidFill>
          <a:ln w="12700">
            <a:solidFill>
              <a:srgbClr val="526BE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2" name="Text 10"/>
          <p:cNvSpPr/>
          <p:nvPr/>
        </p:nvSpPr>
        <p:spPr>
          <a:xfrm>
            <a:off x="841248" y="2313432"/>
            <a:ext cx="667512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41248" y="3063240"/>
            <a:ext cx="292608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B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课程学习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841248" y="3685032"/>
            <a:ext cx="233172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26BE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典型资料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41248" y="3959352"/>
            <a:ext cx="2971800" cy="60350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30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操作系统课件、课堂笔记、实验报告</a:t>
            </a:r>
            <a:endParaRPr lang="en-US" sz="1330" dirty="0"/>
          </a:p>
        </p:txBody>
      </p:sp>
      <p:sp>
        <p:nvSpPr>
          <p:cNvPr id="16" name="Shape 14"/>
          <p:cNvSpPr/>
          <p:nvPr/>
        </p:nvSpPr>
        <p:spPr>
          <a:xfrm>
            <a:off x="841248" y="4709160"/>
            <a:ext cx="3044952" cy="0"/>
          </a:xfrm>
          <a:prstGeom prst="line">
            <a:avLst/>
          </a:prstGeom>
          <a:noFill/>
          <a:ln w="12700">
            <a:solidFill>
              <a:srgbClr val="E2EAF4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7" name="Text 15"/>
          <p:cNvSpPr/>
          <p:nvPr/>
        </p:nvSpPr>
        <p:spPr>
          <a:xfrm>
            <a:off x="841248" y="4864608"/>
            <a:ext cx="182880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26BE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关键动作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41248" y="5120640"/>
            <a:ext cx="3017520" cy="493776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90" b="1" dirty="0">
                <a:solidFill>
                  <a:srgbClr val="1B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考前输入问题，定位笔记及课件原文</a:t>
            </a:r>
            <a:endParaRPr lang="en-US" sz="1290" dirty="0"/>
          </a:p>
        </p:txBody>
      </p:sp>
      <p:sp>
        <p:nvSpPr>
          <p:cNvPr id="19" name="Shape 17"/>
          <p:cNvSpPr/>
          <p:nvPr/>
        </p:nvSpPr>
        <p:spPr>
          <a:xfrm>
            <a:off x="4370832" y="1783080"/>
            <a:ext cx="3602736" cy="4069080"/>
          </a:xfrm>
          <a:prstGeom prst="roundRect">
            <a:avLst>
              <a:gd name="adj" fmla="val 4315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0" name="Shape 18"/>
          <p:cNvSpPr/>
          <p:nvPr/>
        </p:nvSpPr>
        <p:spPr>
          <a:xfrm>
            <a:off x="4370832" y="1783080"/>
            <a:ext cx="3602736" cy="118872"/>
          </a:xfrm>
          <a:prstGeom prst="rect">
            <a:avLst/>
          </a:prstGeom>
          <a:solidFill>
            <a:srgbClr val="8B71E8"/>
          </a:solidFill>
          <a:ln w="12700">
            <a:solidFill>
              <a:srgbClr val="8B71E8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1" name="Shape 19"/>
          <p:cNvSpPr/>
          <p:nvPr/>
        </p:nvSpPr>
        <p:spPr>
          <a:xfrm>
            <a:off x="4645152" y="2157984"/>
            <a:ext cx="667512" cy="667512"/>
          </a:xfrm>
          <a:prstGeom prst="ellipse">
            <a:avLst/>
          </a:prstGeom>
          <a:solidFill>
            <a:srgbClr val="8B71E8"/>
          </a:solidFill>
          <a:ln w="12700">
            <a:solidFill>
              <a:srgbClr val="8B71E8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2" name="Text 20"/>
          <p:cNvSpPr/>
          <p:nvPr/>
        </p:nvSpPr>
        <p:spPr>
          <a:xfrm>
            <a:off x="4645152" y="2313432"/>
            <a:ext cx="667512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4645152" y="3063240"/>
            <a:ext cx="292608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B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科研实践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4645152" y="3685032"/>
            <a:ext cx="233172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8B71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典型资料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645152" y="3959352"/>
            <a:ext cx="2971800" cy="60350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30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文献、项目说明、技术资料与过程记录</a:t>
            </a:r>
            <a:endParaRPr lang="en-US" sz="1330" dirty="0"/>
          </a:p>
        </p:txBody>
      </p:sp>
      <p:sp>
        <p:nvSpPr>
          <p:cNvPr id="26" name="Shape 24"/>
          <p:cNvSpPr/>
          <p:nvPr/>
        </p:nvSpPr>
        <p:spPr>
          <a:xfrm>
            <a:off x="4645152" y="4709160"/>
            <a:ext cx="3044952" cy="0"/>
          </a:xfrm>
          <a:prstGeom prst="line">
            <a:avLst/>
          </a:prstGeom>
          <a:noFill/>
          <a:ln w="12700">
            <a:solidFill>
              <a:srgbClr val="E2EAF4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/>
          <p:nvPr/>
        </p:nvSpPr>
        <p:spPr>
          <a:xfrm>
            <a:off x="4645152" y="4864608"/>
            <a:ext cx="182880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8B71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关键动作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645152" y="5120640"/>
            <a:ext cx="3017520" cy="493776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90" b="1" dirty="0">
                <a:solidFill>
                  <a:srgbClr val="1B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通过双向链接梳理研究脉络</a:t>
            </a:r>
            <a:endParaRPr lang="en-US" sz="1290" dirty="0"/>
          </a:p>
        </p:txBody>
      </p:sp>
      <p:sp>
        <p:nvSpPr>
          <p:cNvPr id="29" name="Shape 27"/>
          <p:cNvSpPr/>
          <p:nvPr/>
        </p:nvSpPr>
        <p:spPr>
          <a:xfrm>
            <a:off x="8174736" y="1783080"/>
            <a:ext cx="3602736" cy="4069080"/>
          </a:xfrm>
          <a:prstGeom prst="roundRect">
            <a:avLst>
              <a:gd name="adj" fmla="val 4315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0" name="Shape 28"/>
          <p:cNvSpPr/>
          <p:nvPr/>
        </p:nvSpPr>
        <p:spPr>
          <a:xfrm>
            <a:off x="8174736" y="1783080"/>
            <a:ext cx="3602736" cy="118872"/>
          </a:xfrm>
          <a:prstGeom prst="rect">
            <a:avLst/>
          </a:prstGeom>
          <a:solidFill>
            <a:srgbClr val="16AE9C"/>
          </a:solidFill>
          <a:ln w="12700">
            <a:solidFill>
              <a:srgbClr val="16AE9C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8449056" y="2157984"/>
            <a:ext cx="667512" cy="667512"/>
          </a:xfrm>
          <a:prstGeom prst="ellipse">
            <a:avLst/>
          </a:prstGeom>
          <a:solidFill>
            <a:srgbClr val="16AE9C"/>
          </a:solidFill>
          <a:ln w="12700">
            <a:solidFill>
              <a:srgbClr val="16AE9C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/>
          <p:nvPr/>
        </p:nvSpPr>
        <p:spPr>
          <a:xfrm>
            <a:off x="8449056" y="2313432"/>
            <a:ext cx="667512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</a:t>
            </a:r>
            <a:endParaRPr lang="en-US" sz="1900" dirty="0"/>
          </a:p>
        </p:txBody>
      </p:sp>
      <p:sp>
        <p:nvSpPr>
          <p:cNvPr id="33" name="Text 31"/>
          <p:cNvSpPr/>
          <p:nvPr/>
        </p:nvSpPr>
        <p:spPr>
          <a:xfrm>
            <a:off x="8449056" y="3063240"/>
            <a:ext cx="292608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B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日常生活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8449056" y="3685032"/>
            <a:ext cx="233172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16AE9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典型资料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449056" y="3959352"/>
            <a:ext cx="2971800" cy="60350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30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办事流程、收藏网页、经验与清单</a:t>
            </a:r>
            <a:endParaRPr lang="en-US" sz="1330" dirty="0"/>
          </a:p>
        </p:txBody>
      </p:sp>
      <p:sp>
        <p:nvSpPr>
          <p:cNvPr id="36" name="Shape 34"/>
          <p:cNvSpPr/>
          <p:nvPr/>
        </p:nvSpPr>
        <p:spPr>
          <a:xfrm>
            <a:off x="8449056" y="4709160"/>
            <a:ext cx="3044952" cy="0"/>
          </a:xfrm>
          <a:prstGeom prst="line">
            <a:avLst/>
          </a:prstGeom>
          <a:noFill/>
          <a:ln w="12700">
            <a:solidFill>
              <a:srgbClr val="E2EAF4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7" name="Text 35"/>
          <p:cNvSpPr/>
          <p:nvPr/>
        </p:nvSpPr>
        <p:spPr>
          <a:xfrm>
            <a:off x="8449056" y="4864608"/>
            <a:ext cx="182880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16AE9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关键动作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8449056" y="5120640"/>
            <a:ext cx="3017520" cy="493776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90" b="1" dirty="0">
                <a:solidFill>
                  <a:srgbClr val="1B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根据记忆片段快速检索资料</a:t>
            </a:r>
            <a:endParaRPr lang="en-US" sz="129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526BEA"/>
          </a:solidFill>
          <a:ln w="12700">
            <a:solidFill>
              <a:srgbClr val="526BE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/>
          <p:nvPr/>
        </p:nvSpPr>
        <p:spPr>
          <a:xfrm>
            <a:off x="548640" y="310896"/>
            <a:ext cx="731520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26BE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 / 典型用户场景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B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典型任务：复习“进程调度”时，系统如何工作？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16128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用一次完整的操作把用户价值与数据库作用连接起来。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6528816"/>
            <a:ext cx="11091672" cy="0"/>
          </a:xfrm>
          <a:prstGeom prst="line">
            <a:avLst/>
          </a:prstGeom>
          <a:noFill/>
          <a:ln w="8890">
            <a:solidFill>
              <a:srgbClr val="E2EAF4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/>
          <p:nvPr/>
        </p:nvSpPr>
        <p:spPr>
          <a:xfrm>
            <a:off x="566928" y="6574536"/>
            <a:ext cx="658368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知序 KnowledgeHub  /  大数据管理课程项目</a:t>
            </a:r>
            <a:endParaRPr lang="en-US" sz="830" dirty="0"/>
          </a:p>
        </p:txBody>
      </p:sp>
      <p:sp>
        <p:nvSpPr>
          <p:cNvPr id="8" name="Text 6"/>
          <p:cNvSpPr/>
          <p:nvPr/>
        </p:nvSpPr>
        <p:spPr>
          <a:xfrm>
            <a:off x="11109960" y="6547104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76072" y="2093976"/>
            <a:ext cx="1746504" cy="1444752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0" name="Shape 8"/>
          <p:cNvSpPr/>
          <p:nvPr/>
        </p:nvSpPr>
        <p:spPr>
          <a:xfrm>
            <a:off x="713232" y="2203704"/>
            <a:ext cx="420624" cy="283464"/>
          </a:xfrm>
          <a:prstGeom prst="roundRect">
            <a:avLst>
              <a:gd name="adj" fmla="val 41935"/>
            </a:avLst>
          </a:prstGeom>
          <a:solidFill>
            <a:srgbClr val="DCE5FF"/>
          </a:solidFill>
          <a:ln w="12700">
            <a:solidFill>
              <a:srgbClr val="DCE5FF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1" name="Text 9"/>
          <p:cNvSpPr/>
          <p:nvPr/>
        </p:nvSpPr>
        <p:spPr>
          <a:xfrm>
            <a:off x="786384" y="2217420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526BE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970" dirty="0"/>
          </a:p>
        </p:txBody>
      </p:sp>
      <p:sp>
        <p:nvSpPr>
          <p:cNvPr id="12" name="Text 10"/>
          <p:cNvSpPr/>
          <p:nvPr/>
        </p:nvSpPr>
        <p:spPr>
          <a:xfrm>
            <a:off x="704088" y="2606040"/>
            <a:ext cx="141732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B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4088" y="2980944"/>
            <a:ext cx="1490472" cy="393192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创建“操作系统”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322576" y="2825496"/>
            <a:ext cx="173736" cy="0"/>
          </a:xfrm>
          <a:prstGeom prst="line">
            <a:avLst/>
          </a:prstGeom>
          <a:noFill/>
          <a:ln w="25400">
            <a:solidFill>
              <a:srgbClr val="526BE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5" name="Shape 13"/>
          <p:cNvSpPr/>
          <p:nvPr/>
        </p:nvSpPr>
        <p:spPr>
          <a:xfrm>
            <a:off x="2505456" y="2093976"/>
            <a:ext cx="1746504" cy="1444752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6" name="Shape 14"/>
          <p:cNvSpPr/>
          <p:nvPr/>
        </p:nvSpPr>
        <p:spPr>
          <a:xfrm>
            <a:off x="2642616" y="2203704"/>
            <a:ext cx="420624" cy="283464"/>
          </a:xfrm>
          <a:prstGeom prst="roundRect">
            <a:avLst>
              <a:gd name="adj" fmla="val 41935"/>
            </a:avLst>
          </a:prstGeom>
          <a:solidFill>
            <a:srgbClr val="DCE5FF"/>
          </a:solidFill>
          <a:ln w="12700">
            <a:solidFill>
              <a:srgbClr val="DCE5FF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7" name="Text 15"/>
          <p:cNvSpPr/>
          <p:nvPr/>
        </p:nvSpPr>
        <p:spPr>
          <a:xfrm>
            <a:off x="2715768" y="2217420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526BE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970" dirty="0"/>
          </a:p>
        </p:txBody>
      </p:sp>
      <p:sp>
        <p:nvSpPr>
          <p:cNvPr id="18" name="Text 16"/>
          <p:cNvSpPr/>
          <p:nvPr/>
        </p:nvSpPr>
        <p:spPr>
          <a:xfrm>
            <a:off x="2633472" y="2606040"/>
            <a:ext cx="141732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B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上传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633472" y="2980944"/>
            <a:ext cx="1490472" cy="393192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课件 PDF / 实验报告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251960" y="2825496"/>
            <a:ext cx="173736" cy="0"/>
          </a:xfrm>
          <a:prstGeom prst="line">
            <a:avLst/>
          </a:prstGeom>
          <a:noFill/>
          <a:ln w="25400">
            <a:solidFill>
              <a:srgbClr val="526BE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1" name="Shape 19"/>
          <p:cNvSpPr/>
          <p:nvPr/>
        </p:nvSpPr>
        <p:spPr>
          <a:xfrm>
            <a:off x="4434840" y="2093976"/>
            <a:ext cx="1746504" cy="1444752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2" name="Shape 20"/>
          <p:cNvSpPr/>
          <p:nvPr/>
        </p:nvSpPr>
        <p:spPr>
          <a:xfrm>
            <a:off x="4572000" y="2203704"/>
            <a:ext cx="420624" cy="283464"/>
          </a:xfrm>
          <a:prstGeom prst="roundRect">
            <a:avLst>
              <a:gd name="adj" fmla="val 41935"/>
            </a:avLst>
          </a:prstGeom>
          <a:solidFill>
            <a:srgbClr val="DCE5FF"/>
          </a:solidFill>
          <a:ln w="12700">
            <a:solidFill>
              <a:srgbClr val="DCE5FF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3" name="Text 21"/>
          <p:cNvSpPr/>
          <p:nvPr/>
        </p:nvSpPr>
        <p:spPr>
          <a:xfrm>
            <a:off x="4645152" y="2217420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526BE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970" dirty="0"/>
          </a:p>
        </p:txBody>
      </p:sp>
      <p:sp>
        <p:nvSpPr>
          <p:cNvPr id="24" name="Text 22"/>
          <p:cNvSpPr/>
          <p:nvPr/>
        </p:nvSpPr>
        <p:spPr>
          <a:xfrm>
            <a:off x="4562856" y="2606040"/>
            <a:ext cx="141732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B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解析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562856" y="2980944"/>
            <a:ext cx="1490472" cy="393192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异步提取正文与页码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181344" y="2825496"/>
            <a:ext cx="173736" cy="0"/>
          </a:xfrm>
          <a:prstGeom prst="line">
            <a:avLst/>
          </a:prstGeom>
          <a:noFill/>
          <a:ln w="25400">
            <a:solidFill>
              <a:srgbClr val="526BE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Shape 25"/>
          <p:cNvSpPr/>
          <p:nvPr/>
        </p:nvSpPr>
        <p:spPr>
          <a:xfrm>
            <a:off x="6364224" y="2093976"/>
            <a:ext cx="1746504" cy="1444752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8" name="Shape 26"/>
          <p:cNvSpPr/>
          <p:nvPr/>
        </p:nvSpPr>
        <p:spPr>
          <a:xfrm>
            <a:off x="6501384" y="2203704"/>
            <a:ext cx="420624" cy="283464"/>
          </a:xfrm>
          <a:prstGeom prst="roundRect">
            <a:avLst>
              <a:gd name="adj" fmla="val 41935"/>
            </a:avLst>
          </a:prstGeom>
          <a:solidFill>
            <a:srgbClr val="DCE5FF"/>
          </a:solidFill>
          <a:ln w="12700">
            <a:solidFill>
              <a:srgbClr val="DCE5FF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9" name="Text 27"/>
          <p:cNvSpPr/>
          <p:nvPr/>
        </p:nvSpPr>
        <p:spPr>
          <a:xfrm>
            <a:off x="6574536" y="2217420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526BE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970" dirty="0"/>
          </a:p>
        </p:txBody>
      </p:sp>
      <p:sp>
        <p:nvSpPr>
          <p:cNvPr id="30" name="Text 28"/>
          <p:cNvSpPr/>
          <p:nvPr/>
        </p:nvSpPr>
        <p:spPr>
          <a:xfrm>
            <a:off x="6492240" y="2606040"/>
            <a:ext cx="141732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B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关联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92240" y="2980944"/>
            <a:ext cx="1490472" cy="393192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[[进程调度]] 双向链接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110728" y="2825496"/>
            <a:ext cx="173736" cy="0"/>
          </a:xfrm>
          <a:prstGeom prst="line">
            <a:avLst/>
          </a:prstGeom>
          <a:noFill/>
          <a:ln w="25400">
            <a:solidFill>
              <a:srgbClr val="526BE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3" name="Shape 31"/>
          <p:cNvSpPr/>
          <p:nvPr/>
        </p:nvSpPr>
        <p:spPr>
          <a:xfrm>
            <a:off x="8293608" y="2093976"/>
            <a:ext cx="1746504" cy="1444752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4" name="Shape 32"/>
          <p:cNvSpPr/>
          <p:nvPr/>
        </p:nvSpPr>
        <p:spPr>
          <a:xfrm>
            <a:off x="8430768" y="2203704"/>
            <a:ext cx="420624" cy="283464"/>
          </a:xfrm>
          <a:prstGeom prst="roundRect">
            <a:avLst>
              <a:gd name="adj" fmla="val 41935"/>
            </a:avLst>
          </a:prstGeom>
          <a:solidFill>
            <a:srgbClr val="DCE5FF"/>
          </a:solidFill>
          <a:ln w="12700">
            <a:solidFill>
              <a:srgbClr val="DCE5FF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5" name="Text 33"/>
          <p:cNvSpPr/>
          <p:nvPr/>
        </p:nvSpPr>
        <p:spPr>
          <a:xfrm>
            <a:off x="8503920" y="2217420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526BE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970" dirty="0"/>
          </a:p>
        </p:txBody>
      </p:sp>
      <p:sp>
        <p:nvSpPr>
          <p:cNvPr id="36" name="Text 34"/>
          <p:cNvSpPr/>
          <p:nvPr/>
        </p:nvSpPr>
        <p:spPr>
          <a:xfrm>
            <a:off x="8421624" y="2606040"/>
            <a:ext cx="141732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B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检索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421624" y="2980944"/>
            <a:ext cx="1490472" cy="393192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自然语言查询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10040112" y="2825496"/>
            <a:ext cx="173736" cy="0"/>
          </a:xfrm>
          <a:prstGeom prst="line">
            <a:avLst/>
          </a:prstGeom>
          <a:noFill/>
          <a:ln w="25400">
            <a:solidFill>
              <a:srgbClr val="526BE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9" name="Shape 37"/>
          <p:cNvSpPr/>
          <p:nvPr/>
        </p:nvSpPr>
        <p:spPr>
          <a:xfrm>
            <a:off x="10222992" y="2093976"/>
            <a:ext cx="1746504" cy="1444752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0" name="Shape 38"/>
          <p:cNvSpPr/>
          <p:nvPr/>
        </p:nvSpPr>
        <p:spPr>
          <a:xfrm>
            <a:off x="10360152" y="2203704"/>
            <a:ext cx="420624" cy="283464"/>
          </a:xfrm>
          <a:prstGeom prst="roundRect">
            <a:avLst>
              <a:gd name="adj" fmla="val 41935"/>
            </a:avLst>
          </a:prstGeom>
          <a:solidFill>
            <a:srgbClr val="D9F6F0"/>
          </a:solidFill>
          <a:ln w="12700">
            <a:solidFill>
              <a:srgbClr val="D9F6F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1" name="Text 39"/>
          <p:cNvSpPr/>
          <p:nvPr/>
        </p:nvSpPr>
        <p:spPr>
          <a:xfrm>
            <a:off x="10433304" y="2217420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16AE9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</a:t>
            </a:r>
            <a:endParaRPr lang="en-US" sz="970" dirty="0"/>
          </a:p>
        </p:txBody>
      </p:sp>
      <p:sp>
        <p:nvSpPr>
          <p:cNvPr id="42" name="Text 40"/>
          <p:cNvSpPr/>
          <p:nvPr/>
        </p:nvSpPr>
        <p:spPr>
          <a:xfrm>
            <a:off x="10351008" y="2606040"/>
            <a:ext cx="141732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B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复用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0351008" y="2980944"/>
            <a:ext cx="1490472" cy="393192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定位原文 / 回答引用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85216" y="4087368"/>
            <a:ext cx="11000232" cy="1389888"/>
          </a:xfrm>
          <a:prstGeom prst="roundRect">
            <a:avLst>
              <a:gd name="adj" fmla="val 11184"/>
            </a:avLst>
          </a:prstGeom>
          <a:solidFill>
            <a:srgbClr val="0C1428"/>
          </a:solidFill>
          <a:ln w="12700">
            <a:solidFill>
              <a:srgbClr val="0C1428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5" name="Text 43"/>
          <p:cNvSpPr/>
          <p:nvPr/>
        </p:nvSpPr>
        <p:spPr>
          <a:xfrm>
            <a:off x="832104" y="4325112"/>
            <a:ext cx="219456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背后的数据路径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3063240" y="4334256"/>
            <a:ext cx="1901952" cy="832104"/>
          </a:xfrm>
          <a:prstGeom prst="roundRect">
            <a:avLst>
              <a:gd name="adj" fmla="val 14286"/>
            </a:avLst>
          </a:prstGeom>
          <a:solidFill>
            <a:srgbClr val="203254"/>
          </a:solidFill>
          <a:ln w="12700">
            <a:solidFill>
              <a:srgbClr val="405372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7" name="Shape 45"/>
          <p:cNvSpPr/>
          <p:nvPr/>
        </p:nvSpPr>
        <p:spPr>
          <a:xfrm>
            <a:off x="3063240" y="4334256"/>
            <a:ext cx="64008" cy="832104"/>
          </a:xfrm>
          <a:prstGeom prst="rect">
            <a:avLst/>
          </a:prstGeom>
          <a:solidFill>
            <a:srgbClr val="526BEA"/>
          </a:solidFill>
          <a:ln w="12700">
            <a:solidFill>
              <a:srgbClr val="526BE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8" name="Text 46"/>
          <p:cNvSpPr/>
          <p:nvPr/>
        </p:nvSpPr>
        <p:spPr>
          <a:xfrm>
            <a:off x="3200400" y="4425696"/>
            <a:ext cx="1709928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MongoDB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3200400" y="4736592"/>
            <a:ext cx="1728216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FBFD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存原文与元数据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5129784" y="4334256"/>
            <a:ext cx="1901952" cy="832104"/>
          </a:xfrm>
          <a:prstGeom prst="roundRect">
            <a:avLst>
              <a:gd name="adj" fmla="val 14286"/>
            </a:avLst>
          </a:prstGeom>
          <a:solidFill>
            <a:srgbClr val="203254"/>
          </a:solidFill>
          <a:ln w="12700">
            <a:solidFill>
              <a:srgbClr val="405372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1" name="Shape 49"/>
          <p:cNvSpPr/>
          <p:nvPr/>
        </p:nvSpPr>
        <p:spPr>
          <a:xfrm>
            <a:off x="5129784" y="4334256"/>
            <a:ext cx="64008" cy="832104"/>
          </a:xfrm>
          <a:prstGeom prst="rect">
            <a:avLst/>
          </a:prstGeom>
          <a:solidFill>
            <a:srgbClr val="16AE9C"/>
          </a:solidFill>
          <a:ln w="12700">
            <a:solidFill>
              <a:srgbClr val="16AE9C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2" name="Text 50"/>
          <p:cNvSpPr/>
          <p:nvPr/>
        </p:nvSpPr>
        <p:spPr>
          <a:xfrm>
            <a:off x="5266944" y="4425696"/>
            <a:ext cx="1709928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Redis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5266944" y="4736592"/>
            <a:ext cx="1728216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FBFD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任务与缓存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7196328" y="4334256"/>
            <a:ext cx="1901952" cy="832104"/>
          </a:xfrm>
          <a:prstGeom prst="roundRect">
            <a:avLst>
              <a:gd name="adj" fmla="val 14286"/>
            </a:avLst>
          </a:prstGeom>
          <a:solidFill>
            <a:srgbClr val="203254"/>
          </a:solidFill>
          <a:ln w="12700">
            <a:solidFill>
              <a:srgbClr val="405372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5" name="Shape 53"/>
          <p:cNvSpPr/>
          <p:nvPr/>
        </p:nvSpPr>
        <p:spPr>
          <a:xfrm>
            <a:off x="7196328" y="4334256"/>
            <a:ext cx="64008" cy="832104"/>
          </a:xfrm>
          <a:prstGeom prst="rect">
            <a:avLst/>
          </a:prstGeom>
          <a:solidFill>
            <a:srgbClr val="8B71E8"/>
          </a:solidFill>
          <a:ln w="12700">
            <a:solidFill>
              <a:srgbClr val="8B71E8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6" name="Text 54"/>
          <p:cNvSpPr/>
          <p:nvPr/>
        </p:nvSpPr>
        <p:spPr>
          <a:xfrm>
            <a:off x="7333488" y="4425696"/>
            <a:ext cx="1709928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Neo4j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7333488" y="4736592"/>
            <a:ext cx="1728216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FBFD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关联关系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9262872" y="4334256"/>
            <a:ext cx="1901952" cy="832104"/>
          </a:xfrm>
          <a:prstGeom prst="roundRect">
            <a:avLst>
              <a:gd name="adj" fmla="val 14286"/>
            </a:avLst>
          </a:prstGeom>
          <a:solidFill>
            <a:srgbClr val="203254"/>
          </a:solidFill>
          <a:ln w="12700">
            <a:solidFill>
              <a:srgbClr val="405372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9" name="Shape 57"/>
          <p:cNvSpPr/>
          <p:nvPr/>
        </p:nvSpPr>
        <p:spPr>
          <a:xfrm>
            <a:off x="9262872" y="4334256"/>
            <a:ext cx="64008" cy="832104"/>
          </a:xfrm>
          <a:prstGeom prst="rect">
            <a:avLst/>
          </a:prstGeom>
          <a:solidFill>
            <a:srgbClr val="EFA942"/>
          </a:solidFill>
          <a:ln w="12700">
            <a:solidFill>
              <a:srgbClr val="EFA942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60" name="Text 58"/>
          <p:cNvSpPr/>
          <p:nvPr/>
        </p:nvSpPr>
        <p:spPr>
          <a:xfrm>
            <a:off x="9400032" y="4425696"/>
            <a:ext cx="1709928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Milvus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9400032" y="4736592"/>
            <a:ext cx="1728216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FBFD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向量相似检索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526BEA"/>
          </a:solidFill>
          <a:ln w="12700">
            <a:solidFill>
              <a:srgbClr val="526BE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/>
          <p:nvPr/>
        </p:nvSpPr>
        <p:spPr>
          <a:xfrm>
            <a:off x="548640" y="310896"/>
            <a:ext cx="731520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26BE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 / 主要业务功能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B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六大功能模块，形成完整个人知识工作流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16128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前三类解决内容产生与组织，后三类解决内容关联与复用。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6528816"/>
            <a:ext cx="11091672" cy="0"/>
          </a:xfrm>
          <a:prstGeom prst="line">
            <a:avLst/>
          </a:prstGeom>
          <a:noFill/>
          <a:ln w="8890">
            <a:solidFill>
              <a:srgbClr val="E2EAF4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/>
          <p:nvPr/>
        </p:nvSpPr>
        <p:spPr>
          <a:xfrm>
            <a:off x="566928" y="6574536"/>
            <a:ext cx="658368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知序 KnowledgeHub  /  大数据管理课程项目</a:t>
            </a:r>
            <a:endParaRPr lang="en-US" sz="830" dirty="0"/>
          </a:p>
        </p:txBody>
      </p:sp>
      <p:sp>
        <p:nvSpPr>
          <p:cNvPr id="8" name="Text 6"/>
          <p:cNvSpPr/>
          <p:nvPr/>
        </p:nvSpPr>
        <p:spPr>
          <a:xfrm>
            <a:off x="11109960" y="6547104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76072" y="1746504"/>
            <a:ext cx="3602736" cy="1709928"/>
          </a:xfrm>
          <a:prstGeom prst="roundRect">
            <a:avLst>
              <a:gd name="adj" fmla="val 8021"/>
            </a:avLst>
          </a:prstGeom>
          <a:solidFill>
            <a:srgbClr val="FFFFFF"/>
          </a:solidFill>
          <a:ln w="8890">
            <a:solidFill>
              <a:srgbClr val="E2EAF4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0" name="Shape 8"/>
          <p:cNvSpPr/>
          <p:nvPr/>
        </p:nvSpPr>
        <p:spPr>
          <a:xfrm>
            <a:off x="758952" y="1929384"/>
            <a:ext cx="374904" cy="338328"/>
          </a:xfrm>
          <a:prstGeom prst="roundRect">
            <a:avLst>
              <a:gd name="adj" fmla="val 27027"/>
            </a:avLst>
          </a:prstGeom>
          <a:solidFill>
            <a:srgbClr val="526BEA"/>
          </a:solidFill>
          <a:ln w="12700">
            <a:solidFill>
              <a:srgbClr val="526BE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1" name="Text 9"/>
          <p:cNvSpPr/>
          <p:nvPr/>
        </p:nvSpPr>
        <p:spPr>
          <a:xfrm>
            <a:off x="758952" y="1938528"/>
            <a:ext cx="374904" cy="3017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71016" y="1901952"/>
            <a:ext cx="2770632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b="1" dirty="0">
                <a:solidFill>
                  <a:srgbClr val="1B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知识库管理</a:t>
            </a:r>
            <a:endParaRPr lang="en-US" sz="1520" dirty="0"/>
          </a:p>
        </p:txBody>
      </p:sp>
      <p:sp>
        <p:nvSpPr>
          <p:cNvPr id="13" name="Text 11"/>
          <p:cNvSpPr/>
          <p:nvPr/>
        </p:nvSpPr>
        <p:spPr>
          <a:xfrm>
            <a:off x="804672" y="2478024"/>
            <a:ext cx="3145536" cy="877824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课程 / 科研 / 生活分类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标签、筛选、权限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70832" y="1746504"/>
            <a:ext cx="3602736" cy="1709928"/>
          </a:xfrm>
          <a:prstGeom prst="roundRect">
            <a:avLst>
              <a:gd name="adj" fmla="val 8021"/>
            </a:avLst>
          </a:prstGeom>
          <a:solidFill>
            <a:srgbClr val="FFFFFF"/>
          </a:solidFill>
          <a:ln w="8890">
            <a:solidFill>
              <a:srgbClr val="E2EAF4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5" name="Shape 13"/>
          <p:cNvSpPr/>
          <p:nvPr/>
        </p:nvSpPr>
        <p:spPr>
          <a:xfrm>
            <a:off x="4553712" y="1929384"/>
            <a:ext cx="374904" cy="338328"/>
          </a:xfrm>
          <a:prstGeom prst="roundRect">
            <a:avLst>
              <a:gd name="adj" fmla="val 27027"/>
            </a:avLst>
          </a:prstGeom>
          <a:solidFill>
            <a:srgbClr val="16AE9C"/>
          </a:solidFill>
          <a:ln w="12700">
            <a:solidFill>
              <a:srgbClr val="16AE9C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6" name="Text 14"/>
          <p:cNvSpPr/>
          <p:nvPr/>
        </p:nvSpPr>
        <p:spPr>
          <a:xfrm>
            <a:off x="4553712" y="1938528"/>
            <a:ext cx="374904" cy="3017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65776" y="1901952"/>
            <a:ext cx="2770632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b="1" dirty="0">
                <a:solidFill>
                  <a:srgbClr val="1B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Markdown 笔记</a:t>
            </a:r>
            <a:endParaRPr lang="en-US" sz="1520" dirty="0"/>
          </a:p>
        </p:txBody>
      </p:sp>
      <p:sp>
        <p:nvSpPr>
          <p:cNvPr id="18" name="Text 16"/>
          <p:cNvSpPr/>
          <p:nvPr/>
        </p:nvSpPr>
        <p:spPr>
          <a:xfrm>
            <a:off x="4599432" y="2478024"/>
            <a:ext cx="3145536" cy="877824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编辑、自动保存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版本记录、双向链接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65592" y="1746504"/>
            <a:ext cx="3602736" cy="1709928"/>
          </a:xfrm>
          <a:prstGeom prst="roundRect">
            <a:avLst>
              <a:gd name="adj" fmla="val 8021"/>
            </a:avLst>
          </a:prstGeom>
          <a:solidFill>
            <a:srgbClr val="FFFFFF"/>
          </a:solidFill>
          <a:ln w="8890">
            <a:solidFill>
              <a:srgbClr val="E2EAF4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0" name="Shape 18"/>
          <p:cNvSpPr/>
          <p:nvPr/>
        </p:nvSpPr>
        <p:spPr>
          <a:xfrm>
            <a:off x="8348472" y="1929384"/>
            <a:ext cx="374904" cy="338328"/>
          </a:xfrm>
          <a:prstGeom prst="roundRect">
            <a:avLst>
              <a:gd name="adj" fmla="val 27027"/>
            </a:avLst>
          </a:prstGeom>
          <a:solidFill>
            <a:srgbClr val="8B71E8"/>
          </a:solidFill>
          <a:ln w="12700">
            <a:solidFill>
              <a:srgbClr val="8B71E8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1" name="Text 19"/>
          <p:cNvSpPr/>
          <p:nvPr/>
        </p:nvSpPr>
        <p:spPr>
          <a:xfrm>
            <a:off x="8348472" y="1938528"/>
            <a:ext cx="374904" cy="3017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860536" y="1901952"/>
            <a:ext cx="2770632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b="1" dirty="0">
                <a:solidFill>
                  <a:srgbClr val="1B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多格式资料</a:t>
            </a:r>
            <a:endParaRPr lang="en-US" sz="1520" dirty="0"/>
          </a:p>
        </p:txBody>
      </p:sp>
      <p:sp>
        <p:nvSpPr>
          <p:cNvPr id="23" name="Text 21"/>
          <p:cNvSpPr/>
          <p:nvPr/>
        </p:nvSpPr>
        <p:spPr>
          <a:xfrm>
            <a:off x="8394192" y="2478024"/>
            <a:ext cx="3145536" cy="877824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PDF / DOCX / TXT / MD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上传、解析、状态追踪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76072" y="3694176"/>
            <a:ext cx="3602736" cy="1709928"/>
          </a:xfrm>
          <a:prstGeom prst="roundRect">
            <a:avLst>
              <a:gd name="adj" fmla="val 8021"/>
            </a:avLst>
          </a:prstGeom>
          <a:solidFill>
            <a:srgbClr val="FFFFFF"/>
          </a:solidFill>
          <a:ln w="8890">
            <a:solidFill>
              <a:srgbClr val="E2EAF4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5" name="Shape 23"/>
          <p:cNvSpPr/>
          <p:nvPr/>
        </p:nvSpPr>
        <p:spPr>
          <a:xfrm>
            <a:off x="758952" y="3877056"/>
            <a:ext cx="374904" cy="338328"/>
          </a:xfrm>
          <a:prstGeom prst="roundRect">
            <a:avLst>
              <a:gd name="adj" fmla="val 27027"/>
            </a:avLst>
          </a:prstGeom>
          <a:solidFill>
            <a:srgbClr val="8B71E8"/>
          </a:solidFill>
          <a:ln w="12700">
            <a:solidFill>
              <a:srgbClr val="8B71E8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Text 24"/>
          <p:cNvSpPr/>
          <p:nvPr/>
        </p:nvSpPr>
        <p:spPr>
          <a:xfrm>
            <a:off x="758952" y="3886200"/>
            <a:ext cx="374904" cy="3017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271016" y="3849624"/>
            <a:ext cx="2770632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b="1" dirty="0">
                <a:solidFill>
                  <a:srgbClr val="1B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知识图谱</a:t>
            </a:r>
            <a:endParaRPr lang="en-US" sz="1520" dirty="0"/>
          </a:p>
        </p:txBody>
      </p:sp>
      <p:sp>
        <p:nvSpPr>
          <p:cNvPr id="28" name="Text 26"/>
          <p:cNvSpPr/>
          <p:nvPr/>
        </p:nvSpPr>
        <p:spPr>
          <a:xfrm>
            <a:off x="804672" y="4425696"/>
            <a:ext cx="3145536" cy="877824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反向链接、邻居查询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关系网络可视化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370832" y="3694176"/>
            <a:ext cx="3602736" cy="1709928"/>
          </a:xfrm>
          <a:prstGeom prst="roundRect">
            <a:avLst>
              <a:gd name="adj" fmla="val 8021"/>
            </a:avLst>
          </a:prstGeom>
          <a:solidFill>
            <a:srgbClr val="FFFFFF"/>
          </a:solidFill>
          <a:ln w="8890">
            <a:solidFill>
              <a:srgbClr val="E2EAF4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0" name="Shape 28"/>
          <p:cNvSpPr/>
          <p:nvPr/>
        </p:nvSpPr>
        <p:spPr>
          <a:xfrm>
            <a:off x="4553712" y="3877056"/>
            <a:ext cx="374904" cy="338328"/>
          </a:xfrm>
          <a:prstGeom prst="roundRect">
            <a:avLst>
              <a:gd name="adj" fmla="val 27027"/>
            </a:avLst>
          </a:prstGeom>
          <a:solidFill>
            <a:srgbClr val="526BEA"/>
          </a:solidFill>
          <a:ln w="12700">
            <a:solidFill>
              <a:srgbClr val="526BE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Text 29"/>
          <p:cNvSpPr/>
          <p:nvPr/>
        </p:nvSpPr>
        <p:spPr>
          <a:xfrm>
            <a:off x="4553712" y="3886200"/>
            <a:ext cx="374904" cy="3017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65776" y="3849624"/>
            <a:ext cx="2770632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b="1" dirty="0">
                <a:solidFill>
                  <a:srgbClr val="1B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统一检索</a:t>
            </a:r>
            <a:endParaRPr lang="en-US" sz="1520" dirty="0"/>
          </a:p>
        </p:txBody>
      </p:sp>
      <p:sp>
        <p:nvSpPr>
          <p:cNvPr id="33" name="Text 31"/>
          <p:cNvSpPr/>
          <p:nvPr/>
        </p:nvSpPr>
        <p:spPr>
          <a:xfrm>
            <a:off x="4599432" y="4425696"/>
            <a:ext cx="3145536" cy="877824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标题标签检索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向量检索及来源定位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165592" y="3694176"/>
            <a:ext cx="3602736" cy="1709928"/>
          </a:xfrm>
          <a:prstGeom prst="roundRect">
            <a:avLst>
              <a:gd name="adj" fmla="val 8021"/>
            </a:avLst>
          </a:prstGeom>
          <a:solidFill>
            <a:srgbClr val="FFFFFF"/>
          </a:solidFill>
          <a:ln w="8890">
            <a:solidFill>
              <a:srgbClr val="E2EAF4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5" name="Shape 33"/>
          <p:cNvSpPr/>
          <p:nvPr/>
        </p:nvSpPr>
        <p:spPr>
          <a:xfrm>
            <a:off x="8348472" y="3877056"/>
            <a:ext cx="374904" cy="338328"/>
          </a:xfrm>
          <a:prstGeom prst="roundRect">
            <a:avLst>
              <a:gd name="adj" fmla="val 27027"/>
            </a:avLst>
          </a:prstGeom>
          <a:solidFill>
            <a:srgbClr val="16AE9C"/>
          </a:solidFill>
          <a:ln w="12700">
            <a:solidFill>
              <a:srgbClr val="16AE9C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6" name="Text 34"/>
          <p:cNvSpPr/>
          <p:nvPr/>
        </p:nvSpPr>
        <p:spPr>
          <a:xfrm>
            <a:off x="8348472" y="3886200"/>
            <a:ext cx="374904" cy="3017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860536" y="3849624"/>
            <a:ext cx="2770632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b="1" dirty="0">
                <a:solidFill>
                  <a:srgbClr val="1B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知识问答</a:t>
            </a:r>
            <a:endParaRPr lang="en-US" sz="1520" dirty="0"/>
          </a:p>
        </p:txBody>
      </p:sp>
      <p:sp>
        <p:nvSpPr>
          <p:cNvPr id="38" name="Text 36"/>
          <p:cNvSpPr/>
          <p:nvPr/>
        </p:nvSpPr>
        <p:spPr>
          <a:xfrm>
            <a:off x="8394192" y="4425696"/>
            <a:ext cx="3145536" cy="877824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检索增强生成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带原文依据的回答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585216" y="5934456"/>
            <a:ext cx="2221992" cy="283464"/>
          </a:xfrm>
          <a:prstGeom prst="roundRect">
            <a:avLst>
              <a:gd name="adj" fmla="val 41935"/>
            </a:avLst>
          </a:prstGeom>
          <a:solidFill>
            <a:srgbClr val="DCE5FF"/>
          </a:solidFill>
          <a:ln w="12700">
            <a:solidFill>
              <a:srgbClr val="DCE5FF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0" name="Text 38"/>
          <p:cNvSpPr/>
          <p:nvPr/>
        </p:nvSpPr>
        <p:spPr>
          <a:xfrm>
            <a:off x="658368" y="5948172"/>
            <a:ext cx="207568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526BE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P0 核心交付：01—05</a:t>
            </a:r>
            <a:endParaRPr lang="en-US" sz="1030" dirty="0"/>
          </a:p>
        </p:txBody>
      </p:sp>
      <p:sp>
        <p:nvSpPr>
          <p:cNvPr id="41" name="Shape 39"/>
          <p:cNvSpPr/>
          <p:nvPr/>
        </p:nvSpPr>
        <p:spPr>
          <a:xfrm>
            <a:off x="2999232" y="5934456"/>
            <a:ext cx="2450592" cy="283464"/>
          </a:xfrm>
          <a:prstGeom prst="roundRect">
            <a:avLst>
              <a:gd name="adj" fmla="val 41935"/>
            </a:avLst>
          </a:prstGeom>
          <a:solidFill>
            <a:srgbClr val="D9F6F0"/>
          </a:solidFill>
          <a:ln w="12700">
            <a:solidFill>
              <a:srgbClr val="D9F6F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2" name="Text 40"/>
          <p:cNvSpPr/>
          <p:nvPr/>
        </p:nvSpPr>
        <p:spPr>
          <a:xfrm>
            <a:off x="3072384" y="5948172"/>
            <a:ext cx="230428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16AE9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P1 可选增强：AI 问答</a:t>
            </a:r>
            <a:endParaRPr lang="en-US" sz="103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526BEA"/>
          </a:solidFill>
          <a:ln w="12700">
            <a:solidFill>
              <a:srgbClr val="526BE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/>
          <p:nvPr/>
        </p:nvSpPr>
        <p:spPr>
          <a:xfrm>
            <a:off x="548640" y="310896"/>
            <a:ext cx="731520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26BE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 / 主要业务功能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B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交互界面构想：三栏知识工作台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16128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左侧知识组织 / 中间编辑与阅读 / 右侧关联笔记与知识图谱入口。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6528816"/>
            <a:ext cx="11091672" cy="0"/>
          </a:xfrm>
          <a:prstGeom prst="line">
            <a:avLst/>
          </a:prstGeom>
          <a:noFill/>
          <a:ln w="8890">
            <a:solidFill>
              <a:srgbClr val="E2EAF4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/>
          <p:nvPr/>
        </p:nvSpPr>
        <p:spPr>
          <a:xfrm>
            <a:off x="566928" y="6574536"/>
            <a:ext cx="658368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知序 KnowledgeHub  /  大数据管理课程项目</a:t>
            </a:r>
            <a:endParaRPr lang="en-US" sz="830" dirty="0"/>
          </a:p>
        </p:txBody>
      </p:sp>
      <p:sp>
        <p:nvSpPr>
          <p:cNvPr id="8" name="Text 6"/>
          <p:cNvSpPr/>
          <p:nvPr/>
        </p:nvSpPr>
        <p:spPr>
          <a:xfrm>
            <a:off x="11109960" y="6547104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76072" y="1682496"/>
            <a:ext cx="11009376" cy="4334256"/>
          </a:xfrm>
          <a:prstGeom prst="roundRect">
            <a:avLst>
              <a:gd name="adj" fmla="val 2954"/>
            </a:avLst>
          </a:prstGeom>
          <a:solidFill>
            <a:srgbClr val="FFFFFF"/>
          </a:solidFill>
          <a:ln w="12700">
            <a:solidFill>
              <a:srgbClr val="CFD9E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0" name="Shape 8"/>
          <p:cNvSpPr/>
          <p:nvPr/>
        </p:nvSpPr>
        <p:spPr>
          <a:xfrm>
            <a:off x="576072" y="1682496"/>
            <a:ext cx="11009376" cy="438912"/>
          </a:xfrm>
          <a:prstGeom prst="rect">
            <a:avLst/>
          </a:prstGeom>
          <a:solidFill>
            <a:srgbClr val="0C1428"/>
          </a:solidFill>
          <a:ln w="12700">
            <a:solidFill>
              <a:srgbClr val="0C1428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1" name="Shape 9"/>
          <p:cNvSpPr/>
          <p:nvPr/>
        </p:nvSpPr>
        <p:spPr>
          <a:xfrm>
            <a:off x="795528" y="1847088"/>
            <a:ext cx="91440" cy="91440"/>
          </a:xfrm>
          <a:prstGeom prst="ellipse">
            <a:avLst/>
          </a:prstGeom>
          <a:solidFill>
            <a:srgbClr val="EF7774"/>
          </a:solidFill>
          <a:ln w="12700">
            <a:solidFill>
              <a:srgbClr val="EF7774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2" name="Shape 10"/>
          <p:cNvSpPr/>
          <p:nvPr/>
        </p:nvSpPr>
        <p:spPr>
          <a:xfrm>
            <a:off x="978408" y="1847088"/>
            <a:ext cx="91440" cy="91440"/>
          </a:xfrm>
          <a:prstGeom prst="ellipse">
            <a:avLst/>
          </a:prstGeom>
          <a:solidFill>
            <a:srgbClr val="FFC46A"/>
          </a:solidFill>
          <a:ln w="12700">
            <a:solidFill>
              <a:srgbClr val="FFC46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3" name="Shape 11"/>
          <p:cNvSpPr/>
          <p:nvPr/>
        </p:nvSpPr>
        <p:spPr>
          <a:xfrm>
            <a:off x="1161288" y="1847088"/>
            <a:ext cx="91440" cy="91440"/>
          </a:xfrm>
          <a:prstGeom prst="ellipse">
            <a:avLst/>
          </a:prstGeom>
          <a:solidFill>
            <a:srgbClr val="57CBA5"/>
          </a:solidFill>
          <a:ln w="12700">
            <a:solidFill>
              <a:srgbClr val="57CBA5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4" name="Text 12"/>
          <p:cNvSpPr/>
          <p:nvPr/>
        </p:nvSpPr>
        <p:spPr>
          <a:xfrm>
            <a:off x="1472184" y="1810512"/>
            <a:ext cx="192024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KnowledgeHub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616952" y="1773936"/>
            <a:ext cx="2240280" cy="283464"/>
          </a:xfrm>
          <a:prstGeom prst="roundRect">
            <a:avLst>
              <a:gd name="adj" fmla="val 41935"/>
            </a:avLst>
          </a:prstGeom>
          <a:solidFill>
            <a:srgbClr val="263858"/>
          </a:solidFill>
          <a:ln w="12700">
            <a:solidFill>
              <a:srgbClr val="263858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6" name="Text 14"/>
          <p:cNvSpPr/>
          <p:nvPr/>
        </p:nvSpPr>
        <p:spPr>
          <a:xfrm>
            <a:off x="7690104" y="1787652"/>
            <a:ext cx="2093976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5D2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搜索我的知识...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222992" y="1819656"/>
            <a:ext cx="1033272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E0E9F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⦿ 个人空间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585216" y="2130552"/>
            <a:ext cx="2139696" cy="3867912"/>
          </a:xfrm>
          <a:prstGeom prst="rect">
            <a:avLst/>
          </a:prstGeom>
          <a:solidFill>
            <a:srgbClr val="F2F5FB"/>
          </a:solidFill>
          <a:ln w="12700">
            <a:solidFill>
              <a:srgbClr val="F2F5FB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9" name="Text 17"/>
          <p:cNvSpPr/>
          <p:nvPr/>
        </p:nvSpPr>
        <p:spPr>
          <a:xfrm>
            <a:off x="777240" y="2331720"/>
            <a:ext cx="1261872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知识库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32104" y="2697480"/>
            <a:ext cx="1737360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2130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▸ 操作系统</a:t>
            </a:r>
            <a:endParaRPr lang="en-US" sz="1130" dirty="0"/>
          </a:p>
        </p:txBody>
      </p:sp>
      <p:sp>
        <p:nvSpPr>
          <p:cNvPr id="21" name="Shape 19"/>
          <p:cNvSpPr/>
          <p:nvPr/>
        </p:nvSpPr>
        <p:spPr>
          <a:xfrm>
            <a:off x="740664" y="3017520"/>
            <a:ext cx="1783080" cy="347472"/>
          </a:xfrm>
          <a:prstGeom prst="roundRect">
            <a:avLst>
              <a:gd name="adj" fmla="val 23684"/>
            </a:avLst>
          </a:prstGeom>
          <a:solidFill>
            <a:srgbClr val="DBE5FF"/>
          </a:solidFill>
          <a:ln w="12700">
            <a:solidFill>
              <a:srgbClr val="DBE5FF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2" name="Text 20"/>
          <p:cNvSpPr/>
          <p:nvPr/>
        </p:nvSpPr>
        <p:spPr>
          <a:xfrm>
            <a:off x="832104" y="3145536"/>
            <a:ext cx="1737360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b="1" dirty="0">
                <a:solidFill>
                  <a:srgbClr val="526BE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进程调度</a:t>
            </a:r>
            <a:endParaRPr lang="en-US" sz="1130" dirty="0"/>
          </a:p>
        </p:txBody>
      </p:sp>
      <p:sp>
        <p:nvSpPr>
          <p:cNvPr id="23" name="Text 21"/>
          <p:cNvSpPr/>
          <p:nvPr/>
        </p:nvSpPr>
        <p:spPr>
          <a:xfrm>
            <a:off x="832104" y="3593592"/>
            <a:ext cx="1737360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2130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死锁与同步</a:t>
            </a:r>
            <a:endParaRPr lang="en-US" sz="1130" dirty="0"/>
          </a:p>
        </p:txBody>
      </p:sp>
      <p:sp>
        <p:nvSpPr>
          <p:cNvPr id="24" name="Text 22"/>
          <p:cNvSpPr/>
          <p:nvPr/>
        </p:nvSpPr>
        <p:spPr>
          <a:xfrm>
            <a:off x="832104" y="4041648"/>
            <a:ext cx="1737360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2130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内存管理</a:t>
            </a:r>
            <a:endParaRPr lang="en-US" sz="1130" dirty="0"/>
          </a:p>
        </p:txBody>
      </p:sp>
      <p:sp>
        <p:nvSpPr>
          <p:cNvPr id="25" name="Text 23"/>
          <p:cNvSpPr/>
          <p:nvPr/>
        </p:nvSpPr>
        <p:spPr>
          <a:xfrm>
            <a:off x="832104" y="4489704"/>
            <a:ext cx="1737360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2130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▸ 算法设计</a:t>
            </a:r>
            <a:endParaRPr lang="en-US" sz="1130" dirty="0"/>
          </a:p>
        </p:txBody>
      </p:sp>
      <p:sp>
        <p:nvSpPr>
          <p:cNvPr id="26" name="Text 24"/>
          <p:cNvSpPr/>
          <p:nvPr/>
        </p:nvSpPr>
        <p:spPr>
          <a:xfrm>
            <a:off x="832104" y="4937760"/>
            <a:ext cx="1737360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2130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▸ 科研资料</a:t>
            </a:r>
            <a:endParaRPr lang="en-US" sz="1130" dirty="0"/>
          </a:p>
        </p:txBody>
      </p:sp>
      <p:sp>
        <p:nvSpPr>
          <p:cNvPr id="27" name="Text 25"/>
          <p:cNvSpPr/>
          <p:nvPr/>
        </p:nvSpPr>
        <p:spPr>
          <a:xfrm>
            <a:off x="832104" y="5385816"/>
            <a:ext cx="1737360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2130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▸ 生活收藏</a:t>
            </a:r>
            <a:endParaRPr lang="en-US" sz="1130" dirty="0"/>
          </a:p>
        </p:txBody>
      </p:sp>
      <p:sp>
        <p:nvSpPr>
          <p:cNvPr id="28" name="Shape 26"/>
          <p:cNvSpPr/>
          <p:nvPr/>
        </p:nvSpPr>
        <p:spPr>
          <a:xfrm>
            <a:off x="2788920" y="2212848"/>
            <a:ext cx="5833872" cy="3730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9" name="Text 27"/>
          <p:cNvSpPr/>
          <p:nvPr/>
        </p:nvSpPr>
        <p:spPr>
          <a:xfrm>
            <a:off x="3054096" y="2423160"/>
            <a:ext cx="5285232" cy="4297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B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进程调度与调度算法</a:t>
            </a:r>
            <a:endParaRPr lang="en-US" sz="1900" dirty="0"/>
          </a:p>
        </p:txBody>
      </p:sp>
      <p:sp>
        <p:nvSpPr>
          <p:cNvPr id="30" name="Shape 28"/>
          <p:cNvSpPr/>
          <p:nvPr/>
        </p:nvSpPr>
        <p:spPr>
          <a:xfrm>
            <a:off x="3063240" y="2944368"/>
            <a:ext cx="1014984" cy="283464"/>
          </a:xfrm>
          <a:prstGeom prst="roundRect">
            <a:avLst>
              <a:gd name="adj" fmla="val 41935"/>
            </a:avLst>
          </a:prstGeom>
          <a:solidFill>
            <a:srgbClr val="DCE5FF"/>
          </a:solidFill>
          <a:ln w="12700">
            <a:solidFill>
              <a:srgbClr val="DCE5FF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Text 29"/>
          <p:cNvSpPr/>
          <p:nvPr/>
        </p:nvSpPr>
        <p:spPr>
          <a:xfrm>
            <a:off x="3136392" y="2958084"/>
            <a:ext cx="8686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26BE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操作系统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160520" y="2944368"/>
            <a:ext cx="1014984" cy="283464"/>
          </a:xfrm>
          <a:prstGeom prst="roundRect">
            <a:avLst>
              <a:gd name="adj" fmla="val 41935"/>
            </a:avLst>
          </a:prstGeom>
          <a:solidFill>
            <a:srgbClr val="D9F6F0"/>
          </a:solidFill>
          <a:ln w="12700">
            <a:solidFill>
              <a:srgbClr val="D9F6F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3" name="Text 31"/>
          <p:cNvSpPr/>
          <p:nvPr/>
        </p:nvSpPr>
        <p:spPr>
          <a:xfrm>
            <a:off x="4233672" y="2958084"/>
            <a:ext cx="8686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E9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期末复习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054096" y="3364992"/>
            <a:ext cx="5266944" cy="0"/>
          </a:xfrm>
          <a:prstGeom prst="line">
            <a:avLst/>
          </a:prstGeom>
          <a:noFill/>
          <a:ln w="12700">
            <a:solidFill>
              <a:srgbClr val="E2EAF4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5" name="Text 33"/>
          <p:cNvSpPr/>
          <p:nvPr/>
        </p:nvSpPr>
        <p:spPr>
          <a:xfrm>
            <a:off x="3063240" y="3593592"/>
            <a:ext cx="2843784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60" b="1" dirty="0">
                <a:solidFill>
                  <a:srgbClr val="1B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核心概念</a:t>
            </a:r>
            <a:endParaRPr lang="en-US" sz="1460" dirty="0"/>
          </a:p>
        </p:txBody>
      </p:sp>
      <p:sp>
        <p:nvSpPr>
          <p:cNvPr id="36" name="Text 34"/>
          <p:cNvSpPr/>
          <p:nvPr/>
        </p:nvSpPr>
        <p:spPr>
          <a:xfrm>
            <a:off x="3063240" y="3995928"/>
            <a:ext cx="5212080" cy="658368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2130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CPU 调度根据策略选择就绪进程运行，常见方法包括 FCFS、SJF、时间片轮转和优先级调度。</a:t>
            </a:r>
            <a:endParaRPr lang="en-US" sz="1180" dirty="0"/>
          </a:p>
        </p:txBody>
      </p:sp>
      <p:sp>
        <p:nvSpPr>
          <p:cNvPr id="37" name="Text 35"/>
          <p:cNvSpPr/>
          <p:nvPr/>
        </p:nvSpPr>
        <p:spPr>
          <a:xfrm>
            <a:off x="3063240" y="4782312"/>
            <a:ext cx="5212080" cy="2834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526BE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相关笔记：[[进程同步]]  [[死锁]]</a:t>
            </a:r>
            <a:endParaRPr lang="en-US" sz="1180" dirty="0"/>
          </a:p>
        </p:txBody>
      </p:sp>
      <p:sp>
        <p:nvSpPr>
          <p:cNvPr id="38" name="Text 36"/>
          <p:cNvSpPr/>
          <p:nvPr/>
        </p:nvSpPr>
        <p:spPr>
          <a:xfrm>
            <a:off x="3063240" y="5321808"/>
            <a:ext cx="5120640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文档来源：操作系统课件.pdf  ·  第 23 页</a:t>
            </a:r>
            <a:endParaRPr lang="en-US" sz="1070" dirty="0"/>
          </a:p>
        </p:txBody>
      </p:sp>
      <p:sp>
        <p:nvSpPr>
          <p:cNvPr id="39" name="Shape 37"/>
          <p:cNvSpPr/>
          <p:nvPr/>
        </p:nvSpPr>
        <p:spPr>
          <a:xfrm>
            <a:off x="8705088" y="2130552"/>
            <a:ext cx="2880360" cy="3867912"/>
          </a:xfrm>
          <a:prstGeom prst="rect">
            <a:avLst/>
          </a:prstGeom>
          <a:solidFill>
            <a:srgbClr val="F8FAFE"/>
          </a:solidFill>
          <a:ln w="12700">
            <a:solidFill>
              <a:srgbClr val="F8FAF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0" name="Text 38"/>
          <p:cNvSpPr/>
          <p:nvPr/>
        </p:nvSpPr>
        <p:spPr>
          <a:xfrm>
            <a:off x="8915400" y="2368296"/>
            <a:ext cx="146304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关联笔记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8951976" y="2852928"/>
            <a:ext cx="164592" cy="164592"/>
          </a:xfrm>
          <a:prstGeom prst="ellipse">
            <a:avLst/>
          </a:prstGeom>
          <a:solidFill>
            <a:srgbClr val="8B71E8"/>
          </a:solidFill>
          <a:ln w="12700">
            <a:solidFill>
              <a:srgbClr val="8B71E8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2" name="Text 40"/>
          <p:cNvSpPr/>
          <p:nvPr/>
        </p:nvSpPr>
        <p:spPr>
          <a:xfrm>
            <a:off x="9262872" y="2834640"/>
            <a:ext cx="2002536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1B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进程同步</a:t>
            </a:r>
            <a:endParaRPr lang="en-US" sz="1170" dirty="0"/>
          </a:p>
        </p:txBody>
      </p:sp>
      <p:sp>
        <p:nvSpPr>
          <p:cNvPr id="43" name="Shape 41"/>
          <p:cNvSpPr/>
          <p:nvPr/>
        </p:nvSpPr>
        <p:spPr>
          <a:xfrm>
            <a:off x="8951976" y="3364992"/>
            <a:ext cx="164592" cy="164592"/>
          </a:xfrm>
          <a:prstGeom prst="ellipse">
            <a:avLst/>
          </a:prstGeom>
          <a:solidFill>
            <a:srgbClr val="526BEA"/>
          </a:solidFill>
          <a:ln w="12700">
            <a:solidFill>
              <a:srgbClr val="526BE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4" name="Text 42"/>
          <p:cNvSpPr/>
          <p:nvPr/>
        </p:nvSpPr>
        <p:spPr>
          <a:xfrm>
            <a:off x="9262872" y="3346704"/>
            <a:ext cx="2002536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1B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死锁与资源分配</a:t>
            </a:r>
            <a:endParaRPr lang="en-US" sz="1170" dirty="0"/>
          </a:p>
        </p:txBody>
      </p:sp>
      <p:sp>
        <p:nvSpPr>
          <p:cNvPr id="45" name="Shape 43"/>
          <p:cNvSpPr/>
          <p:nvPr/>
        </p:nvSpPr>
        <p:spPr>
          <a:xfrm>
            <a:off x="8951976" y="3877056"/>
            <a:ext cx="164592" cy="164592"/>
          </a:xfrm>
          <a:prstGeom prst="ellipse">
            <a:avLst/>
          </a:prstGeom>
          <a:solidFill>
            <a:srgbClr val="16AE9C"/>
          </a:solidFill>
          <a:ln w="12700">
            <a:solidFill>
              <a:srgbClr val="16AE9C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6" name="Text 44"/>
          <p:cNvSpPr/>
          <p:nvPr/>
        </p:nvSpPr>
        <p:spPr>
          <a:xfrm>
            <a:off x="9262872" y="3858768"/>
            <a:ext cx="2002536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1B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优先级反转</a:t>
            </a:r>
            <a:endParaRPr lang="en-US" sz="1170" dirty="0"/>
          </a:p>
        </p:txBody>
      </p:sp>
      <p:sp>
        <p:nvSpPr>
          <p:cNvPr id="47" name="Text 45"/>
          <p:cNvSpPr/>
          <p:nvPr/>
        </p:nvSpPr>
        <p:spPr>
          <a:xfrm>
            <a:off x="8915400" y="4599432"/>
            <a:ext cx="201168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局部知识网络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9290304" y="4965192"/>
            <a:ext cx="786384" cy="292608"/>
          </a:xfrm>
          <a:prstGeom prst="line">
            <a:avLst/>
          </a:prstGeom>
          <a:noFill/>
          <a:ln w="19050">
            <a:solidFill>
              <a:srgbClr val="8B71E8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9" name="Shape 47"/>
          <p:cNvSpPr/>
          <p:nvPr/>
        </p:nvSpPr>
        <p:spPr>
          <a:xfrm>
            <a:off x="10076688" y="4965192"/>
            <a:ext cx="768096" cy="438912"/>
          </a:xfrm>
          <a:prstGeom prst="line">
            <a:avLst/>
          </a:prstGeom>
          <a:noFill/>
          <a:ln w="19050">
            <a:solidFill>
              <a:srgbClr val="526BE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0" name="Shape 48"/>
          <p:cNvSpPr/>
          <p:nvPr/>
        </p:nvSpPr>
        <p:spPr>
          <a:xfrm>
            <a:off x="9290304" y="5257800"/>
            <a:ext cx="1554480" cy="146304"/>
          </a:xfrm>
          <a:prstGeom prst="line">
            <a:avLst/>
          </a:prstGeom>
          <a:noFill/>
          <a:ln w="19050">
            <a:solidFill>
              <a:srgbClr val="16AE9C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1" name="Shape 49"/>
          <p:cNvSpPr/>
          <p:nvPr/>
        </p:nvSpPr>
        <p:spPr>
          <a:xfrm>
            <a:off x="9162288" y="5129784"/>
            <a:ext cx="256032" cy="256032"/>
          </a:xfrm>
          <a:prstGeom prst="ellipse">
            <a:avLst/>
          </a:prstGeom>
          <a:solidFill>
            <a:srgbClr val="8B71E8"/>
          </a:solidFill>
          <a:ln w="12700">
            <a:solidFill>
              <a:srgbClr val="8B71E8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2" name="Shape 50"/>
          <p:cNvSpPr/>
          <p:nvPr/>
        </p:nvSpPr>
        <p:spPr>
          <a:xfrm>
            <a:off x="9957816" y="4837176"/>
            <a:ext cx="256032" cy="256032"/>
          </a:xfrm>
          <a:prstGeom prst="ellipse">
            <a:avLst/>
          </a:prstGeom>
          <a:solidFill>
            <a:srgbClr val="526BEA"/>
          </a:solidFill>
          <a:ln w="12700">
            <a:solidFill>
              <a:srgbClr val="526BE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3" name="Shape 51"/>
          <p:cNvSpPr/>
          <p:nvPr/>
        </p:nvSpPr>
        <p:spPr>
          <a:xfrm>
            <a:off x="10716768" y="5276088"/>
            <a:ext cx="256032" cy="256032"/>
          </a:xfrm>
          <a:prstGeom prst="ellipse">
            <a:avLst/>
          </a:prstGeom>
          <a:solidFill>
            <a:srgbClr val="16AE9C"/>
          </a:solidFill>
          <a:ln w="12700">
            <a:solidFill>
              <a:srgbClr val="16AE9C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4" name="Text 52"/>
          <p:cNvSpPr/>
          <p:nvPr/>
        </p:nvSpPr>
        <p:spPr>
          <a:xfrm>
            <a:off x="8119872" y="6108192"/>
            <a:ext cx="34290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界面为设计示意，并非已实现系统截图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526BEA"/>
          </a:solidFill>
          <a:ln w="12700">
            <a:solidFill>
              <a:srgbClr val="526BE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/>
          <p:nvPr/>
        </p:nvSpPr>
        <p:spPr>
          <a:xfrm>
            <a:off x="548640" y="310896"/>
            <a:ext cx="731520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26BE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 / 业务范围与边界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B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先做深、再做广：明确课程必交付与增强项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16128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以“真正可运行、可测试、可恢复”的核心闭环控制开发范围。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6528816"/>
            <a:ext cx="11091672" cy="0"/>
          </a:xfrm>
          <a:prstGeom prst="line">
            <a:avLst/>
          </a:prstGeom>
          <a:noFill/>
          <a:ln w="8890">
            <a:solidFill>
              <a:srgbClr val="E2EAF4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/>
          <p:nvPr/>
        </p:nvSpPr>
        <p:spPr>
          <a:xfrm>
            <a:off x="566928" y="6574536"/>
            <a:ext cx="658368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知序 KnowledgeHub  /  大数据管理课程项目</a:t>
            </a:r>
            <a:endParaRPr lang="en-US" sz="830" dirty="0"/>
          </a:p>
        </p:txBody>
      </p:sp>
      <p:sp>
        <p:nvSpPr>
          <p:cNvPr id="8" name="Text 6"/>
          <p:cNvSpPr/>
          <p:nvPr/>
        </p:nvSpPr>
        <p:spPr>
          <a:xfrm>
            <a:off x="11109960" y="6547104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57784" y="1746504"/>
            <a:ext cx="3602736" cy="4398264"/>
          </a:xfrm>
          <a:prstGeom prst="roundRect">
            <a:avLst>
              <a:gd name="adj" fmla="val 4061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0" name="Shape 8"/>
          <p:cNvSpPr/>
          <p:nvPr/>
        </p:nvSpPr>
        <p:spPr>
          <a:xfrm>
            <a:off x="557784" y="1746504"/>
            <a:ext cx="3602736" cy="704088"/>
          </a:xfrm>
          <a:prstGeom prst="roundRect">
            <a:avLst>
              <a:gd name="adj" fmla="val 20779"/>
            </a:avLst>
          </a:prstGeom>
          <a:solidFill>
            <a:srgbClr val="E5ECFF"/>
          </a:solidFill>
          <a:ln w="12700">
            <a:solidFill>
              <a:srgbClr val="E5ECFF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1" name="Shape 9"/>
          <p:cNvSpPr/>
          <p:nvPr/>
        </p:nvSpPr>
        <p:spPr>
          <a:xfrm>
            <a:off x="768096" y="1938528"/>
            <a:ext cx="502920" cy="283464"/>
          </a:xfrm>
          <a:prstGeom prst="roundRect">
            <a:avLst>
              <a:gd name="adj" fmla="val 41935"/>
            </a:avLst>
          </a:prstGeom>
          <a:solidFill>
            <a:srgbClr val="526BEA"/>
          </a:solidFill>
          <a:ln w="12700">
            <a:solidFill>
              <a:srgbClr val="526BE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2" name="Text 10"/>
          <p:cNvSpPr/>
          <p:nvPr/>
        </p:nvSpPr>
        <p:spPr>
          <a:xfrm>
            <a:off x="841248" y="1952244"/>
            <a:ext cx="356616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362456" y="1920240"/>
            <a:ext cx="263347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B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核心交付 · 必须完成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832104" y="2715768"/>
            <a:ext cx="118872" cy="118872"/>
          </a:xfrm>
          <a:prstGeom prst="ellipse">
            <a:avLst/>
          </a:prstGeom>
          <a:solidFill>
            <a:srgbClr val="526BEA"/>
          </a:solidFill>
          <a:ln w="12700">
            <a:solidFill>
              <a:srgbClr val="526BE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5" name="Text 13"/>
          <p:cNvSpPr/>
          <p:nvPr/>
        </p:nvSpPr>
        <p:spPr>
          <a:xfrm>
            <a:off x="1069848" y="2606040"/>
            <a:ext cx="2816352" cy="42062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2130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笔记 / 文档 / 知识库 CRUD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832104" y="3310128"/>
            <a:ext cx="118872" cy="118872"/>
          </a:xfrm>
          <a:prstGeom prst="ellipse">
            <a:avLst/>
          </a:prstGeom>
          <a:solidFill>
            <a:srgbClr val="526BEA"/>
          </a:solidFill>
          <a:ln w="12700">
            <a:solidFill>
              <a:srgbClr val="526BE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7" name="Text 15"/>
          <p:cNvSpPr/>
          <p:nvPr/>
        </p:nvSpPr>
        <p:spPr>
          <a:xfrm>
            <a:off x="1069848" y="3200400"/>
            <a:ext cx="2816352" cy="42062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2130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四数据库读写与查询闭环</a:t>
            </a:r>
            <a:endParaRPr lang="en-US" sz="1220" dirty="0"/>
          </a:p>
        </p:txBody>
      </p:sp>
      <p:sp>
        <p:nvSpPr>
          <p:cNvPr id="18" name="Shape 16"/>
          <p:cNvSpPr/>
          <p:nvPr/>
        </p:nvSpPr>
        <p:spPr>
          <a:xfrm>
            <a:off x="832104" y="3904488"/>
            <a:ext cx="118872" cy="118872"/>
          </a:xfrm>
          <a:prstGeom prst="ellipse">
            <a:avLst/>
          </a:prstGeom>
          <a:solidFill>
            <a:srgbClr val="526BEA"/>
          </a:solidFill>
          <a:ln w="12700">
            <a:solidFill>
              <a:srgbClr val="526BE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9" name="Text 17"/>
          <p:cNvSpPr/>
          <p:nvPr/>
        </p:nvSpPr>
        <p:spPr>
          <a:xfrm>
            <a:off x="1069848" y="3794760"/>
            <a:ext cx="2816352" cy="42062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2130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Redis Streams + 索引 Worker</a:t>
            </a:r>
            <a:endParaRPr lang="en-US" sz="1220" dirty="0"/>
          </a:p>
        </p:txBody>
      </p:sp>
      <p:sp>
        <p:nvSpPr>
          <p:cNvPr id="20" name="Shape 18"/>
          <p:cNvSpPr/>
          <p:nvPr/>
        </p:nvSpPr>
        <p:spPr>
          <a:xfrm>
            <a:off x="832104" y="4498848"/>
            <a:ext cx="118872" cy="118872"/>
          </a:xfrm>
          <a:prstGeom prst="ellipse">
            <a:avLst/>
          </a:prstGeom>
          <a:solidFill>
            <a:srgbClr val="526BEA"/>
          </a:solidFill>
          <a:ln w="12700">
            <a:solidFill>
              <a:srgbClr val="526BE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1" name="Text 19"/>
          <p:cNvSpPr/>
          <p:nvPr/>
        </p:nvSpPr>
        <p:spPr>
          <a:xfrm>
            <a:off x="1069848" y="4389120"/>
            <a:ext cx="2816352" cy="42062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2130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Neo4j 链接 + Milvus 语义检索</a:t>
            </a:r>
            <a:endParaRPr lang="en-US" sz="1220" dirty="0"/>
          </a:p>
        </p:txBody>
      </p:sp>
      <p:sp>
        <p:nvSpPr>
          <p:cNvPr id="22" name="Shape 20"/>
          <p:cNvSpPr/>
          <p:nvPr/>
        </p:nvSpPr>
        <p:spPr>
          <a:xfrm>
            <a:off x="832104" y="5093208"/>
            <a:ext cx="118872" cy="118872"/>
          </a:xfrm>
          <a:prstGeom prst="ellipse">
            <a:avLst/>
          </a:prstGeom>
          <a:solidFill>
            <a:srgbClr val="526BEA"/>
          </a:solidFill>
          <a:ln w="12700">
            <a:solidFill>
              <a:srgbClr val="526BE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3" name="Text 21"/>
          <p:cNvSpPr/>
          <p:nvPr/>
        </p:nvSpPr>
        <p:spPr>
          <a:xfrm>
            <a:off x="1069848" y="4983480"/>
            <a:ext cx="2816352" cy="42062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2130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数据库实验与一致性验证</a:t>
            </a:r>
            <a:endParaRPr lang="en-US" sz="1220" dirty="0"/>
          </a:p>
        </p:txBody>
      </p:sp>
      <p:sp>
        <p:nvSpPr>
          <p:cNvPr id="24" name="Shape 22"/>
          <p:cNvSpPr/>
          <p:nvPr/>
        </p:nvSpPr>
        <p:spPr>
          <a:xfrm>
            <a:off x="4361688" y="1746504"/>
            <a:ext cx="3602736" cy="4398264"/>
          </a:xfrm>
          <a:prstGeom prst="roundRect">
            <a:avLst>
              <a:gd name="adj" fmla="val 4061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5" name="Shape 23"/>
          <p:cNvSpPr/>
          <p:nvPr/>
        </p:nvSpPr>
        <p:spPr>
          <a:xfrm>
            <a:off x="4361688" y="1746504"/>
            <a:ext cx="3602736" cy="704088"/>
          </a:xfrm>
          <a:prstGeom prst="roundRect">
            <a:avLst>
              <a:gd name="adj" fmla="val 20779"/>
            </a:avLst>
          </a:prstGeom>
          <a:solidFill>
            <a:srgbClr val="D9F6F0"/>
          </a:solidFill>
          <a:ln w="12700">
            <a:solidFill>
              <a:srgbClr val="D9F6F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4572000" y="1938528"/>
            <a:ext cx="502920" cy="283464"/>
          </a:xfrm>
          <a:prstGeom prst="roundRect">
            <a:avLst>
              <a:gd name="adj" fmla="val 41935"/>
            </a:avLst>
          </a:prstGeom>
          <a:solidFill>
            <a:srgbClr val="16AE9C"/>
          </a:solidFill>
          <a:ln w="12700">
            <a:solidFill>
              <a:srgbClr val="16AE9C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/>
          <p:nvPr/>
        </p:nvSpPr>
        <p:spPr>
          <a:xfrm>
            <a:off x="4645152" y="1952244"/>
            <a:ext cx="356616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P1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166360" y="1920240"/>
            <a:ext cx="263347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B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优先增强 · 稳定后添加</a:t>
            </a:r>
            <a:endParaRPr lang="en-US" sz="1320" dirty="0"/>
          </a:p>
        </p:txBody>
      </p:sp>
      <p:sp>
        <p:nvSpPr>
          <p:cNvPr id="29" name="Shape 27"/>
          <p:cNvSpPr/>
          <p:nvPr/>
        </p:nvSpPr>
        <p:spPr>
          <a:xfrm>
            <a:off x="4636008" y="2715768"/>
            <a:ext cx="118872" cy="118872"/>
          </a:xfrm>
          <a:prstGeom prst="ellipse">
            <a:avLst/>
          </a:prstGeom>
          <a:solidFill>
            <a:srgbClr val="16AE9C"/>
          </a:solidFill>
          <a:ln w="12700">
            <a:solidFill>
              <a:srgbClr val="16AE9C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0" name="Text 28"/>
          <p:cNvSpPr/>
          <p:nvPr/>
        </p:nvSpPr>
        <p:spPr>
          <a:xfrm>
            <a:off x="4873752" y="2606040"/>
            <a:ext cx="2816352" cy="42062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2130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RAG 问答及来源引用</a:t>
            </a:r>
            <a:endParaRPr lang="en-US" sz="1220" dirty="0"/>
          </a:p>
        </p:txBody>
      </p:sp>
      <p:sp>
        <p:nvSpPr>
          <p:cNvPr id="31" name="Shape 29"/>
          <p:cNvSpPr/>
          <p:nvPr/>
        </p:nvSpPr>
        <p:spPr>
          <a:xfrm>
            <a:off x="4636008" y="3310128"/>
            <a:ext cx="118872" cy="118872"/>
          </a:xfrm>
          <a:prstGeom prst="ellipse">
            <a:avLst/>
          </a:prstGeom>
          <a:solidFill>
            <a:srgbClr val="16AE9C"/>
          </a:solidFill>
          <a:ln w="12700">
            <a:solidFill>
              <a:srgbClr val="16AE9C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/>
          <p:nvPr/>
        </p:nvSpPr>
        <p:spPr>
          <a:xfrm>
            <a:off x="4873752" y="3200400"/>
            <a:ext cx="2816352" cy="42062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2130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Milvus BM25 混合检索（P1）</a:t>
            </a:r>
            <a:endParaRPr lang="en-US" sz="1220" dirty="0"/>
          </a:p>
        </p:txBody>
      </p:sp>
      <p:sp>
        <p:nvSpPr>
          <p:cNvPr id="33" name="Shape 31"/>
          <p:cNvSpPr/>
          <p:nvPr/>
        </p:nvSpPr>
        <p:spPr>
          <a:xfrm>
            <a:off x="4636008" y="3904488"/>
            <a:ext cx="118872" cy="118872"/>
          </a:xfrm>
          <a:prstGeom prst="ellipse">
            <a:avLst/>
          </a:prstGeom>
          <a:solidFill>
            <a:srgbClr val="16AE9C"/>
          </a:solidFill>
          <a:ln w="12700">
            <a:solidFill>
              <a:srgbClr val="16AE9C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4" name="Text 32"/>
          <p:cNvSpPr/>
          <p:nvPr/>
        </p:nvSpPr>
        <p:spPr>
          <a:xfrm>
            <a:off x="4873752" y="3794760"/>
            <a:ext cx="2816352" cy="42062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2130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版本回滚 / 任务状态大屏</a:t>
            </a:r>
            <a:endParaRPr lang="en-US" sz="1220" dirty="0"/>
          </a:p>
        </p:txBody>
      </p:sp>
      <p:sp>
        <p:nvSpPr>
          <p:cNvPr id="35" name="Shape 33"/>
          <p:cNvSpPr/>
          <p:nvPr/>
        </p:nvSpPr>
        <p:spPr>
          <a:xfrm>
            <a:off x="4636008" y="4498848"/>
            <a:ext cx="118872" cy="118872"/>
          </a:xfrm>
          <a:prstGeom prst="ellipse">
            <a:avLst/>
          </a:prstGeom>
          <a:solidFill>
            <a:srgbClr val="16AE9C"/>
          </a:solidFill>
          <a:ln w="12700">
            <a:solidFill>
              <a:srgbClr val="16AE9C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6" name="Text 34"/>
          <p:cNvSpPr/>
          <p:nvPr/>
        </p:nvSpPr>
        <p:spPr>
          <a:xfrm>
            <a:off x="4873752" y="4389120"/>
            <a:ext cx="2816352" cy="42062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2130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知识统计与趋势可视化</a:t>
            </a:r>
            <a:endParaRPr lang="en-US" sz="1220" dirty="0"/>
          </a:p>
        </p:txBody>
      </p:sp>
      <p:sp>
        <p:nvSpPr>
          <p:cNvPr id="37" name="Shape 35"/>
          <p:cNvSpPr/>
          <p:nvPr/>
        </p:nvSpPr>
        <p:spPr>
          <a:xfrm>
            <a:off x="8165592" y="1746504"/>
            <a:ext cx="3602736" cy="4398264"/>
          </a:xfrm>
          <a:prstGeom prst="roundRect">
            <a:avLst>
              <a:gd name="adj" fmla="val 4061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8" name="Shape 36"/>
          <p:cNvSpPr/>
          <p:nvPr/>
        </p:nvSpPr>
        <p:spPr>
          <a:xfrm>
            <a:off x="8165592" y="1746504"/>
            <a:ext cx="3602736" cy="704088"/>
          </a:xfrm>
          <a:prstGeom prst="roundRect">
            <a:avLst>
              <a:gd name="adj" fmla="val 20779"/>
            </a:avLst>
          </a:prstGeom>
          <a:solidFill>
            <a:srgbClr val="ECE8FC"/>
          </a:solidFill>
          <a:ln w="12700">
            <a:solidFill>
              <a:srgbClr val="ECE8FC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9" name="Shape 37"/>
          <p:cNvSpPr/>
          <p:nvPr/>
        </p:nvSpPr>
        <p:spPr>
          <a:xfrm>
            <a:off x="8375904" y="1938528"/>
            <a:ext cx="502920" cy="283464"/>
          </a:xfrm>
          <a:prstGeom prst="roundRect">
            <a:avLst>
              <a:gd name="adj" fmla="val 41935"/>
            </a:avLst>
          </a:prstGeom>
          <a:solidFill>
            <a:srgbClr val="8B71E8"/>
          </a:solidFill>
          <a:ln w="12700">
            <a:solidFill>
              <a:srgbClr val="8B71E8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0" name="Text 38"/>
          <p:cNvSpPr/>
          <p:nvPr/>
        </p:nvSpPr>
        <p:spPr>
          <a:xfrm>
            <a:off x="8449056" y="1952244"/>
            <a:ext cx="356616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P2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970264" y="1920240"/>
            <a:ext cx="263347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B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长期扩展 · 本次不做</a:t>
            </a:r>
            <a:endParaRPr lang="en-US" sz="1320" dirty="0"/>
          </a:p>
        </p:txBody>
      </p:sp>
      <p:sp>
        <p:nvSpPr>
          <p:cNvPr id="42" name="Shape 40"/>
          <p:cNvSpPr/>
          <p:nvPr/>
        </p:nvSpPr>
        <p:spPr>
          <a:xfrm>
            <a:off x="8439912" y="2715768"/>
            <a:ext cx="118872" cy="118872"/>
          </a:xfrm>
          <a:prstGeom prst="ellipse">
            <a:avLst/>
          </a:prstGeom>
          <a:solidFill>
            <a:srgbClr val="8B71E8"/>
          </a:solidFill>
          <a:ln w="12700">
            <a:solidFill>
              <a:srgbClr val="8B71E8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3" name="Text 41"/>
          <p:cNvSpPr/>
          <p:nvPr/>
        </p:nvSpPr>
        <p:spPr>
          <a:xfrm>
            <a:off x="8677656" y="2606040"/>
            <a:ext cx="2816352" cy="42062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2130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图片 OCR / 多模态搜索</a:t>
            </a:r>
            <a:endParaRPr lang="en-US" sz="1220" dirty="0"/>
          </a:p>
        </p:txBody>
      </p:sp>
      <p:sp>
        <p:nvSpPr>
          <p:cNvPr id="44" name="Shape 42"/>
          <p:cNvSpPr/>
          <p:nvPr/>
        </p:nvSpPr>
        <p:spPr>
          <a:xfrm>
            <a:off x="8439912" y="3310128"/>
            <a:ext cx="118872" cy="118872"/>
          </a:xfrm>
          <a:prstGeom prst="ellipse">
            <a:avLst/>
          </a:prstGeom>
          <a:solidFill>
            <a:srgbClr val="8B71E8"/>
          </a:solidFill>
          <a:ln w="12700">
            <a:solidFill>
              <a:srgbClr val="8B71E8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5" name="Text 43"/>
          <p:cNvSpPr/>
          <p:nvPr/>
        </p:nvSpPr>
        <p:spPr>
          <a:xfrm>
            <a:off x="8677656" y="3200400"/>
            <a:ext cx="2816352" cy="42062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2130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多人实时协同编辑</a:t>
            </a:r>
            <a:endParaRPr lang="en-US" sz="1220" dirty="0"/>
          </a:p>
        </p:txBody>
      </p:sp>
      <p:sp>
        <p:nvSpPr>
          <p:cNvPr id="46" name="Shape 44"/>
          <p:cNvSpPr/>
          <p:nvPr/>
        </p:nvSpPr>
        <p:spPr>
          <a:xfrm>
            <a:off x="8439912" y="3904488"/>
            <a:ext cx="118872" cy="118872"/>
          </a:xfrm>
          <a:prstGeom prst="ellipse">
            <a:avLst/>
          </a:prstGeom>
          <a:solidFill>
            <a:srgbClr val="8B71E8"/>
          </a:solidFill>
          <a:ln w="12700">
            <a:solidFill>
              <a:srgbClr val="8B71E8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7" name="Text 45"/>
          <p:cNvSpPr/>
          <p:nvPr/>
        </p:nvSpPr>
        <p:spPr>
          <a:xfrm>
            <a:off x="8677656" y="3794760"/>
            <a:ext cx="2816352" cy="42062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2130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离线双向同步与移动端</a:t>
            </a:r>
            <a:endParaRPr lang="en-US" sz="1220" dirty="0"/>
          </a:p>
        </p:txBody>
      </p:sp>
      <p:sp>
        <p:nvSpPr>
          <p:cNvPr id="48" name="Shape 46"/>
          <p:cNvSpPr/>
          <p:nvPr/>
        </p:nvSpPr>
        <p:spPr>
          <a:xfrm>
            <a:off x="8439912" y="4498848"/>
            <a:ext cx="118872" cy="118872"/>
          </a:xfrm>
          <a:prstGeom prst="ellipse">
            <a:avLst/>
          </a:prstGeom>
          <a:solidFill>
            <a:srgbClr val="8B71E8"/>
          </a:solidFill>
          <a:ln w="12700">
            <a:solidFill>
              <a:srgbClr val="8B71E8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9" name="Text 47"/>
          <p:cNvSpPr/>
          <p:nvPr/>
        </p:nvSpPr>
        <p:spPr>
          <a:xfrm>
            <a:off x="8677656" y="4389120"/>
            <a:ext cx="2816352" cy="42062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2130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自动知识抽取与推荐</a:t>
            </a:r>
            <a:endParaRPr lang="en-US" sz="12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16AE9C"/>
          </a:solidFill>
          <a:ln w="12700">
            <a:solidFill>
              <a:srgbClr val="16AE9C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/>
          <p:nvPr/>
        </p:nvSpPr>
        <p:spPr>
          <a:xfrm>
            <a:off x="548640" y="310896"/>
            <a:ext cx="914400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70F1D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 / 总体技术架构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四库协同，前后端分层，异步 Worker 解耦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207008"/>
            <a:ext cx="1097280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B5C2D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FastAPI 模块化服务 + 四库数据适配器 + Redis Streams + Docker Compose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6528816"/>
            <a:ext cx="11091672" cy="0"/>
          </a:xfrm>
          <a:prstGeom prst="line">
            <a:avLst/>
          </a:prstGeom>
          <a:noFill/>
          <a:ln w="8890">
            <a:solidFill>
              <a:srgbClr val="34405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/>
          <p:nvPr/>
        </p:nvSpPr>
        <p:spPr>
          <a:xfrm>
            <a:off x="566928" y="6574536"/>
            <a:ext cx="658368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8291B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知序 KnowledgeHub  /  大数据管理课程项目</a:t>
            </a:r>
            <a:endParaRPr lang="en-US" sz="830" dirty="0"/>
          </a:p>
        </p:txBody>
      </p:sp>
      <p:sp>
        <p:nvSpPr>
          <p:cNvPr id="8" name="Text 6"/>
          <p:cNvSpPr/>
          <p:nvPr/>
        </p:nvSpPr>
        <p:spPr>
          <a:xfrm>
            <a:off x="11109960" y="6547104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D4DEE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09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968496" y="1682496"/>
            <a:ext cx="4251960" cy="585216"/>
          </a:xfrm>
          <a:prstGeom prst="roundRect">
            <a:avLst>
              <a:gd name="adj" fmla="val 18750"/>
            </a:avLst>
          </a:prstGeom>
          <a:solidFill>
            <a:srgbClr val="243A60"/>
          </a:solidFill>
          <a:ln w="12700">
            <a:solidFill>
              <a:srgbClr val="4B638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0" name="Text 8"/>
          <p:cNvSpPr/>
          <p:nvPr/>
        </p:nvSpPr>
        <p:spPr>
          <a:xfrm>
            <a:off x="4160520" y="1828800"/>
            <a:ext cx="3877056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Vue 3  ·  TypeScript  ·  Vite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099048" y="2276856"/>
            <a:ext cx="0" cy="256032"/>
          </a:xfrm>
          <a:prstGeom prst="line">
            <a:avLst/>
          </a:prstGeom>
          <a:noFill/>
          <a:ln w="25400">
            <a:solidFill>
              <a:srgbClr val="9DB2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2" name="Shape 10"/>
          <p:cNvSpPr/>
          <p:nvPr/>
        </p:nvSpPr>
        <p:spPr>
          <a:xfrm>
            <a:off x="3246120" y="2578608"/>
            <a:ext cx="5705856" cy="557784"/>
          </a:xfrm>
          <a:prstGeom prst="roundRect">
            <a:avLst>
              <a:gd name="adj" fmla="val 19672"/>
            </a:avLst>
          </a:prstGeom>
          <a:solidFill>
            <a:srgbClr val="294C6D"/>
          </a:solidFill>
          <a:ln w="12700">
            <a:solidFill>
              <a:srgbClr val="4F6B8C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3" name="Text 11"/>
          <p:cNvSpPr/>
          <p:nvPr/>
        </p:nvSpPr>
        <p:spPr>
          <a:xfrm>
            <a:off x="3392424" y="2706624"/>
            <a:ext cx="5413248" cy="26517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FastAPI 统一 API / 权限 / 知识库业务 / 检索编排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099048" y="3136392"/>
            <a:ext cx="0" cy="329184"/>
          </a:xfrm>
          <a:prstGeom prst="line">
            <a:avLst/>
          </a:prstGeom>
          <a:noFill/>
          <a:ln w="25400">
            <a:solidFill>
              <a:srgbClr val="9DB2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5" name="Shape 13"/>
          <p:cNvSpPr/>
          <p:nvPr/>
        </p:nvSpPr>
        <p:spPr>
          <a:xfrm>
            <a:off x="612648" y="3630168"/>
            <a:ext cx="2761488" cy="1097280"/>
          </a:xfrm>
          <a:prstGeom prst="roundRect">
            <a:avLst>
              <a:gd name="adj" fmla="val 13333"/>
            </a:avLst>
          </a:prstGeom>
          <a:solidFill>
            <a:srgbClr val="172A49"/>
          </a:solidFill>
          <a:ln w="12700">
            <a:solidFill>
              <a:srgbClr val="49608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6" name="Shape 14"/>
          <p:cNvSpPr/>
          <p:nvPr/>
        </p:nvSpPr>
        <p:spPr>
          <a:xfrm>
            <a:off x="612648" y="3630168"/>
            <a:ext cx="82296" cy="1097280"/>
          </a:xfrm>
          <a:prstGeom prst="rect">
            <a:avLst/>
          </a:prstGeom>
          <a:solidFill>
            <a:srgbClr val="526BEA"/>
          </a:solidFill>
          <a:ln w="12700">
            <a:solidFill>
              <a:srgbClr val="526BE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7" name="Text 15"/>
          <p:cNvSpPr/>
          <p:nvPr/>
        </p:nvSpPr>
        <p:spPr>
          <a:xfrm>
            <a:off x="786384" y="3803904"/>
            <a:ext cx="2432304" cy="2834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MongoDB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86384" y="4215384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B9C9E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权威业务数据</a:t>
            </a:r>
            <a:endParaRPr lang="en-US" sz="1130" dirty="0"/>
          </a:p>
        </p:txBody>
      </p:sp>
      <p:sp>
        <p:nvSpPr>
          <p:cNvPr id="19" name="Shape 17"/>
          <p:cNvSpPr/>
          <p:nvPr/>
        </p:nvSpPr>
        <p:spPr>
          <a:xfrm>
            <a:off x="3538728" y="3630168"/>
            <a:ext cx="2761488" cy="1097280"/>
          </a:xfrm>
          <a:prstGeom prst="roundRect">
            <a:avLst>
              <a:gd name="adj" fmla="val 13333"/>
            </a:avLst>
          </a:prstGeom>
          <a:solidFill>
            <a:srgbClr val="172A49"/>
          </a:solidFill>
          <a:ln w="12700">
            <a:solidFill>
              <a:srgbClr val="49608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0" name="Shape 18"/>
          <p:cNvSpPr/>
          <p:nvPr/>
        </p:nvSpPr>
        <p:spPr>
          <a:xfrm>
            <a:off x="3538728" y="3630168"/>
            <a:ext cx="82296" cy="1097280"/>
          </a:xfrm>
          <a:prstGeom prst="rect">
            <a:avLst/>
          </a:prstGeom>
          <a:solidFill>
            <a:srgbClr val="16AE9C"/>
          </a:solidFill>
          <a:ln w="12700">
            <a:solidFill>
              <a:srgbClr val="16AE9C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1" name="Text 19"/>
          <p:cNvSpPr/>
          <p:nvPr/>
        </p:nvSpPr>
        <p:spPr>
          <a:xfrm>
            <a:off x="3712464" y="3803904"/>
            <a:ext cx="2432304" cy="2834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Redis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712464" y="4215384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B9C9E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缓存 · Streams</a:t>
            </a:r>
            <a:endParaRPr lang="en-US" sz="1130" dirty="0"/>
          </a:p>
        </p:txBody>
      </p:sp>
      <p:sp>
        <p:nvSpPr>
          <p:cNvPr id="23" name="Shape 21"/>
          <p:cNvSpPr/>
          <p:nvPr/>
        </p:nvSpPr>
        <p:spPr>
          <a:xfrm>
            <a:off x="6464808" y="3630168"/>
            <a:ext cx="2761488" cy="1097280"/>
          </a:xfrm>
          <a:prstGeom prst="roundRect">
            <a:avLst>
              <a:gd name="adj" fmla="val 13333"/>
            </a:avLst>
          </a:prstGeom>
          <a:solidFill>
            <a:srgbClr val="172A49"/>
          </a:solidFill>
          <a:ln w="12700">
            <a:solidFill>
              <a:srgbClr val="49608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4" name="Shape 22"/>
          <p:cNvSpPr/>
          <p:nvPr/>
        </p:nvSpPr>
        <p:spPr>
          <a:xfrm>
            <a:off x="6464808" y="3630168"/>
            <a:ext cx="82296" cy="1097280"/>
          </a:xfrm>
          <a:prstGeom prst="rect">
            <a:avLst/>
          </a:prstGeom>
          <a:solidFill>
            <a:srgbClr val="8B71E8"/>
          </a:solidFill>
          <a:ln w="12700">
            <a:solidFill>
              <a:srgbClr val="8B71E8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5" name="Text 23"/>
          <p:cNvSpPr/>
          <p:nvPr/>
        </p:nvSpPr>
        <p:spPr>
          <a:xfrm>
            <a:off x="6638544" y="3803904"/>
            <a:ext cx="2432304" cy="2834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Neo4j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638544" y="4215384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B9C9E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知识关联图</a:t>
            </a:r>
            <a:endParaRPr lang="en-US" sz="1130" dirty="0"/>
          </a:p>
        </p:txBody>
      </p:sp>
      <p:sp>
        <p:nvSpPr>
          <p:cNvPr id="27" name="Shape 25"/>
          <p:cNvSpPr/>
          <p:nvPr/>
        </p:nvSpPr>
        <p:spPr>
          <a:xfrm>
            <a:off x="9390888" y="3630168"/>
            <a:ext cx="2761488" cy="1097280"/>
          </a:xfrm>
          <a:prstGeom prst="roundRect">
            <a:avLst>
              <a:gd name="adj" fmla="val 13333"/>
            </a:avLst>
          </a:prstGeom>
          <a:solidFill>
            <a:srgbClr val="172A49"/>
          </a:solidFill>
          <a:ln w="12700">
            <a:solidFill>
              <a:srgbClr val="49608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8" name="Shape 26"/>
          <p:cNvSpPr/>
          <p:nvPr/>
        </p:nvSpPr>
        <p:spPr>
          <a:xfrm>
            <a:off x="9390888" y="3630168"/>
            <a:ext cx="82296" cy="1097280"/>
          </a:xfrm>
          <a:prstGeom prst="rect">
            <a:avLst/>
          </a:prstGeom>
          <a:solidFill>
            <a:srgbClr val="EFA942"/>
          </a:solidFill>
          <a:ln w="12700">
            <a:solidFill>
              <a:srgbClr val="EFA942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9" name="Text 27"/>
          <p:cNvSpPr/>
          <p:nvPr/>
        </p:nvSpPr>
        <p:spPr>
          <a:xfrm>
            <a:off x="9564624" y="3803904"/>
            <a:ext cx="2432304" cy="2834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Milvus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564624" y="4215384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B9C9E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向量索引 · 检索</a:t>
            </a:r>
            <a:endParaRPr lang="en-US" sz="1130" dirty="0"/>
          </a:p>
        </p:txBody>
      </p:sp>
      <p:sp>
        <p:nvSpPr>
          <p:cNvPr id="31" name="Shape 29"/>
          <p:cNvSpPr/>
          <p:nvPr/>
        </p:nvSpPr>
        <p:spPr>
          <a:xfrm>
            <a:off x="1965960" y="3474720"/>
            <a:ext cx="4133088" cy="0"/>
          </a:xfrm>
          <a:prstGeom prst="line">
            <a:avLst/>
          </a:prstGeom>
          <a:noFill/>
          <a:ln w="15240">
            <a:solidFill>
              <a:srgbClr val="7290B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Shape 30"/>
          <p:cNvSpPr/>
          <p:nvPr/>
        </p:nvSpPr>
        <p:spPr>
          <a:xfrm>
            <a:off x="6099048" y="3474720"/>
            <a:ext cx="4114800" cy="0"/>
          </a:xfrm>
          <a:prstGeom prst="line">
            <a:avLst/>
          </a:prstGeom>
          <a:noFill/>
          <a:ln w="15240">
            <a:solidFill>
              <a:srgbClr val="7290B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3" name="Shape 31"/>
          <p:cNvSpPr/>
          <p:nvPr/>
        </p:nvSpPr>
        <p:spPr>
          <a:xfrm>
            <a:off x="1965960" y="3474720"/>
            <a:ext cx="0" cy="128016"/>
          </a:xfrm>
          <a:prstGeom prst="line">
            <a:avLst/>
          </a:prstGeom>
          <a:noFill/>
          <a:ln w="16510">
            <a:solidFill>
              <a:srgbClr val="7290B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4" name="Shape 32"/>
          <p:cNvSpPr/>
          <p:nvPr/>
        </p:nvSpPr>
        <p:spPr>
          <a:xfrm>
            <a:off x="4892040" y="3474720"/>
            <a:ext cx="0" cy="128016"/>
          </a:xfrm>
          <a:prstGeom prst="line">
            <a:avLst/>
          </a:prstGeom>
          <a:noFill/>
          <a:ln w="16510">
            <a:solidFill>
              <a:srgbClr val="7290B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5" name="Shape 33"/>
          <p:cNvSpPr/>
          <p:nvPr/>
        </p:nvSpPr>
        <p:spPr>
          <a:xfrm>
            <a:off x="7818120" y="3474720"/>
            <a:ext cx="0" cy="128016"/>
          </a:xfrm>
          <a:prstGeom prst="line">
            <a:avLst/>
          </a:prstGeom>
          <a:noFill/>
          <a:ln w="16510">
            <a:solidFill>
              <a:srgbClr val="7290B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6" name="Shape 34"/>
          <p:cNvSpPr/>
          <p:nvPr/>
        </p:nvSpPr>
        <p:spPr>
          <a:xfrm>
            <a:off x="10744200" y="3474720"/>
            <a:ext cx="0" cy="128016"/>
          </a:xfrm>
          <a:prstGeom prst="line">
            <a:avLst/>
          </a:prstGeom>
          <a:noFill/>
          <a:ln w="16510">
            <a:solidFill>
              <a:srgbClr val="7290B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7" name="Shape 35"/>
          <p:cNvSpPr/>
          <p:nvPr/>
        </p:nvSpPr>
        <p:spPr>
          <a:xfrm>
            <a:off x="1591056" y="5148072"/>
            <a:ext cx="9006840" cy="722376"/>
          </a:xfrm>
          <a:prstGeom prst="roundRect">
            <a:avLst>
              <a:gd name="adj" fmla="val 16456"/>
            </a:avLst>
          </a:prstGeom>
          <a:solidFill>
            <a:srgbClr val="1B2C47"/>
          </a:solidFill>
          <a:ln w="12700">
            <a:solidFill>
              <a:srgbClr val="2C4768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8" name="Text 36"/>
          <p:cNvSpPr/>
          <p:nvPr/>
        </p:nvSpPr>
        <p:spPr>
          <a:xfrm>
            <a:off x="1856232" y="5330952"/>
            <a:ext cx="1536192" cy="2834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70F1D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异步处理层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3218688" y="5321808"/>
            <a:ext cx="7104888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Outbox Publisher  →  Parse / Embed / Graph Worker  →  对账与重试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2633472" y="6080760"/>
            <a:ext cx="6967728" cy="283464"/>
          </a:xfrm>
          <a:prstGeom prst="roundRect">
            <a:avLst>
              <a:gd name="adj" fmla="val 41935"/>
            </a:avLst>
          </a:prstGeom>
          <a:solidFill>
            <a:srgbClr val="20375B"/>
          </a:solidFill>
          <a:ln w="12700">
            <a:solidFill>
              <a:srgbClr val="20375B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1" name="Text 39"/>
          <p:cNvSpPr/>
          <p:nvPr/>
        </p:nvSpPr>
        <p:spPr>
          <a:xfrm>
            <a:off x="2706624" y="6094476"/>
            <a:ext cx="6821424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D6E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MongoDB 是权威源；其他库是可重建的派生索引 / 缓存</a:t>
            </a:r>
            <a:endParaRPr lang="en-US" sz="103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526BEA"/>
          </a:solidFill>
          <a:ln w="12700">
            <a:solidFill>
              <a:srgbClr val="526BE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/>
          <p:nvPr/>
        </p:nvSpPr>
        <p:spPr>
          <a:xfrm>
            <a:off x="548640" y="310896"/>
            <a:ext cx="731520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26BE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 / 总体技术架构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B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四种异构数据库，按照数据访问模式分工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16128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基于不同数据访问模式分工，而不是为“数据库数量”堆叠技术。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6528816"/>
            <a:ext cx="11091672" cy="0"/>
          </a:xfrm>
          <a:prstGeom prst="line">
            <a:avLst/>
          </a:prstGeom>
          <a:noFill/>
          <a:ln w="8890">
            <a:solidFill>
              <a:srgbClr val="E2EAF4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/>
          <p:nvPr/>
        </p:nvSpPr>
        <p:spPr>
          <a:xfrm>
            <a:off x="566928" y="6574536"/>
            <a:ext cx="658368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知序 KnowledgeHub  /  大数据管理课程项目</a:t>
            </a:r>
            <a:endParaRPr lang="en-US" sz="830" dirty="0"/>
          </a:p>
        </p:txBody>
      </p:sp>
      <p:sp>
        <p:nvSpPr>
          <p:cNvPr id="8" name="Text 6"/>
          <p:cNvSpPr/>
          <p:nvPr/>
        </p:nvSpPr>
        <p:spPr>
          <a:xfrm>
            <a:off x="11109960" y="6547104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66928" y="1810512"/>
            <a:ext cx="5422392" cy="1883664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0" name="Shape 8"/>
          <p:cNvSpPr/>
          <p:nvPr/>
        </p:nvSpPr>
        <p:spPr>
          <a:xfrm>
            <a:off x="749808" y="1993392"/>
            <a:ext cx="100584" cy="1490472"/>
          </a:xfrm>
          <a:prstGeom prst="rect">
            <a:avLst/>
          </a:prstGeom>
          <a:solidFill>
            <a:srgbClr val="526BEA"/>
          </a:solidFill>
          <a:ln w="12700">
            <a:solidFill>
              <a:srgbClr val="526BE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1" name="Text 9"/>
          <p:cNvSpPr/>
          <p:nvPr/>
        </p:nvSpPr>
        <p:spPr>
          <a:xfrm>
            <a:off x="1024128" y="1975104"/>
            <a:ext cx="2139696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B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MongoDB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374136" y="2039112"/>
            <a:ext cx="2359152" cy="283464"/>
          </a:xfrm>
          <a:prstGeom prst="roundRect">
            <a:avLst>
              <a:gd name="adj" fmla="val 41935"/>
            </a:avLst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3" name="Text 11"/>
          <p:cNvSpPr/>
          <p:nvPr/>
        </p:nvSpPr>
        <p:spPr>
          <a:xfrm>
            <a:off x="3447288" y="2052828"/>
            <a:ext cx="221284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文档型 · 主存储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1033272" y="2514600"/>
            <a:ext cx="4526280" cy="484632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用户、知识库、笔记正文、文件元数据、版本和 Outbox 事件</a:t>
            </a:r>
            <a:endParaRPr lang="en-US" sz="1240" dirty="0"/>
          </a:p>
        </p:txBody>
      </p:sp>
      <p:sp>
        <p:nvSpPr>
          <p:cNvPr id="15" name="Shape 13"/>
          <p:cNvSpPr/>
          <p:nvPr/>
        </p:nvSpPr>
        <p:spPr>
          <a:xfrm>
            <a:off x="1033272" y="3172968"/>
            <a:ext cx="4480560" cy="0"/>
          </a:xfrm>
          <a:prstGeom prst="line">
            <a:avLst/>
          </a:prstGeom>
          <a:noFill/>
          <a:ln w="10160">
            <a:solidFill>
              <a:srgbClr val="E2EAF4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6" name="Text 14"/>
          <p:cNvSpPr/>
          <p:nvPr/>
        </p:nvSpPr>
        <p:spPr>
          <a:xfrm>
            <a:off x="1033272" y="3282696"/>
            <a:ext cx="448056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526BE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嵌套文档 / 聚合 / 复合索引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6254496" y="1810512"/>
            <a:ext cx="5422392" cy="1883664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8" name="Shape 16"/>
          <p:cNvSpPr/>
          <p:nvPr/>
        </p:nvSpPr>
        <p:spPr>
          <a:xfrm>
            <a:off x="6437376" y="1993392"/>
            <a:ext cx="100584" cy="1490472"/>
          </a:xfrm>
          <a:prstGeom prst="rect">
            <a:avLst/>
          </a:prstGeom>
          <a:solidFill>
            <a:srgbClr val="16AE9C"/>
          </a:solidFill>
          <a:ln w="12700">
            <a:solidFill>
              <a:srgbClr val="16AE9C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9" name="Text 17"/>
          <p:cNvSpPr/>
          <p:nvPr/>
        </p:nvSpPr>
        <p:spPr>
          <a:xfrm>
            <a:off x="6711696" y="1975104"/>
            <a:ext cx="2139696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B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Redis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9061704" y="2039112"/>
            <a:ext cx="2359152" cy="283464"/>
          </a:xfrm>
          <a:prstGeom prst="roundRect">
            <a:avLst>
              <a:gd name="adj" fmla="val 41935"/>
            </a:avLst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1" name="Text 19"/>
          <p:cNvSpPr/>
          <p:nvPr/>
        </p:nvSpPr>
        <p:spPr>
          <a:xfrm>
            <a:off x="9134856" y="2052828"/>
            <a:ext cx="221284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键值 + 流</a:t>
            </a:r>
            <a:endParaRPr lang="en-US" sz="980" dirty="0"/>
          </a:p>
        </p:txBody>
      </p:sp>
      <p:sp>
        <p:nvSpPr>
          <p:cNvPr id="22" name="Text 20"/>
          <p:cNvSpPr/>
          <p:nvPr/>
        </p:nvSpPr>
        <p:spPr>
          <a:xfrm>
            <a:off x="6720840" y="2514600"/>
            <a:ext cx="4526280" cy="484632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热点缓存、会话、访问统计、Streams 消费组与任务恢复</a:t>
            </a:r>
            <a:endParaRPr lang="en-US" sz="1240" dirty="0"/>
          </a:p>
        </p:txBody>
      </p:sp>
      <p:sp>
        <p:nvSpPr>
          <p:cNvPr id="23" name="Shape 21"/>
          <p:cNvSpPr/>
          <p:nvPr/>
        </p:nvSpPr>
        <p:spPr>
          <a:xfrm>
            <a:off x="6720840" y="3172968"/>
            <a:ext cx="4480560" cy="0"/>
          </a:xfrm>
          <a:prstGeom prst="line">
            <a:avLst/>
          </a:prstGeom>
          <a:noFill/>
          <a:ln w="10160">
            <a:solidFill>
              <a:srgbClr val="E2EAF4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4" name="Text 22"/>
          <p:cNvSpPr/>
          <p:nvPr/>
        </p:nvSpPr>
        <p:spPr>
          <a:xfrm>
            <a:off x="6720840" y="3282696"/>
            <a:ext cx="448056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16AE9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Cache-Aside / TTL / XREADGROUP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566928" y="3950208"/>
            <a:ext cx="5422392" cy="1883664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749808" y="4133088"/>
            <a:ext cx="100584" cy="1490472"/>
          </a:xfrm>
          <a:prstGeom prst="rect">
            <a:avLst/>
          </a:prstGeom>
          <a:solidFill>
            <a:srgbClr val="8B71E8"/>
          </a:solidFill>
          <a:ln w="12700">
            <a:solidFill>
              <a:srgbClr val="8B71E8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/>
          <p:nvPr/>
        </p:nvSpPr>
        <p:spPr>
          <a:xfrm>
            <a:off x="1024128" y="4114800"/>
            <a:ext cx="2139696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B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Neo4j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3374136" y="4178808"/>
            <a:ext cx="2359152" cy="283464"/>
          </a:xfrm>
          <a:prstGeom prst="roundRect">
            <a:avLst>
              <a:gd name="adj" fmla="val 41935"/>
            </a:avLst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9" name="Text 27"/>
          <p:cNvSpPr/>
          <p:nvPr/>
        </p:nvSpPr>
        <p:spPr>
          <a:xfrm>
            <a:off x="3447288" y="4192524"/>
            <a:ext cx="221284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图数据库</a:t>
            </a:r>
            <a:endParaRPr lang="en-US" sz="980" dirty="0"/>
          </a:p>
        </p:txBody>
      </p:sp>
      <p:sp>
        <p:nvSpPr>
          <p:cNvPr id="30" name="Text 28"/>
          <p:cNvSpPr/>
          <p:nvPr/>
        </p:nvSpPr>
        <p:spPr>
          <a:xfrm>
            <a:off x="1033272" y="4654296"/>
            <a:ext cx="4526280" cy="484632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Note、KnowledgeBase、Concept 节点与 LINKS_TO 关系</a:t>
            </a:r>
            <a:endParaRPr lang="en-US" sz="1240" dirty="0"/>
          </a:p>
        </p:txBody>
      </p:sp>
      <p:sp>
        <p:nvSpPr>
          <p:cNvPr id="31" name="Shape 29"/>
          <p:cNvSpPr/>
          <p:nvPr/>
        </p:nvSpPr>
        <p:spPr>
          <a:xfrm>
            <a:off x="1033272" y="5312664"/>
            <a:ext cx="4480560" cy="0"/>
          </a:xfrm>
          <a:prstGeom prst="line">
            <a:avLst/>
          </a:prstGeom>
          <a:noFill/>
          <a:ln w="10160">
            <a:solidFill>
              <a:srgbClr val="E2EAF4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/>
          <p:nvPr/>
        </p:nvSpPr>
        <p:spPr>
          <a:xfrm>
            <a:off x="1033272" y="5422392"/>
            <a:ext cx="448056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8B71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Cypher / 图遍历 / 路径查询</a:t>
            </a:r>
            <a:endParaRPr lang="en-US" sz="1080" dirty="0"/>
          </a:p>
        </p:txBody>
      </p:sp>
      <p:sp>
        <p:nvSpPr>
          <p:cNvPr id="33" name="Shape 31"/>
          <p:cNvSpPr/>
          <p:nvPr/>
        </p:nvSpPr>
        <p:spPr>
          <a:xfrm>
            <a:off x="6254496" y="3950208"/>
            <a:ext cx="5422392" cy="1883664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4" name="Shape 32"/>
          <p:cNvSpPr/>
          <p:nvPr/>
        </p:nvSpPr>
        <p:spPr>
          <a:xfrm>
            <a:off x="6437376" y="4133088"/>
            <a:ext cx="100584" cy="1490472"/>
          </a:xfrm>
          <a:prstGeom prst="rect">
            <a:avLst/>
          </a:prstGeom>
          <a:solidFill>
            <a:srgbClr val="EFA942"/>
          </a:solidFill>
          <a:ln w="12700">
            <a:solidFill>
              <a:srgbClr val="EFA942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5" name="Text 33"/>
          <p:cNvSpPr/>
          <p:nvPr/>
        </p:nvSpPr>
        <p:spPr>
          <a:xfrm>
            <a:off x="6711696" y="4114800"/>
            <a:ext cx="2139696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B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Milvus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9061704" y="4178808"/>
            <a:ext cx="2359152" cy="283464"/>
          </a:xfrm>
          <a:prstGeom prst="roundRect">
            <a:avLst>
              <a:gd name="adj" fmla="val 41935"/>
            </a:avLst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7" name="Text 35"/>
          <p:cNvSpPr/>
          <p:nvPr/>
        </p:nvSpPr>
        <p:spPr>
          <a:xfrm>
            <a:off x="9134856" y="4192524"/>
            <a:ext cx="221284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向量数据库</a:t>
            </a:r>
            <a:endParaRPr lang="en-US" sz="980" dirty="0"/>
          </a:p>
        </p:txBody>
      </p:sp>
      <p:sp>
        <p:nvSpPr>
          <p:cNvPr id="38" name="Text 36"/>
          <p:cNvSpPr/>
          <p:nvPr/>
        </p:nvSpPr>
        <p:spPr>
          <a:xfrm>
            <a:off x="6720840" y="4654296"/>
            <a:ext cx="4526280" cy="484632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文本 Chunk 向量、标量过滤、语义 Top-K 检索</a:t>
            </a:r>
            <a:endParaRPr lang="en-US" sz="1240" dirty="0"/>
          </a:p>
        </p:txBody>
      </p:sp>
      <p:sp>
        <p:nvSpPr>
          <p:cNvPr id="39" name="Shape 37"/>
          <p:cNvSpPr/>
          <p:nvPr/>
        </p:nvSpPr>
        <p:spPr>
          <a:xfrm>
            <a:off x="6720840" y="5312664"/>
            <a:ext cx="4480560" cy="0"/>
          </a:xfrm>
          <a:prstGeom prst="line">
            <a:avLst/>
          </a:prstGeom>
          <a:noFill/>
          <a:ln w="10160">
            <a:solidFill>
              <a:srgbClr val="E2EAF4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0" name="Text 38"/>
          <p:cNvSpPr/>
          <p:nvPr/>
        </p:nvSpPr>
        <p:spPr>
          <a:xfrm>
            <a:off x="6720840" y="5422392"/>
            <a:ext cx="448056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EFA9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FLAT / IVF_FLAT / HNSW · BM25（P1）</a:t>
            </a:r>
            <a:endParaRPr lang="en-US" sz="10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526BEA"/>
          </a:solidFill>
          <a:ln w="12700">
            <a:solidFill>
              <a:srgbClr val="526BE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/>
          <p:nvPr/>
        </p:nvSpPr>
        <p:spPr>
          <a:xfrm>
            <a:off x="548640" y="310896"/>
            <a:ext cx="731520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26BE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 / 数据模型与协同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B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统一 ID 与版本，把四库组织成一个数据系统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16128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业务 ID 跨库复用；内容以 MongoDB 为准，关联和向量索引可被重建。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6528816"/>
            <a:ext cx="11091672" cy="0"/>
          </a:xfrm>
          <a:prstGeom prst="line">
            <a:avLst/>
          </a:prstGeom>
          <a:noFill/>
          <a:ln w="8890">
            <a:solidFill>
              <a:srgbClr val="E2EAF4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/>
          <p:nvPr/>
        </p:nvSpPr>
        <p:spPr>
          <a:xfrm>
            <a:off x="566928" y="6574536"/>
            <a:ext cx="658368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知序 KnowledgeHub  /  大数据管理课程项目</a:t>
            </a:r>
            <a:endParaRPr lang="en-US" sz="830" dirty="0"/>
          </a:p>
        </p:txBody>
      </p:sp>
      <p:sp>
        <p:nvSpPr>
          <p:cNvPr id="8" name="Text 6"/>
          <p:cNvSpPr/>
          <p:nvPr/>
        </p:nvSpPr>
        <p:spPr>
          <a:xfrm>
            <a:off x="11109960" y="6547104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66928" y="1728216"/>
            <a:ext cx="5303520" cy="3639312"/>
          </a:xfrm>
          <a:prstGeom prst="roundRect">
            <a:avLst>
              <a:gd name="adj" fmla="val 3769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0" name="Text 8"/>
          <p:cNvSpPr/>
          <p:nvPr/>
        </p:nvSpPr>
        <p:spPr>
          <a:xfrm>
            <a:off x="841248" y="1956816"/>
            <a:ext cx="4718304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B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MongoDB 业务实体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59536" y="2468880"/>
            <a:ext cx="2002536" cy="338328"/>
          </a:xfrm>
          <a:prstGeom prst="roundRect">
            <a:avLst>
              <a:gd name="adj" fmla="val 18919"/>
            </a:avLst>
          </a:prstGeom>
          <a:solidFill>
            <a:srgbClr val="EAF0FD"/>
          </a:solidFill>
          <a:ln w="12700">
            <a:solidFill>
              <a:srgbClr val="EAF0FD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2" name="Text 10"/>
          <p:cNvSpPr/>
          <p:nvPr/>
        </p:nvSpPr>
        <p:spPr>
          <a:xfrm>
            <a:off x="950976" y="2505456"/>
            <a:ext cx="1847088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526BE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users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035808" y="2505456"/>
            <a:ext cx="2478024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130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账户与身份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59536" y="2980944"/>
            <a:ext cx="2002536" cy="338328"/>
          </a:xfrm>
          <a:prstGeom prst="roundRect">
            <a:avLst>
              <a:gd name="adj" fmla="val 18919"/>
            </a:avLst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5" name="Text 13"/>
          <p:cNvSpPr/>
          <p:nvPr/>
        </p:nvSpPr>
        <p:spPr>
          <a:xfrm>
            <a:off x="950976" y="3017520"/>
            <a:ext cx="1847088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526BE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knowledge_bases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035808" y="3017520"/>
            <a:ext cx="2478024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130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知识库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59536" y="3493008"/>
            <a:ext cx="2002536" cy="338328"/>
          </a:xfrm>
          <a:prstGeom prst="roundRect">
            <a:avLst>
              <a:gd name="adj" fmla="val 18919"/>
            </a:avLst>
          </a:prstGeom>
          <a:solidFill>
            <a:srgbClr val="EAF0FD"/>
          </a:solidFill>
          <a:ln w="12700">
            <a:solidFill>
              <a:srgbClr val="EAF0FD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8" name="Text 16"/>
          <p:cNvSpPr/>
          <p:nvPr/>
        </p:nvSpPr>
        <p:spPr>
          <a:xfrm>
            <a:off x="950976" y="3529584"/>
            <a:ext cx="1847088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526BE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notes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035808" y="3529584"/>
            <a:ext cx="2478024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130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Markdown 正文及版本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59536" y="4005072"/>
            <a:ext cx="2002536" cy="338328"/>
          </a:xfrm>
          <a:prstGeom prst="roundRect">
            <a:avLst>
              <a:gd name="adj" fmla="val 18919"/>
            </a:avLst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1" name="Text 19"/>
          <p:cNvSpPr/>
          <p:nvPr/>
        </p:nvSpPr>
        <p:spPr>
          <a:xfrm>
            <a:off x="950976" y="4041648"/>
            <a:ext cx="1847088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526BE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documents / chunks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035808" y="4041648"/>
            <a:ext cx="2478024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130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文档元数据与片段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59536" y="4517136"/>
            <a:ext cx="2002536" cy="338328"/>
          </a:xfrm>
          <a:prstGeom prst="roundRect">
            <a:avLst>
              <a:gd name="adj" fmla="val 18919"/>
            </a:avLst>
          </a:prstGeom>
          <a:solidFill>
            <a:srgbClr val="EAF0FD"/>
          </a:solidFill>
          <a:ln w="12700">
            <a:solidFill>
              <a:srgbClr val="EAF0FD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4" name="Text 22"/>
          <p:cNvSpPr/>
          <p:nvPr/>
        </p:nvSpPr>
        <p:spPr>
          <a:xfrm>
            <a:off x="950976" y="4553712"/>
            <a:ext cx="1847088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526BE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outbox_events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035808" y="4553712"/>
            <a:ext cx="2478024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130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异步事件状态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080760" y="1728216"/>
            <a:ext cx="5532120" cy="3639312"/>
          </a:xfrm>
          <a:prstGeom prst="roundRect">
            <a:avLst>
              <a:gd name="adj" fmla="val 3769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/>
          <p:nvPr/>
        </p:nvSpPr>
        <p:spPr>
          <a:xfrm>
            <a:off x="6364224" y="1956816"/>
            <a:ext cx="493776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B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跨库共享主键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6419088" y="2542032"/>
            <a:ext cx="146304" cy="146304"/>
          </a:xfrm>
          <a:prstGeom prst="ellipse">
            <a:avLst/>
          </a:prstGeom>
          <a:solidFill>
            <a:srgbClr val="526BEA"/>
          </a:solidFill>
          <a:ln w="12700">
            <a:solidFill>
              <a:srgbClr val="526BE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9" name="Text 27"/>
          <p:cNvSpPr/>
          <p:nvPr/>
        </p:nvSpPr>
        <p:spPr>
          <a:xfrm>
            <a:off x="6720840" y="246888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90" b="1" dirty="0">
                <a:solidFill>
                  <a:srgbClr val="1B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user_id</a:t>
            </a:r>
            <a:endParaRPr lang="en-US" sz="1190" dirty="0"/>
          </a:p>
        </p:txBody>
      </p:sp>
      <p:sp>
        <p:nvSpPr>
          <p:cNvPr id="30" name="Text 28"/>
          <p:cNvSpPr/>
          <p:nvPr/>
        </p:nvSpPr>
        <p:spPr>
          <a:xfrm>
            <a:off x="8714232" y="2468880"/>
            <a:ext cx="2660904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按用户隔离权限</a:t>
            </a:r>
            <a:endParaRPr lang="en-US" sz="1090" dirty="0"/>
          </a:p>
        </p:txBody>
      </p:sp>
      <p:sp>
        <p:nvSpPr>
          <p:cNvPr id="31" name="Shape 29"/>
          <p:cNvSpPr/>
          <p:nvPr/>
        </p:nvSpPr>
        <p:spPr>
          <a:xfrm>
            <a:off x="6419088" y="3054096"/>
            <a:ext cx="146304" cy="146304"/>
          </a:xfrm>
          <a:prstGeom prst="ellipse">
            <a:avLst/>
          </a:prstGeom>
          <a:solidFill>
            <a:srgbClr val="8B71E8"/>
          </a:solidFill>
          <a:ln w="12700">
            <a:solidFill>
              <a:srgbClr val="8B71E8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/>
          <p:nvPr/>
        </p:nvSpPr>
        <p:spPr>
          <a:xfrm>
            <a:off x="6720840" y="2980944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90" b="1" dirty="0">
                <a:solidFill>
                  <a:srgbClr val="1B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kb_id</a:t>
            </a:r>
            <a:endParaRPr lang="en-US" sz="1190" dirty="0"/>
          </a:p>
        </p:txBody>
      </p:sp>
      <p:sp>
        <p:nvSpPr>
          <p:cNvPr id="33" name="Text 31"/>
          <p:cNvSpPr/>
          <p:nvPr/>
        </p:nvSpPr>
        <p:spPr>
          <a:xfrm>
            <a:off x="8714232" y="2980944"/>
            <a:ext cx="2660904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关联知识库</a:t>
            </a:r>
            <a:endParaRPr lang="en-US" sz="1090" dirty="0"/>
          </a:p>
        </p:txBody>
      </p:sp>
      <p:sp>
        <p:nvSpPr>
          <p:cNvPr id="34" name="Shape 32"/>
          <p:cNvSpPr/>
          <p:nvPr/>
        </p:nvSpPr>
        <p:spPr>
          <a:xfrm>
            <a:off x="6419088" y="3566160"/>
            <a:ext cx="146304" cy="146304"/>
          </a:xfrm>
          <a:prstGeom prst="ellipse">
            <a:avLst/>
          </a:prstGeom>
          <a:solidFill>
            <a:srgbClr val="16AE9C"/>
          </a:solidFill>
          <a:ln w="12700">
            <a:solidFill>
              <a:srgbClr val="16AE9C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5" name="Text 33"/>
          <p:cNvSpPr/>
          <p:nvPr/>
        </p:nvSpPr>
        <p:spPr>
          <a:xfrm>
            <a:off x="6720840" y="349300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90" b="1" dirty="0">
                <a:solidFill>
                  <a:srgbClr val="1B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note_id / document_id</a:t>
            </a:r>
            <a:endParaRPr lang="en-US" sz="1190" dirty="0"/>
          </a:p>
        </p:txBody>
      </p:sp>
      <p:sp>
        <p:nvSpPr>
          <p:cNvPr id="36" name="Text 34"/>
          <p:cNvSpPr/>
          <p:nvPr/>
        </p:nvSpPr>
        <p:spPr>
          <a:xfrm>
            <a:off x="8714232" y="3493008"/>
            <a:ext cx="2660904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定位内容实体</a:t>
            </a:r>
            <a:endParaRPr lang="en-US" sz="1090" dirty="0"/>
          </a:p>
        </p:txBody>
      </p:sp>
      <p:sp>
        <p:nvSpPr>
          <p:cNvPr id="37" name="Shape 35"/>
          <p:cNvSpPr/>
          <p:nvPr/>
        </p:nvSpPr>
        <p:spPr>
          <a:xfrm>
            <a:off x="6419088" y="4078224"/>
            <a:ext cx="146304" cy="146304"/>
          </a:xfrm>
          <a:prstGeom prst="ellipse">
            <a:avLst/>
          </a:prstGeom>
          <a:solidFill>
            <a:srgbClr val="EFA942"/>
          </a:solidFill>
          <a:ln w="12700">
            <a:solidFill>
              <a:srgbClr val="EFA942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8" name="Text 36"/>
          <p:cNvSpPr/>
          <p:nvPr/>
        </p:nvSpPr>
        <p:spPr>
          <a:xfrm>
            <a:off x="6720840" y="4005072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90" b="1" dirty="0">
                <a:solidFill>
                  <a:srgbClr val="1B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chunk_id</a:t>
            </a:r>
            <a:endParaRPr lang="en-US" sz="1190" dirty="0"/>
          </a:p>
        </p:txBody>
      </p:sp>
      <p:sp>
        <p:nvSpPr>
          <p:cNvPr id="39" name="Text 37"/>
          <p:cNvSpPr/>
          <p:nvPr/>
        </p:nvSpPr>
        <p:spPr>
          <a:xfrm>
            <a:off x="8714232" y="4005072"/>
            <a:ext cx="2660904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定位文本片段</a:t>
            </a:r>
            <a:endParaRPr lang="en-US" sz="1090" dirty="0"/>
          </a:p>
        </p:txBody>
      </p:sp>
      <p:sp>
        <p:nvSpPr>
          <p:cNvPr id="40" name="Shape 38"/>
          <p:cNvSpPr/>
          <p:nvPr/>
        </p:nvSpPr>
        <p:spPr>
          <a:xfrm>
            <a:off x="6419088" y="4590288"/>
            <a:ext cx="146304" cy="146304"/>
          </a:xfrm>
          <a:prstGeom prst="ellipse">
            <a:avLst/>
          </a:prstGeom>
          <a:solidFill>
            <a:srgbClr val="526BEA"/>
          </a:solidFill>
          <a:ln w="12700">
            <a:solidFill>
              <a:srgbClr val="526BE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1" name="Text 39"/>
          <p:cNvSpPr/>
          <p:nvPr/>
        </p:nvSpPr>
        <p:spPr>
          <a:xfrm>
            <a:off x="6720840" y="4517136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90" b="1" dirty="0">
                <a:solidFill>
                  <a:srgbClr val="1B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content_version</a:t>
            </a:r>
            <a:endParaRPr lang="en-US" sz="1190" dirty="0"/>
          </a:p>
        </p:txBody>
      </p:sp>
      <p:sp>
        <p:nvSpPr>
          <p:cNvPr id="42" name="Text 40"/>
          <p:cNvSpPr/>
          <p:nvPr/>
        </p:nvSpPr>
        <p:spPr>
          <a:xfrm>
            <a:off x="8714232" y="4517136"/>
            <a:ext cx="2660904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防止旧索引覆盖新内容</a:t>
            </a:r>
            <a:endParaRPr lang="en-US" sz="1090" dirty="0"/>
          </a:p>
        </p:txBody>
      </p:sp>
      <p:sp>
        <p:nvSpPr>
          <p:cNvPr id="43" name="Shape 41"/>
          <p:cNvSpPr/>
          <p:nvPr/>
        </p:nvSpPr>
        <p:spPr>
          <a:xfrm>
            <a:off x="566928" y="5596128"/>
            <a:ext cx="11036808" cy="484632"/>
          </a:xfrm>
          <a:prstGeom prst="roundRect">
            <a:avLst>
              <a:gd name="adj" fmla="val 18868"/>
            </a:avLst>
          </a:prstGeom>
          <a:solidFill>
            <a:srgbClr val="0C1428"/>
          </a:solidFill>
          <a:ln w="12700">
            <a:solidFill>
              <a:srgbClr val="0C1428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4" name="Text 42"/>
          <p:cNvSpPr/>
          <p:nvPr/>
        </p:nvSpPr>
        <p:spPr>
          <a:xfrm>
            <a:off x="832104" y="5678424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原则：MongoDB 写入 → Redis 分发 → Neo4j / Milvus 索引同步 → 读时校验版本与权限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526BEA"/>
          </a:solidFill>
          <a:ln w="12700">
            <a:solidFill>
              <a:srgbClr val="526BE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/>
          <p:nvPr/>
        </p:nvSpPr>
        <p:spPr>
          <a:xfrm>
            <a:off x="548640" y="310896"/>
            <a:ext cx="731520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26BE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 / 数据模型与协同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B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资料导入：耗时操作进入异步索引流水线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16128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前台快速响应上传请求；后台 Worker 完成解析、分块与索引构建。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6528816"/>
            <a:ext cx="11091672" cy="0"/>
          </a:xfrm>
          <a:prstGeom prst="line">
            <a:avLst/>
          </a:prstGeom>
          <a:noFill/>
          <a:ln w="8890">
            <a:solidFill>
              <a:srgbClr val="E2EAF4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/>
          <p:nvPr/>
        </p:nvSpPr>
        <p:spPr>
          <a:xfrm>
            <a:off x="566928" y="6574536"/>
            <a:ext cx="658368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知序 KnowledgeHub  /  大数据管理课程项目</a:t>
            </a:r>
            <a:endParaRPr lang="en-US" sz="830" dirty="0"/>
          </a:p>
        </p:txBody>
      </p:sp>
      <p:sp>
        <p:nvSpPr>
          <p:cNvPr id="8" name="Text 6"/>
          <p:cNvSpPr/>
          <p:nvPr/>
        </p:nvSpPr>
        <p:spPr>
          <a:xfrm>
            <a:off x="11109960" y="6547104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</a:t>
            </a:r>
            <a:endParaRPr lang="en-US" sz="950" dirty="0"/>
          </a:p>
        </p:txBody>
      </p:sp>
      <p:sp>
        <p:nvSpPr>
          <p:cNvPr id="9" name="Shape 7"/>
          <p:cNvSpPr/>
          <p:nvPr>
            <p:custDataLst>
              <p:tags r:id="rId1"/>
            </p:custDataLst>
          </p:nvPr>
        </p:nvSpPr>
        <p:spPr>
          <a:xfrm>
            <a:off x="1106424" y="1920240"/>
            <a:ext cx="576072" cy="576072"/>
          </a:xfrm>
          <a:prstGeom prst="ellipse">
            <a:avLst/>
          </a:prstGeom>
          <a:solidFill>
            <a:srgbClr val="526BEA"/>
          </a:solidFill>
          <a:ln w="12700">
            <a:solidFill>
              <a:srgbClr val="526BE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0" name="Text 8"/>
          <p:cNvSpPr/>
          <p:nvPr>
            <p:custDataLst>
              <p:tags r:id="rId2"/>
            </p:custDataLst>
          </p:nvPr>
        </p:nvSpPr>
        <p:spPr>
          <a:xfrm>
            <a:off x="1106424" y="2084832"/>
            <a:ext cx="576072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Shape 9"/>
          <p:cNvSpPr/>
          <p:nvPr>
            <p:custDataLst>
              <p:tags r:id="rId3"/>
            </p:custDataLst>
          </p:nvPr>
        </p:nvSpPr>
        <p:spPr>
          <a:xfrm>
            <a:off x="1691640" y="2212848"/>
            <a:ext cx="1307592" cy="0"/>
          </a:xfrm>
          <a:prstGeom prst="line">
            <a:avLst/>
          </a:prstGeom>
          <a:noFill/>
          <a:ln w="16510">
            <a:solidFill>
              <a:srgbClr val="ADC0DC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2" name="Text 10"/>
          <p:cNvSpPr/>
          <p:nvPr>
            <p:custDataLst>
              <p:tags r:id="rId4"/>
            </p:custDataLst>
          </p:nvPr>
        </p:nvSpPr>
        <p:spPr>
          <a:xfrm>
            <a:off x="621792" y="2743200"/>
            <a:ext cx="1563624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用户上传</a:t>
            </a:r>
            <a:endParaRPr lang="en-US" sz="1400" dirty="0"/>
          </a:p>
        </p:txBody>
      </p:sp>
      <p:sp>
        <p:nvSpPr>
          <p:cNvPr id="13" name="Text 11"/>
          <p:cNvSpPr/>
          <p:nvPr>
            <p:custDataLst>
              <p:tags r:id="rId5"/>
            </p:custDataLst>
          </p:nvPr>
        </p:nvSpPr>
        <p:spPr>
          <a:xfrm>
            <a:off x="576072" y="3172968"/>
            <a:ext cx="1682496" cy="576072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PDF / DOCX / MD</a:t>
            </a:r>
            <a:endParaRPr lang="en-US" sz="1080" dirty="0"/>
          </a:p>
        </p:txBody>
      </p:sp>
      <p:sp>
        <p:nvSpPr>
          <p:cNvPr id="14" name="Shape 12"/>
          <p:cNvSpPr/>
          <p:nvPr>
            <p:custDataLst>
              <p:tags r:id="rId6"/>
            </p:custDataLst>
          </p:nvPr>
        </p:nvSpPr>
        <p:spPr>
          <a:xfrm>
            <a:off x="3026664" y="1920240"/>
            <a:ext cx="576072" cy="576072"/>
          </a:xfrm>
          <a:prstGeom prst="ellipse">
            <a:avLst/>
          </a:prstGeom>
          <a:solidFill>
            <a:srgbClr val="526BEA"/>
          </a:solidFill>
          <a:ln w="12700">
            <a:solidFill>
              <a:srgbClr val="526BE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5" name="Text 13"/>
          <p:cNvSpPr/>
          <p:nvPr>
            <p:custDataLst>
              <p:tags r:id="rId7"/>
            </p:custDataLst>
          </p:nvPr>
        </p:nvSpPr>
        <p:spPr>
          <a:xfrm>
            <a:off x="3026664" y="2084832"/>
            <a:ext cx="576072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Shape 14"/>
          <p:cNvSpPr/>
          <p:nvPr>
            <p:custDataLst>
              <p:tags r:id="rId8"/>
            </p:custDataLst>
          </p:nvPr>
        </p:nvSpPr>
        <p:spPr>
          <a:xfrm>
            <a:off x="3611880" y="2212848"/>
            <a:ext cx="1307592" cy="0"/>
          </a:xfrm>
          <a:prstGeom prst="line">
            <a:avLst/>
          </a:prstGeom>
          <a:noFill/>
          <a:ln w="16510">
            <a:solidFill>
              <a:srgbClr val="ADC0DC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7" name="Text 15"/>
          <p:cNvSpPr/>
          <p:nvPr>
            <p:custDataLst>
              <p:tags r:id="rId9"/>
            </p:custDataLst>
          </p:nvPr>
        </p:nvSpPr>
        <p:spPr>
          <a:xfrm>
            <a:off x="2542032" y="2743200"/>
            <a:ext cx="1563624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保存源文件</a:t>
            </a:r>
            <a:endParaRPr lang="en-US" sz="1400" dirty="0"/>
          </a:p>
        </p:txBody>
      </p:sp>
      <p:sp>
        <p:nvSpPr>
          <p:cNvPr id="18" name="Text 16"/>
          <p:cNvSpPr/>
          <p:nvPr>
            <p:custDataLst>
              <p:tags r:id="rId10"/>
            </p:custDataLst>
          </p:nvPr>
        </p:nvSpPr>
        <p:spPr>
          <a:xfrm>
            <a:off x="2496312" y="3172968"/>
            <a:ext cx="1682496" cy="576072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MongoDB 元数据</a:t>
            </a:r>
            <a:endParaRPr lang="en-US" sz="1080" dirty="0"/>
          </a:p>
        </p:txBody>
      </p:sp>
      <p:sp>
        <p:nvSpPr>
          <p:cNvPr id="19" name="Shape 17"/>
          <p:cNvSpPr/>
          <p:nvPr>
            <p:custDataLst>
              <p:tags r:id="rId11"/>
            </p:custDataLst>
          </p:nvPr>
        </p:nvSpPr>
        <p:spPr>
          <a:xfrm>
            <a:off x="4946904" y="1920240"/>
            <a:ext cx="576072" cy="576072"/>
          </a:xfrm>
          <a:prstGeom prst="ellipse">
            <a:avLst/>
          </a:prstGeom>
          <a:solidFill>
            <a:srgbClr val="526BEA"/>
          </a:solidFill>
          <a:ln w="12700">
            <a:solidFill>
              <a:srgbClr val="526BE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0" name="Text 18"/>
          <p:cNvSpPr/>
          <p:nvPr>
            <p:custDataLst>
              <p:tags r:id="rId12"/>
            </p:custDataLst>
          </p:nvPr>
        </p:nvSpPr>
        <p:spPr>
          <a:xfrm>
            <a:off x="4946904" y="2084832"/>
            <a:ext cx="576072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Shape 19"/>
          <p:cNvSpPr/>
          <p:nvPr>
            <p:custDataLst>
              <p:tags r:id="rId13"/>
            </p:custDataLst>
          </p:nvPr>
        </p:nvSpPr>
        <p:spPr>
          <a:xfrm>
            <a:off x="5532120" y="2212848"/>
            <a:ext cx="1307592" cy="0"/>
          </a:xfrm>
          <a:prstGeom prst="line">
            <a:avLst/>
          </a:prstGeom>
          <a:noFill/>
          <a:ln w="16510">
            <a:solidFill>
              <a:srgbClr val="ADC0DC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2" name="Text 20"/>
          <p:cNvSpPr/>
          <p:nvPr>
            <p:custDataLst>
              <p:tags r:id="rId14"/>
            </p:custDataLst>
          </p:nvPr>
        </p:nvSpPr>
        <p:spPr>
          <a:xfrm>
            <a:off x="4462272" y="2743200"/>
            <a:ext cx="1563624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发布任务</a:t>
            </a:r>
            <a:endParaRPr lang="en-US" sz="1400" dirty="0"/>
          </a:p>
        </p:txBody>
      </p:sp>
      <p:sp>
        <p:nvSpPr>
          <p:cNvPr id="23" name="Text 21"/>
          <p:cNvSpPr/>
          <p:nvPr>
            <p:custDataLst>
              <p:tags r:id="rId15"/>
            </p:custDataLst>
          </p:nvPr>
        </p:nvSpPr>
        <p:spPr>
          <a:xfrm>
            <a:off x="4462272" y="3172968"/>
            <a:ext cx="1682496" cy="576072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Outbox → Redis</a:t>
            </a:r>
            <a:endParaRPr lang="en-US" sz="1080" dirty="0"/>
          </a:p>
        </p:txBody>
      </p:sp>
      <p:sp>
        <p:nvSpPr>
          <p:cNvPr id="24" name="Shape 22"/>
          <p:cNvSpPr/>
          <p:nvPr>
            <p:custDataLst>
              <p:tags r:id="rId16"/>
            </p:custDataLst>
          </p:nvPr>
        </p:nvSpPr>
        <p:spPr>
          <a:xfrm>
            <a:off x="6867144" y="1920240"/>
            <a:ext cx="576072" cy="576072"/>
          </a:xfrm>
          <a:prstGeom prst="ellipse">
            <a:avLst/>
          </a:prstGeom>
          <a:solidFill>
            <a:srgbClr val="526BEA"/>
          </a:solidFill>
          <a:ln w="12700">
            <a:solidFill>
              <a:srgbClr val="526BE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5" name="Text 23"/>
          <p:cNvSpPr/>
          <p:nvPr>
            <p:custDataLst>
              <p:tags r:id="rId17"/>
            </p:custDataLst>
          </p:nvPr>
        </p:nvSpPr>
        <p:spPr>
          <a:xfrm>
            <a:off x="6867144" y="2084832"/>
            <a:ext cx="576072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Shape 24"/>
          <p:cNvSpPr/>
          <p:nvPr>
            <p:custDataLst>
              <p:tags r:id="rId18"/>
            </p:custDataLst>
          </p:nvPr>
        </p:nvSpPr>
        <p:spPr>
          <a:xfrm>
            <a:off x="7452360" y="2212848"/>
            <a:ext cx="1307592" cy="0"/>
          </a:xfrm>
          <a:prstGeom prst="line">
            <a:avLst/>
          </a:prstGeom>
          <a:noFill/>
          <a:ln w="16510">
            <a:solidFill>
              <a:srgbClr val="ADC0DC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/>
          <p:nvPr>
            <p:custDataLst>
              <p:tags r:id="rId19"/>
            </p:custDataLst>
          </p:nvPr>
        </p:nvSpPr>
        <p:spPr>
          <a:xfrm>
            <a:off x="6382512" y="2743200"/>
            <a:ext cx="1563624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文本解析</a:t>
            </a:r>
            <a:endParaRPr lang="en-US" sz="1400" dirty="0"/>
          </a:p>
        </p:txBody>
      </p:sp>
      <p:sp>
        <p:nvSpPr>
          <p:cNvPr id="28" name="Text 26"/>
          <p:cNvSpPr/>
          <p:nvPr>
            <p:custDataLst>
              <p:tags r:id="rId20"/>
            </p:custDataLst>
          </p:nvPr>
        </p:nvSpPr>
        <p:spPr>
          <a:xfrm>
            <a:off x="6336792" y="3172968"/>
            <a:ext cx="1682496" cy="576072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段落 / 页码 / Chunk</a:t>
            </a:r>
            <a:endParaRPr lang="en-US" sz="1080" dirty="0"/>
          </a:p>
        </p:txBody>
      </p:sp>
      <p:sp>
        <p:nvSpPr>
          <p:cNvPr id="29" name="Shape 27"/>
          <p:cNvSpPr/>
          <p:nvPr>
            <p:custDataLst>
              <p:tags r:id="rId21"/>
            </p:custDataLst>
          </p:nvPr>
        </p:nvSpPr>
        <p:spPr>
          <a:xfrm>
            <a:off x="8787384" y="1920240"/>
            <a:ext cx="576072" cy="576072"/>
          </a:xfrm>
          <a:prstGeom prst="ellipse">
            <a:avLst/>
          </a:prstGeom>
          <a:solidFill>
            <a:srgbClr val="526BEA"/>
          </a:solidFill>
          <a:ln w="12700">
            <a:solidFill>
              <a:srgbClr val="526BE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0" name="Text 28"/>
          <p:cNvSpPr/>
          <p:nvPr>
            <p:custDataLst>
              <p:tags r:id="rId22"/>
            </p:custDataLst>
          </p:nvPr>
        </p:nvSpPr>
        <p:spPr>
          <a:xfrm>
            <a:off x="8787384" y="2084832"/>
            <a:ext cx="576072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1500" dirty="0"/>
          </a:p>
        </p:txBody>
      </p:sp>
      <p:sp>
        <p:nvSpPr>
          <p:cNvPr id="31" name="Shape 29"/>
          <p:cNvSpPr/>
          <p:nvPr>
            <p:custDataLst>
              <p:tags r:id="rId23"/>
            </p:custDataLst>
          </p:nvPr>
        </p:nvSpPr>
        <p:spPr>
          <a:xfrm>
            <a:off x="9372600" y="2212848"/>
            <a:ext cx="1307592" cy="0"/>
          </a:xfrm>
          <a:prstGeom prst="line">
            <a:avLst/>
          </a:prstGeom>
          <a:noFill/>
          <a:ln w="16510">
            <a:solidFill>
              <a:srgbClr val="ADC0DC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/>
          <p:nvPr>
            <p:custDataLst>
              <p:tags r:id="rId24"/>
            </p:custDataLst>
          </p:nvPr>
        </p:nvSpPr>
        <p:spPr>
          <a:xfrm>
            <a:off x="8302752" y="2743200"/>
            <a:ext cx="1563624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建立索引</a:t>
            </a:r>
            <a:endParaRPr lang="en-US" sz="1400" dirty="0"/>
          </a:p>
        </p:txBody>
      </p:sp>
      <p:sp>
        <p:nvSpPr>
          <p:cNvPr id="33" name="Text 31"/>
          <p:cNvSpPr/>
          <p:nvPr>
            <p:custDataLst>
              <p:tags r:id="rId25"/>
            </p:custDataLst>
          </p:nvPr>
        </p:nvSpPr>
        <p:spPr>
          <a:xfrm>
            <a:off x="8257032" y="3172968"/>
            <a:ext cx="1682496" cy="576072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Milvus 向量 / 图关系</a:t>
            </a:r>
            <a:endParaRPr lang="en-US" sz="1080" dirty="0"/>
          </a:p>
        </p:txBody>
      </p:sp>
      <p:sp>
        <p:nvSpPr>
          <p:cNvPr id="34" name="Shape 32"/>
          <p:cNvSpPr/>
          <p:nvPr>
            <p:custDataLst>
              <p:tags r:id="rId26"/>
            </p:custDataLst>
          </p:nvPr>
        </p:nvSpPr>
        <p:spPr>
          <a:xfrm>
            <a:off x="10707624" y="1920240"/>
            <a:ext cx="576072" cy="576072"/>
          </a:xfrm>
          <a:prstGeom prst="ellipse">
            <a:avLst/>
          </a:prstGeom>
          <a:solidFill>
            <a:srgbClr val="16AE9C"/>
          </a:solidFill>
          <a:ln w="12700">
            <a:solidFill>
              <a:srgbClr val="16AE9C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5" name="Text 33"/>
          <p:cNvSpPr/>
          <p:nvPr>
            <p:custDataLst>
              <p:tags r:id="rId27"/>
            </p:custDataLst>
          </p:nvPr>
        </p:nvSpPr>
        <p:spPr>
          <a:xfrm>
            <a:off x="10707624" y="2084832"/>
            <a:ext cx="576072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</a:t>
            </a:r>
            <a:endParaRPr lang="en-US" sz="1500" dirty="0"/>
          </a:p>
        </p:txBody>
      </p:sp>
      <p:sp>
        <p:nvSpPr>
          <p:cNvPr id="36" name="Text 34"/>
          <p:cNvSpPr/>
          <p:nvPr>
            <p:custDataLst>
              <p:tags r:id="rId28"/>
            </p:custDataLst>
          </p:nvPr>
        </p:nvSpPr>
        <p:spPr>
          <a:xfrm>
            <a:off x="10222992" y="2743200"/>
            <a:ext cx="1563624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可检索</a:t>
            </a:r>
            <a:endParaRPr lang="en-US" sz="1400" dirty="0"/>
          </a:p>
        </p:txBody>
      </p:sp>
      <p:sp>
        <p:nvSpPr>
          <p:cNvPr id="37" name="Text 35"/>
          <p:cNvSpPr/>
          <p:nvPr>
            <p:custDataLst>
              <p:tags r:id="rId29"/>
            </p:custDataLst>
          </p:nvPr>
        </p:nvSpPr>
        <p:spPr>
          <a:xfrm>
            <a:off x="10177272" y="3172968"/>
            <a:ext cx="1682496" cy="576072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状态更新 + 来源定位</a:t>
            </a:r>
            <a:endParaRPr lang="en-US" sz="1080" dirty="0"/>
          </a:p>
        </p:txBody>
      </p:sp>
      <p:sp>
        <p:nvSpPr>
          <p:cNvPr id="38" name="Shape 36"/>
          <p:cNvSpPr/>
          <p:nvPr/>
        </p:nvSpPr>
        <p:spPr>
          <a:xfrm>
            <a:off x="576072" y="4315968"/>
            <a:ext cx="11027664" cy="132588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9" name="Text 37"/>
          <p:cNvSpPr/>
          <p:nvPr/>
        </p:nvSpPr>
        <p:spPr>
          <a:xfrm>
            <a:off x="877824" y="4517136"/>
            <a:ext cx="210312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B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关键数据结构</a:t>
            </a:r>
            <a:endParaRPr lang="en-US" sz="1550" dirty="0"/>
          </a:p>
        </p:txBody>
      </p:sp>
      <p:sp>
        <p:nvSpPr>
          <p:cNvPr id="40" name="Shape 38"/>
          <p:cNvSpPr/>
          <p:nvPr/>
        </p:nvSpPr>
        <p:spPr>
          <a:xfrm>
            <a:off x="2962656" y="4535424"/>
            <a:ext cx="1362456" cy="283464"/>
          </a:xfrm>
          <a:prstGeom prst="roundRect">
            <a:avLst>
              <a:gd name="adj" fmla="val 41935"/>
            </a:avLst>
          </a:prstGeom>
          <a:solidFill>
            <a:srgbClr val="DCE5FF"/>
          </a:solidFill>
          <a:ln w="12700">
            <a:solidFill>
              <a:srgbClr val="DCE5FF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1" name="Text 39"/>
          <p:cNvSpPr/>
          <p:nvPr/>
        </p:nvSpPr>
        <p:spPr>
          <a:xfrm>
            <a:off x="3035808" y="4549140"/>
            <a:ext cx="1216152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26BE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documents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498848" y="4535424"/>
            <a:ext cx="987552" cy="283464"/>
          </a:xfrm>
          <a:prstGeom prst="roundRect">
            <a:avLst>
              <a:gd name="adj" fmla="val 41935"/>
            </a:avLst>
          </a:prstGeom>
          <a:solidFill>
            <a:srgbClr val="DCE5FF"/>
          </a:solidFill>
          <a:ln w="12700">
            <a:solidFill>
              <a:srgbClr val="DCE5FF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3" name="Text 41"/>
          <p:cNvSpPr/>
          <p:nvPr/>
        </p:nvSpPr>
        <p:spPr>
          <a:xfrm>
            <a:off x="4572000" y="4549140"/>
            <a:ext cx="84124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26BE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chunks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641848" y="4535424"/>
            <a:ext cx="2304288" cy="283464"/>
          </a:xfrm>
          <a:prstGeom prst="roundRect">
            <a:avLst>
              <a:gd name="adj" fmla="val 41935"/>
            </a:avLst>
          </a:prstGeom>
          <a:solidFill>
            <a:srgbClr val="D9F6F0"/>
          </a:solidFill>
          <a:ln w="12700">
            <a:solidFill>
              <a:srgbClr val="D9F6F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5" name="Text 43"/>
          <p:cNvSpPr/>
          <p:nvPr/>
        </p:nvSpPr>
        <p:spPr>
          <a:xfrm>
            <a:off x="5715000" y="4549140"/>
            <a:ext cx="2157984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AE9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stream:knowledge_events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110728" y="4535424"/>
            <a:ext cx="1920240" cy="283464"/>
          </a:xfrm>
          <a:prstGeom prst="roundRect">
            <a:avLst>
              <a:gd name="adj" fmla="val 41935"/>
            </a:avLst>
          </a:prstGeom>
          <a:solidFill>
            <a:srgbClr val="ECE8FC"/>
          </a:solidFill>
          <a:ln w="12700">
            <a:solidFill>
              <a:srgbClr val="ECE8FC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7" name="Text 45"/>
          <p:cNvSpPr/>
          <p:nvPr/>
        </p:nvSpPr>
        <p:spPr>
          <a:xfrm>
            <a:off x="8183880" y="4549140"/>
            <a:ext cx="1773936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71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knowledge_chunks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68680" y="5084064"/>
            <a:ext cx="996696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文件处理状态：已上传  →  解析中  →  索引中  →  可检索 / 失败待重试</a:t>
            </a:r>
            <a:endParaRPr lang="en-US" sz="12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526BEA"/>
          </a:solidFill>
          <a:ln w="12700">
            <a:solidFill>
              <a:srgbClr val="526BE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/>
          <p:nvPr/>
        </p:nvSpPr>
        <p:spPr>
          <a:xfrm>
            <a:off x="548640" y="310896"/>
            <a:ext cx="731520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26BE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 / 数据模型与协同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B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统一搜索：结构化匹配 + 语义召回 + 来源核验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16128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先完成可解释、可溯源的检索，再将 RAG 问答作为上层能力。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6528816"/>
            <a:ext cx="11091672" cy="0"/>
          </a:xfrm>
          <a:prstGeom prst="line">
            <a:avLst/>
          </a:prstGeom>
          <a:noFill/>
          <a:ln w="8890">
            <a:solidFill>
              <a:srgbClr val="E2EAF4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/>
          <p:nvPr/>
        </p:nvSpPr>
        <p:spPr>
          <a:xfrm>
            <a:off x="566928" y="6574536"/>
            <a:ext cx="658368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知序 KnowledgeHub  /  大数据管理课程项目</a:t>
            </a:r>
            <a:endParaRPr lang="en-US" sz="830" dirty="0"/>
          </a:p>
        </p:txBody>
      </p:sp>
      <p:sp>
        <p:nvSpPr>
          <p:cNvPr id="8" name="Text 6"/>
          <p:cNvSpPr/>
          <p:nvPr/>
        </p:nvSpPr>
        <p:spPr>
          <a:xfrm>
            <a:off x="11109960" y="6547104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13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57784" y="1728216"/>
            <a:ext cx="11045952" cy="585216"/>
          </a:xfrm>
          <a:prstGeom prst="roundRect">
            <a:avLst>
              <a:gd name="adj" fmla="val 20313"/>
            </a:avLst>
          </a:prstGeom>
          <a:solidFill>
            <a:srgbClr val="0C1428"/>
          </a:solidFill>
          <a:ln w="12700">
            <a:solidFill>
              <a:srgbClr val="0C1428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0" name="Text 8"/>
          <p:cNvSpPr/>
          <p:nvPr/>
        </p:nvSpPr>
        <p:spPr>
          <a:xfrm>
            <a:off x="859536" y="1847088"/>
            <a:ext cx="1042416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用户问题：“如何避免递归时重复计算相同子问题？”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66928" y="2578608"/>
            <a:ext cx="5413248" cy="1929384"/>
          </a:xfrm>
          <a:prstGeom prst="roundRect">
            <a:avLst>
              <a:gd name="adj" fmla="val 7583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2" name="Shape 10"/>
          <p:cNvSpPr/>
          <p:nvPr/>
        </p:nvSpPr>
        <p:spPr>
          <a:xfrm>
            <a:off x="813816" y="2798064"/>
            <a:ext cx="777240" cy="283464"/>
          </a:xfrm>
          <a:prstGeom prst="roundRect">
            <a:avLst>
              <a:gd name="adj" fmla="val 41935"/>
            </a:avLst>
          </a:prstGeom>
          <a:solidFill>
            <a:srgbClr val="DCE5FF"/>
          </a:solidFill>
          <a:ln w="12700">
            <a:solidFill>
              <a:srgbClr val="DCE5FF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3" name="Text 11"/>
          <p:cNvSpPr/>
          <p:nvPr/>
        </p:nvSpPr>
        <p:spPr>
          <a:xfrm>
            <a:off x="886968" y="2811780"/>
            <a:ext cx="630936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26BE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路径 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728216" y="2788920"/>
            <a:ext cx="4014216" cy="3383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B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结构化与关键词检索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50392" y="3310128"/>
            <a:ext cx="4690872" cy="64008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MongoDB：知识库、标签、标题、元数据等过滤与查询</a:t>
            </a:r>
            <a:endParaRPr lang="en-US" sz="1320" dirty="0"/>
          </a:p>
        </p:txBody>
      </p:sp>
      <p:sp>
        <p:nvSpPr>
          <p:cNvPr id="16" name="Shape 14"/>
          <p:cNvSpPr/>
          <p:nvPr/>
        </p:nvSpPr>
        <p:spPr>
          <a:xfrm>
            <a:off x="6199632" y="2578608"/>
            <a:ext cx="5413248" cy="1929384"/>
          </a:xfrm>
          <a:prstGeom prst="roundRect">
            <a:avLst>
              <a:gd name="adj" fmla="val 7583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7" name="Shape 15"/>
          <p:cNvSpPr/>
          <p:nvPr/>
        </p:nvSpPr>
        <p:spPr>
          <a:xfrm>
            <a:off x="6446520" y="2798064"/>
            <a:ext cx="777240" cy="283464"/>
          </a:xfrm>
          <a:prstGeom prst="roundRect">
            <a:avLst>
              <a:gd name="adj" fmla="val 41935"/>
            </a:avLst>
          </a:prstGeom>
          <a:solidFill>
            <a:srgbClr val="D9F6F0"/>
          </a:solidFill>
          <a:ln w="12700">
            <a:solidFill>
              <a:srgbClr val="D9F6F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8" name="Text 16"/>
          <p:cNvSpPr/>
          <p:nvPr/>
        </p:nvSpPr>
        <p:spPr>
          <a:xfrm>
            <a:off x="6519672" y="2811780"/>
            <a:ext cx="630936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AE9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路径 B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70064" y="2788920"/>
            <a:ext cx="3977640" cy="3383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B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Milvus 向量检索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473952" y="3310128"/>
            <a:ext cx="4690872" cy="64008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Milvus：Query → Embedding → Top-K 向量召回</a:t>
            </a:r>
            <a:endParaRPr lang="en-US" sz="1320" dirty="0"/>
          </a:p>
        </p:txBody>
      </p:sp>
      <p:sp>
        <p:nvSpPr>
          <p:cNvPr id="21" name="Shape 19"/>
          <p:cNvSpPr/>
          <p:nvPr/>
        </p:nvSpPr>
        <p:spPr>
          <a:xfrm>
            <a:off x="3264408" y="4535424"/>
            <a:ext cx="1883664" cy="356616"/>
          </a:xfrm>
          <a:prstGeom prst="line">
            <a:avLst/>
          </a:prstGeom>
          <a:noFill/>
          <a:ln w="19050">
            <a:solidFill>
              <a:srgbClr val="526BE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2" name="Shape 20"/>
          <p:cNvSpPr/>
          <p:nvPr/>
        </p:nvSpPr>
        <p:spPr>
          <a:xfrm>
            <a:off x="7013448" y="4535424"/>
            <a:ext cx="1883664" cy="356616"/>
          </a:xfrm>
          <a:prstGeom prst="line">
            <a:avLst/>
          </a:prstGeom>
          <a:noFill/>
          <a:ln w="19050">
            <a:solidFill>
              <a:srgbClr val="16AE9C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3" name="Shape 21"/>
          <p:cNvSpPr/>
          <p:nvPr/>
        </p:nvSpPr>
        <p:spPr>
          <a:xfrm>
            <a:off x="2770632" y="5010912"/>
            <a:ext cx="6656832" cy="896112"/>
          </a:xfrm>
          <a:prstGeom prst="roundRect">
            <a:avLst>
              <a:gd name="adj" fmla="val 15306"/>
            </a:avLst>
          </a:prstGeom>
          <a:solidFill>
            <a:srgbClr val="E8F0FE"/>
          </a:solidFill>
          <a:ln w="12700">
            <a:solidFill>
              <a:srgbClr val="D4E2F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4" name="Text 22"/>
          <p:cNvSpPr/>
          <p:nvPr/>
        </p:nvSpPr>
        <p:spPr>
          <a:xfrm>
            <a:off x="3063240" y="5184648"/>
            <a:ext cx="608076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30" b="1" dirty="0">
                <a:solidFill>
                  <a:srgbClr val="1B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融合排序 · 权限校验 · 版本核验 · 原文定位</a:t>
            </a:r>
            <a:endParaRPr lang="en-US" sz="1630" dirty="0"/>
          </a:p>
        </p:txBody>
      </p:sp>
      <p:sp>
        <p:nvSpPr>
          <p:cNvPr id="25" name="Shape 23"/>
          <p:cNvSpPr/>
          <p:nvPr/>
        </p:nvSpPr>
        <p:spPr>
          <a:xfrm>
            <a:off x="3703320" y="6099048"/>
            <a:ext cx="4892040" cy="283464"/>
          </a:xfrm>
          <a:prstGeom prst="roundRect">
            <a:avLst>
              <a:gd name="adj" fmla="val 41935"/>
            </a:avLst>
          </a:prstGeom>
          <a:solidFill>
            <a:srgbClr val="ECE8FC"/>
          </a:solidFill>
          <a:ln w="12700">
            <a:solidFill>
              <a:srgbClr val="ECE8FC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Text 24"/>
          <p:cNvSpPr/>
          <p:nvPr/>
        </p:nvSpPr>
        <p:spPr>
          <a:xfrm>
            <a:off x="3776472" y="6112764"/>
            <a:ext cx="4745736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71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P1：Milvus BM25 + Dense 混合检索 → RAG 生成引用回答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16AE9C"/>
          </a:solidFill>
          <a:ln w="12700">
            <a:solidFill>
              <a:srgbClr val="16AE9C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/>
          <p:nvPr/>
        </p:nvSpPr>
        <p:spPr>
          <a:xfrm>
            <a:off x="548640" y="310896"/>
            <a:ext cx="914400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70F1D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 / 关键技术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跨库一致性：Transactional Outbox + Redis Streams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207008"/>
            <a:ext cx="1097280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B5C2D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多库之间不假设存在全局事务；采用至少一次交付、幂等更新与最终一致性。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6528816"/>
            <a:ext cx="11091672" cy="0"/>
          </a:xfrm>
          <a:prstGeom prst="line">
            <a:avLst/>
          </a:prstGeom>
          <a:noFill/>
          <a:ln w="8890">
            <a:solidFill>
              <a:srgbClr val="34405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/>
          <p:nvPr/>
        </p:nvSpPr>
        <p:spPr>
          <a:xfrm>
            <a:off x="566928" y="6574536"/>
            <a:ext cx="658368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8291B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知序 KnowledgeHub  /  大数据管理课程项目</a:t>
            </a:r>
            <a:endParaRPr lang="en-US" sz="830" dirty="0"/>
          </a:p>
        </p:txBody>
      </p:sp>
      <p:sp>
        <p:nvSpPr>
          <p:cNvPr id="8" name="Text 6"/>
          <p:cNvSpPr/>
          <p:nvPr/>
        </p:nvSpPr>
        <p:spPr>
          <a:xfrm>
            <a:off x="11109960" y="6547104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D4DEE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14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85216" y="1965960"/>
            <a:ext cx="2130552" cy="1691640"/>
          </a:xfrm>
          <a:prstGeom prst="roundRect">
            <a:avLst>
              <a:gd name="adj" fmla="val 8108"/>
            </a:avLst>
          </a:prstGeom>
          <a:solidFill>
            <a:srgbClr val="1B2B49"/>
          </a:solidFill>
          <a:ln w="12700">
            <a:solidFill>
              <a:srgbClr val="43577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0" name="Shape 8"/>
          <p:cNvSpPr/>
          <p:nvPr/>
        </p:nvSpPr>
        <p:spPr>
          <a:xfrm>
            <a:off x="749808" y="2157984"/>
            <a:ext cx="429768" cy="429768"/>
          </a:xfrm>
          <a:prstGeom prst="ellipse">
            <a:avLst/>
          </a:prstGeom>
          <a:solidFill>
            <a:srgbClr val="526BEA"/>
          </a:solidFill>
          <a:ln w="12700">
            <a:solidFill>
              <a:srgbClr val="526BE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1" name="Text 9"/>
          <p:cNvSpPr/>
          <p:nvPr/>
        </p:nvSpPr>
        <p:spPr>
          <a:xfrm>
            <a:off x="749808" y="2276856"/>
            <a:ext cx="429768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49808" y="2743200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3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MongoDB 事务</a:t>
            </a:r>
            <a:endParaRPr lang="en-US" sz="1430" dirty="0"/>
          </a:p>
        </p:txBody>
      </p:sp>
      <p:sp>
        <p:nvSpPr>
          <p:cNvPr id="13" name="Text 11"/>
          <p:cNvSpPr/>
          <p:nvPr/>
        </p:nvSpPr>
        <p:spPr>
          <a:xfrm>
            <a:off x="749808" y="3145536"/>
            <a:ext cx="1819656" cy="338328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B7C7E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保存笔记 + Outbox</a:t>
            </a:r>
            <a:endParaRPr lang="en-US" sz="1070" dirty="0"/>
          </a:p>
        </p:txBody>
      </p:sp>
      <p:sp>
        <p:nvSpPr>
          <p:cNvPr id="14" name="Shape 12"/>
          <p:cNvSpPr/>
          <p:nvPr/>
        </p:nvSpPr>
        <p:spPr>
          <a:xfrm>
            <a:off x="2724912" y="2807208"/>
            <a:ext cx="182880" cy="0"/>
          </a:xfrm>
          <a:prstGeom prst="line">
            <a:avLst/>
          </a:prstGeom>
          <a:noFill/>
          <a:ln w="25400">
            <a:solidFill>
              <a:srgbClr val="B7C7E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5" name="Shape 13"/>
          <p:cNvSpPr/>
          <p:nvPr/>
        </p:nvSpPr>
        <p:spPr>
          <a:xfrm>
            <a:off x="2935224" y="1965960"/>
            <a:ext cx="2130552" cy="1691640"/>
          </a:xfrm>
          <a:prstGeom prst="roundRect">
            <a:avLst>
              <a:gd name="adj" fmla="val 8108"/>
            </a:avLst>
          </a:prstGeom>
          <a:solidFill>
            <a:srgbClr val="1B2B49"/>
          </a:solidFill>
          <a:ln w="12700">
            <a:solidFill>
              <a:srgbClr val="43577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6" name="Shape 14"/>
          <p:cNvSpPr/>
          <p:nvPr/>
        </p:nvSpPr>
        <p:spPr>
          <a:xfrm>
            <a:off x="3099816" y="2157984"/>
            <a:ext cx="429768" cy="429768"/>
          </a:xfrm>
          <a:prstGeom prst="ellipse">
            <a:avLst/>
          </a:prstGeom>
          <a:solidFill>
            <a:srgbClr val="16AE9C"/>
          </a:solidFill>
          <a:ln w="12700">
            <a:solidFill>
              <a:srgbClr val="16AE9C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7" name="Text 15"/>
          <p:cNvSpPr/>
          <p:nvPr/>
        </p:nvSpPr>
        <p:spPr>
          <a:xfrm>
            <a:off x="3099816" y="2276856"/>
            <a:ext cx="429768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099816" y="2743200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3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Outbox 发布器</a:t>
            </a:r>
            <a:endParaRPr lang="en-US" sz="1430" dirty="0"/>
          </a:p>
        </p:txBody>
      </p:sp>
      <p:sp>
        <p:nvSpPr>
          <p:cNvPr id="19" name="Text 17"/>
          <p:cNvSpPr/>
          <p:nvPr/>
        </p:nvSpPr>
        <p:spPr>
          <a:xfrm>
            <a:off x="3099816" y="3145536"/>
            <a:ext cx="1819656" cy="338328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B7C7E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读取待发事件</a:t>
            </a:r>
            <a:endParaRPr lang="en-US" sz="1070" dirty="0"/>
          </a:p>
        </p:txBody>
      </p:sp>
      <p:sp>
        <p:nvSpPr>
          <p:cNvPr id="20" name="Shape 18"/>
          <p:cNvSpPr/>
          <p:nvPr/>
        </p:nvSpPr>
        <p:spPr>
          <a:xfrm>
            <a:off x="5074920" y="2807208"/>
            <a:ext cx="182880" cy="0"/>
          </a:xfrm>
          <a:prstGeom prst="line">
            <a:avLst/>
          </a:prstGeom>
          <a:noFill/>
          <a:ln w="25400">
            <a:solidFill>
              <a:srgbClr val="B7C7E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1" name="Shape 19"/>
          <p:cNvSpPr/>
          <p:nvPr/>
        </p:nvSpPr>
        <p:spPr>
          <a:xfrm>
            <a:off x="5285232" y="1965960"/>
            <a:ext cx="2130552" cy="1691640"/>
          </a:xfrm>
          <a:prstGeom prst="roundRect">
            <a:avLst>
              <a:gd name="adj" fmla="val 8108"/>
            </a:avLst>
          </a:prstGeom>
          <a:solidFill>
            <a:srgbClr val="1B2B49"/>
          </a:solidFill>
          <a:ln w="12700">
            <a:solidFill>
              <a:srgbClr val="43577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2" name="Shape 20"/>
          <p:cNvSpPr/>
          <p:nvPr/>
        </p:nvSpPr>
        <p:spPr>
          <a:xfrm>
            <a:off x="5449824" y="2157984"/>
            <a:ext cx="429768" cy="429768"/>
          </a:xfrm>
          <a:prstGeom prst="ellipse">
            <a:avLst/>
          </a:prstGeom>
          <a:solidFill>
            <a:srgbClr val="8B71E8"/>
          </a:solidFill>
          <a:ln w="12700">
            <a:solidFill>
              <a:srgbClr val="8B71E8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3" name="Text 21"/>
          <p:cNvSpPr/>
          <p:nvPr/>
        </p:nvSpPr>
        <p:spPr>
          <a:xfrm>
            <a:off x="5449824" y="2276856"/>
            <a:ext cx="429768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49824" y="2743200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3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Redis Streams</a:t>
            </a:r>
            <a:endParaRPr lang="en-US" sz="1430" dirty="0"/>
          </a:p>
        </p:txBody>
      </p:sp>
      <p:sp>
        <p:nvSpPr>
          <p:cNvPr id="25" name="Text 23"/>
          <p:cNvSpPr/>
          <p:nvPr/>
        </p:nvSpPr>
        <p:spPr>
          <a:xfrm>
            <a:off x="5449824" y="3145536"/>
            <a:ext cx="1819656" cy="338328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B7C7E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发布至两个消费组</a:t>
            </a:r>
            <a:endParaRPr lang="en-US" sz="1070" dirty="0"/>
          </a:p>
        </p:txBody>
      </p:sp>
      <p:sp>
        <p:nvSpPr>
          <p:cNvPr id="26" name="Shape 24"/>
          <p:cNvSpPr/>
          <p:nvPr/>
        </p:nvSpPr>
        <p:spPr>
          <a:xfrm>
            <a:off x="7424928" y="2807208"/>
            <a:ext cx="182880" cy="0"/>
          </a:xfrm>
          <a:prstGeom prst="line">
            <a:avLst/>
          </a:prstGeom>
          <a:noFill/>
          <a:ln w="25400">
            <a:solidFill>
              <a:srgbClr val="B7C7E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Shape 25"/>
          <p:cNvSpPr/>
          <p:nvPr/>
        </p:nvSpPr>
        <p:spPr>
          <a:xfrm>
            <a:off x="7635240" y="1965960"/>
            <a:ext cx="2130552" cy="1691640"/>
          </a:xfrm>
          <a:prstGeom prst="roundRect">
            <a:avLst>
              <a:gd name="adj" fmla="val 8108"/>
            </a:avLst>
          </a:prstGeom>
          <a:solidFill>
            <a:srgbClr val="1B2B49"/>
          </a:solidFill>
          <a:ln w="12700">
            <a:solidFill>
              <a:srgbClr val="43577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8" name="Shape 26"/>
          <p:cNvSpPr/>
          <p:nvPr/>
        </p:nvSpPr>
        <p:spPr>
          <a:xfrm>
            <a:off x="7799832" y="2157984"/>
            <a:ext cx="429768" cy="429768"/>
          </a:xfrm>
          <a:prstGeom prst="ellipse">
            <a:avLst/>
          </a:prstGeom>
          <a:solidFill>
            <a:srgbClr val="EFA942"/>
          </a:solidFill>
          <a:ln w="12700">
            <a:solidFill>
              <a:srgbClr val="EFA942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9" name="Text 27"/>
          <p:cNvSpPr/>
          <p:nvPr/>
        </p:nvSpPr>
        <p:spPr>
          <a:xfrm>
            <a:off x="7799832" y="2276856"/>
            <a:ext cx="429768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799832" y="2743200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3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索引 Worker</a:t>
            </a:r>
            <a:endParaRPr lang="en-US" sz="1430" dirty="0"/>
          </a:p>
        </p:txBody>
      </p:sp>
      <p:sp>
        <p:nvSpPr>
          <p:cNvPr id="31" name="Text 29"/>
          <p:cNvSpPr/>
          <p:nvPr/>
        </p:nvSpPr>
        <p:spPr>
          <a:xfrm>
            <a:off x="7799832" y="3145536"/>
            <a:ext cx="1819656" cy="338328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B7C7E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解析 / 更新 / 重试</a:t>
            </a:r>
            <a:endParaRPr lang="en-US" sz="1070" dirty="0"/>
          </a:p>
        </p:txBody>
      </p:sp>
      <p:sp>
        <p:nvSpPr>
          <p:cNvPr id="32" name="Shape 30"/>
          <p:cNvSpPr/>
          <p:nvPr/>
        </p:nvSpPr>
        <p:spPr>
          <a:xfrm>
            <a:off x="9774936" y="2807208"/>
            <a:ext cx="182880" cy="0"/>
          </a:xfrm>
          <a:prstGeom prst="line">
            <a:avLst/>
          </a:prstGeom>
          <a:noFill/>
          <a:ln w="25400">
            <a:solidFill>
              <a:srgbClr val="B7C7E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3" name="Shape 31"/>
          <p:cNvSpPr/>
          <p:nvPr/>
        </p:nvSpPr>
        <p:spPr>
          <a:xfrm>
            <a:off x="9985248" y="1965960"/>
            <a:ext cx="2130552" cy="1691640"/>
          </a:xfrm>
          <a:prstGeom prst="roundRect">
            <a:avLst>
              <a:gd name="adj" fmla="val 8108"/>
            </a:avLst>
          </a:prstGeom>
          <a:solidFill>
            <a:srgbClr val="1B2B49"/>
          </a:solidFill>
          <a:ln w="12700">
            <a:solidFill>
              <a:srgbClr val="43577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4" name="Shape 32"/>
          <p:cNvSpPr/>
          <p:nvPr/>
        </p:nvSpPr>
        <p:spPr>
          <a:xfrm>
            <a:off x="10149840" y="2157984"/>
            <a:ext cx="429768" cy="429768"/>
          </a:xfrm>
          <a:prstGeom prst="ellipse">
            <a:avLst/>
          </a:prstGeom>
          <a:solidFill>
            <a:srgbClr val="526BEA"/>
          </a:solidFill>
          <a:ln w="12700">
            <a:solidFill>
              <a:srgbClr val="526BE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5" name="Text 33"/>
          <p:cNvSpPr/>
          <p:nvPr/>
        </p:nvSpPr>
        <p:spPr>
          <a:xfrm>
            <a:off x="10149840" y="2276856"/>
            <a:ext cx="429768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0149840" y="2743200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3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派生索引</a:t>
            </a:r>
            <a:endParaRPr lang="en-US" sz="1430" dirty="0"/>
          </a:p>
        </p:txBody>
      </p:sp>
      <p:sp>
        <p:nvSpPr>
          <p:cNvPr id="37" name="Text 35"/>
          <p:cNvSpPr/>
          <p:nvPr/>
        </p:nvSpPr>
        <p:spPr>
          <a:xfrm>
            <a:off x="10149840" y="3145536"/>
            <a:ext cx="1819656" cy="338328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B7C7E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Neo4j + Milvus</a:t>
            </a:r>
            <a:endParaRPr lang="en-US" sz="1070" dirty="0"/>
          </a:p>
        </p:txBody>
      </p:sp>
      <p:sp>
        <p:nvSpPr>
          <p:cNvPr id="38" name="Shape 36"/>
          <p:cNvSpPr/>
          <p:nvPr/>
        </p:nvSpPr>
        <p:spPr>
          <a:xfrm>
            <a:off x="585216" y="4151376"/>
            <a:ext cx="11018520" cy="1344168"/>
          </a:xfrm>
          <a:prstGeom prst="roundRect">
            <a:avLst>
              <a:gd name="adj" fmla="val 9524"/>
            </a:avLst>
          </a:prstGeom>
          <a:solidFill>
            <a:srgbClr val="172742"/>
          </a:solidFill>
          <a:ln w="12700">
            <a:solidFill>
              <a:srgbClr val="284361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9" name="Text 37"/>
          <p:cNvSpPr/>
          <p:nvPr/>
        </p:nvSpPr>
        <p:spPr>
          <a:xfrm>
            <a:off x="813816" y="4389120"/>
            <a:ext cx="2487168" cy="2834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83F0D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可靠发布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813816" y="4800600"/>
            <a:ext cx="2505456" cy="429768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C9D5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同一事务写入业务数据和事件</a:t>
            </a:r>
            <a:endParaRPr lang="en-US" sz="1080" dirty="0"/>
          </a:p>
        </p:txBody>
      </p:sp>
      <p:sp>
        <p:nvSpPr>
          <p:cNvPr id="41" name="Text 39"/>
          <p:cNvSpPr/>
          <p:nvPr/>
        </p:nvSpPr>
        <p:spPr>
          <a:xfrm>
            <a:off x="3557016" y="4389120"/>
            <a:ext cx="2487168" cy="2834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83F0D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可重试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3557016" y="4800600"/>
            <a:ext cx="2505456" cy="429768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C9D5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消费者成功后 XACK；失败重领</a:t>
            </a:r>
            <a:endParaRPr lang="en-US" sz="1080" dirty="0"/>
          </a:p>
        </p:txBody>
      </p:sp>
      <p:sp>
        <p:nvSpPr>
          <p:cNvPr id="43" name="Text 41"/>
          <p:cNvSpPr/>
          <p:nvPr/>
        </p:nvSpPr>
        <p:spPr>
          <a:xfrm>
            <a:off x="6300216" y="4389120"/>
            <a:ext cx="2487168" cy="2834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83F0D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幂等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6300216" y="4800600"/>
            <a:ext cx="2505456" cy="429768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C9D5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事件 ID / 稳定向量主键 / MERGE</a:t>
            </a:r>
            <a:endParaRPr lang="en-US" sz="1080" dirty="0"/>
          </a:p>
        </p:txBody>
      </p:sp>
      <p:sp>
        <p:nvSpPr>
          <p:cNvPr id="45" name="Text 43"/>
          <p:cNvSpPr/>
          <p:nvPr/>
        </p:nvSpPr>
        <p:spPr>
          <a:xfrm>
            <a:off x="9043416" y="4389120"/>
            <a:ext cx="2487168" cy="2834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83F0D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防乱序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9043416" y="4800600"/>
            <a:ext cx="2505456" cy="429768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C9D5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检查 content_version 与当前状态</a:t>
            </a:r>
            <a:endParaRPr lang="en-US" sz="1080" dirty="0"/>
          </a:p>
        </p:txBody>
      </p:sp>
      <p:sp>
        <p:nvSpPr>
          <p:cNvPr id="47" name="Text 45"/>
          <p:cNvSpPr/>
          <p:nvPr/>
        </p:nvSpPr>
        <p:spPr>
          <a:xfrm>
            <a:off x="740664" y="5879592"/>
            <a:ext cx="10917936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E8EFF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故障原则：MongoDB 是权威源；派生索引允许短暂落后，但必须能追踪、补偿和恢复。</a:t>
            </a:r>
            <a:endParaRPr lang="en-US" sz="13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526BEA"/>
          </a:solidFill>
          <a:ln w="12700">
            <a:solidFill>
              <a:srgbClr val="526BE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/>
          <p:nvPr/>
        </p:nvSpPr>
        <p:spPr>
          <a:xfrm>
            <a:off x="548640" y="310896"/>
            <a:ext cx="731520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26BE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 / 主要技术与部署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B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技术选型：少而稳的工程边界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16128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选择成熟工具组合，优先保证在个人电脑上可重复部署。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6528816"/>
            <a:ext cx="11091672" cy="0"/>
          </a:xfrm>
          <a:prstGeom prst="line">
            <a:avLst/>
          </a:prstGeom>
          <a:noFill/>
          <a:ln w="8890">
            <a:solidFill>
              <a:srgbClr val="E2EAF4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/>
          <p:nvPr/>
        </p:nvSpPr>
        <p:spPr>
          <a:xfrm>
            <a:off x="566928" y="6574536"/>
            <a:ext cx="658368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知序 KnowledgeHub  /  大数据管理课程项目</a:t>
            </a:r>
            <a:endParaRPr lang="en-US" sz="830" dirty="0"/>
          </a:p>
        </p:txBody>
      </p:sp>
      <p:sp>
        <p:nvSpPr>
          <p:cNvPr id="8" name="Text 6"/>
          <p:cNvSpPr/>
          <p:nvPr/>
        </p:nvSpPr>
        <p:spPr>
          <a:xfrm>
            <a:off x="11109960" y="6547104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15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94360" y="1755648"/>
            <a:ext cx="7406640" cy="859536"/>
          </a:xfrm>
          <a:prstGeom prst="roundRect">
            <a:avLst>
              <a:gd name="adj" fmla="val 13830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0" name="Shape 8"/>
          <p:cNvSpPr/>
          <p:nvPr/>
        </p:nvSpPr>
        <p:spPr>
          <a:xfrm>
            <a:off x="594360" y="1755648"/>
            <a:ext cx="73152" cy="859536"/>
          </a:xfrm>
          <a:prstGeom prst="rect">
            <a:avLst/>
          </a:prstGeom>
          <a:solidFill>
            <a:srgbClr val="526BEA"/>
          </a:solidFill>
          <a:ln w="12700">
            <a:solidFill>
              <a:srgbClr val="526BE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1" name="Text 9"/>
          <p:cNvSpPr/>
          <p:nvPr/>
        </p:nvSpPr>
        <p:spPr>
          <a:xfrm>
            <a:off x="850392" y="1874520"/>
            <a:ext cx="1426464" cy="3017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60" b="1" dirty="0">
                <a:solidFill>
                  <a:srgbClr val="1B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前端呈现</a:t>
            </a:r>
            <a:endParaRPr lang="en-US" sz="1460" dirty="0"/>
          </a:p>
        </p:txBody>
      </p:sp>
      <p:sp>
        <p:nvSpPr>
          <p:cNvPr id="12" name="Text 10"/>
          <p:cNvSpPr/>
          <p:nvPr/>
        </p:nvSpPr>
        <p:spPr>
          <a:xfrm>
            <a:off x="2240280" y="1865376"/>
            <a:ext cx="5458968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130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Vue 3 + TypeScript + Vite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240280" y="2240280"/>
            <a:ext cx="5431536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Element Plus · TipTap · Cytoscape.js · ECharts</a:t>
            </a:r>
            <a:endParaRPr lang="en-US" sz="1060" dirty="0"/>
          </a:p>
        </p:txBody>
      </p:sp>
      <p:sp>
        <p:nvSpPr>
          <p:cNvPr id="14" name="Shape 12"/>
          <p:cNvSpPr/>
          <p:nvPr/>
        </p:nvSpPr>
        <p:spPr>
          <a:xfrm>
            <a:off x="594360" y="2779776"/>
            <a:ext cx="7406640" cy="859536"/>
          </a:xfrm>
          <a:prstGeom prst="roundRect">
            <a:avLst>
              <a:gd name="adj" fmla="val 13830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5" name="Shape 13"/>
          <p:cNvSpPr/>
          <p:nvPr/>
        </p:nvSpPr>
        <p:spPr>
          <a:xfrm>
            <a:off x="594360" y="2779776"/>
            <a:ext cx="73152" cy="859536"/>
          </a:xfrm>
          <a:prstGeom prst="rect">
            <a:avLst/>
          </a:prstGeom>
          <a:solidFill>
            <a:srgbClr val="16AE9C"/>
          </a:solidFill>
          <a:ln w="12700">
            <a:solidFill>
              <a:srgbClr val="16AE9C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6" name="Text 14"/>
          <p:cNvSpPr/>
          <p:nvPr/>
        </p:nvSpPr>
        <p:spPr>
          <a:xfrm>
            <a:off x="850392" y="2898648"/>
            <a:ext cx="1426464" cy="3017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60" b="1" dirty="0">
                <a:solidFill>
                  <a:srgbClr val="1B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后端服务</a:t>
            </a:r>
            <a:endParaRPr lang="en-US" sz="1460" dirty="0"/>
          </a:p>
        </p:txBody>
      </p:sp>
      <p:sp>
        <p:nvSpPr>
          <p:cNvPr id="17" name="Text 15"/>
          <p:cNvSpPr/>
          <p:nvPr/>
        </p:nvSpPr>
        <p:spPr>
          <a:xfrm>
            <a:off x="2240280" y="2889504"/>
            <a:ext cx="5458968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130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FastAPI + Pydantic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240280" y="3264408"/>
            <a:ext cx="5431536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PyMongo Async · redis-py · Neo4j Driver · PyMilvus</a:t>
            </a:r>
            <a:endParaRPr lang="en-US" sz="1060" dirty="0"/>
          </a:p>
        </p:txBody>
      </p:sp>
      <p:sp>
        <p:nvSpPr>
          <p:cNvPr id="19" name="Shape 17"/>
          <p:cNvSpPr/>
          <p:nvPr/>
        </p:nvSpPr>
        <p:spPr>
          <a:xfrm>
            <a:off x="594360" y="3803904"/>
            <a:ext cx="7406640" cy="859536"/>
          </a:xfrm>
          <a:prstGeom prst="roundRect">
            <a:avLst>
              <a:gd name="adj" fmla="val 13830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0" name="Shape 18"/>
          <p:cNvSpPr/>
          <p:nvPr/>
        </p:nvSpPr>
        <p:spPr>
          <a:xfrm>
            <a:off x="594360" y="3803904"/>
            <a:ext cx="73152" cy="859536"/>
          </a:xfrm>
          <a:prstGeom prst="rect">
            <a:avLst/>
          </a:prstGeom>
          <a:solidFill>
            <a:srgbClr val="8B71E8"/>
          </a:solidFill>
          <a:ln w="12700">
            <a:solidFill>
              <a:srgbClr val="8B71E8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1" name="Text 19"/>
          <p:cNvSpPr/>
          <p:nvPr/>
        </p:nvSpPr>
        <p:spPr>
          <a:xfrm>
            <a:off x="850392" y="3922776"/>
            <a:ext cx="1426464" cy="3017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60" b="1" dirty="0">
                <a:solidFill>
                  <a:srgbClr val="1B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文本智能</a:t>
            </a:r>
            <a:endParaRPr lang="en-US" sz="1460" dirty="0"/>
          </a:p>
        </p:txBody>
      </p:sp>
      <p:sp>
        <p:nvSpPr>
          <p:cNvPr id="22" name="Text 20"/>
          <p:cNvSpPr/>
          <p:nvPr/>
        </p:nvSpPr>
        <p:spPr>
          <a:xfrm>
            <a:off x="2240280" y="3913632"/>
            <a:ext cx="5458968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130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PyMuPDF + python-docx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240280" y="4288536"/>
            <a:ext cx="5431536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中文 Embedding 模型 · 可选 LLM / RAG</a:t>
            </a:r>
            <a:endParaRPr lang="en-US" sz="1060" dirty="0"/>
          </a:p>
        </p:txBody>
      </p:sp>
      <p:sp>
        <p:nvSpPr>
          <p:cNvPr id="24" name="Shape 22"/>
          <p:cNvSpPr/>
          <p:nvPr/>
        </p:nvSpPr>
        <p:spPr>
          <a:xfrm>
            <a:off x="594360" y="4828032"/>
            <a:ext cx="7406640" cy="859536"/>
          </a:xfrm>
          <a:prstGeom prst="roundRect">
            <a:avLst>
              <a:gd name="adj" fmla="val 13830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5" name="Shape 23"/>
          <p:cNvSpPr/>
          <p:nvPr/>
        </p:nvSpPr>
        <p:spPr>
          <a:xfrm>
            <a:off x="594360" y="4828032"/>
            <a:ext cx="73152" cy="859536"/>
          </a:xfrm>
          <a:prstGeom prst="rect">
            <a:avLst/>
          </a:prstGeom>
          <a:solidFill>
            <a:srgbClr val="EFA942"/>
          </a:solidFill>
          <a:ln w="12700">
            <a:solidFill>
              <a:srgbClr val="EFA942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Text 24"/>
          <p:cNvSpPr/>
          <p:nvPr/>
        </p:nvSpPr>
        <p:spPr>
          <a:xfrm>
            <a:off x="850392" y="4946904"/>
            <a:ext cx="1426464" cy="3017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60" b="1" dirty="0">
                <a:solidFill>
                  <a:srgbClr val="1B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部署测试</a:t>
            </a:r>
            <a:endParaRPr lang="en-US" sz="1460" dirty="0"/>
          </a:p>
        </p:txBody>
      </p:sp>
      <p:sp>
        <p:nvSpPr>
          <p:cNvPr id="27" name="Text 25"/>
          <p:cNvSpPr/>
          <p:nvPr/>
        </p:nvSpPr>
        <p:spPr>
          <a:xfrm>
            <a:off x="2240280" y="4937760"/>
            <a:ext cx="5458968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130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Docker Compose + pytest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240280" y="5312664"/>
            <a:ext cx="5431536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Locust · 数据生成器 · 实验 CSV / 图表</a:t>
            </a:r>
            <a:endParaRPr lang="en-US" sz="1060" dirty="0"/>
          </a:p>
        </p:txBody>
      </p:sp>
      <p:sp>
        <p:nvSpPr>
          <p:cNvPr id="29" name="Shape 27"/>
          <p:cNvSpPr/>
          <p:nvPr/>
        </p:nvSpPr>
        <p:spPr>
          <a:xfrm>
            <a:off x="8247888" y="1755648"/>
            <a:ext cx="3337560" cy="3931920"/>
          </a:xfrm>
          <a:prstGeom prst="roundRect">
            <a:avLst>
              <a:gd name="adj" fmla="val 4110"/>
            </a:avLst>
          </a:prstGeom>
          <a:solidFill>
            <a:srgbClr val="0C1428"/>
          </a:solidFill>
          <a:ln w="12700">
            <a:solidFill>
              <a:srgbClr val="0C1428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0" name="Text 28"/>
          <p:cNvSpPr/>
          <p:nvPr/>
        </p:nvSpPr>
        <p:spPr>
          <a:xfrm>
            <a:off x="8540496" y="2057400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部署形态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8540496" y="2624328"/>
            <a:ext cx="2706624" cy="448056"/>
          </a:xfrm>
          <a:prstGeom prst="roundRect">
            <a:avLst>
              <a:gd name="adj" fmla="val 18367"/>
            </a:avLst>
          </a:prstGeom>
          <a:solidFill>
            <a:srgbClr val="24395C"/>
          </a:solidFill>
          <a:ln w="12700">
            <a:solidFill>
              <a:srgbClr val="3E587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/>
          <p:nvPr/>
        </p:nvSpPr>
        <p:spPr>
          <a:xfrm>
            <a:off x="8659368" y="2734056"/>
            <a:ext cx="2450592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前端 / FastAPI</a:t>
            </a:r>
            <a:endParaRPr lang="en-US" sz="1130" dirty="0"/>
          </a:p>
        </p:txBody>
      </p:sp>
      <p:sp>
        <p:nvSpPr>
          <p:cNvPr id="33" name="Shape 31"/>
          <p:cNvSpPr/>
          <p:nvPr/>
        </p:nvSpPr>
        <p:spPr>
          <a:xfrm>
            <a:off x="8540496" y="3209544"/>
            <a:ext cx="2706624" cy="448056"/>
          </a:xfrm>
          <a:prstGeom prst="roundRect">
            <a:avLst>
              <a:gd name="adj" fmla="val 18367"/>
            </a:avLst>
          </a:prstGeom>
          <a:solidFill>
            <a:srgbClr val="24395C"/>
          </a:solidFill>
          <a:ln w="12700">
            <a:solidFill>
              <a:srgbClr val="3E587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4" name="Text 32"/>
          <p:cNvSpPr/>
          <p:nvPr/>
        </p:nvSpPr>
        <p:spPr>
          <a:xfrm>
            <a:off x="8659368" y="3319272"/>
            <a:ext cx="2450592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MongoDB Replica Set</a:t>
            </a:r>
            <a:endParaRPr lang="en-US" sz="1130" dirty="0"/>
          </a:p>
        </p:txBody>
      </p:sp>
      <p:sp>
        <p:nvSpPr>
          <p:cNvPr id="35" name="Shape 33"/>
          <p:cNvSpPr/>
          <p:nvPr/>
        </p:nvSpPr>
        <p:spPr>
          <a:xfrm>
            <a:off x="8540496" y="3794760"/>
            <a:ext cx="2706624" cy="448056"/>
          </a:xfrm>
          <a:prstGeom prst="roundRect">
            <a:avLst>
              <a:gd name="adj" fmla="val 18367"/>
            </a:avLst>
          </a:prstGeom>
          <a:solidFill>
            <a:srgbClr val="24395C"/>
          </a:solidFill>
          <a:ln w="12700">
            <a:solidFill>
              <a:srgbClr val="3E587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6" name="Text 34"/>
          <p:cNvSpPr/>
          <p:nvPr/>
        </p:nvSpPr>
        <p:spPr>
          <a:xfrm>
            <a:off x="8659368" y="3904488"/>
            <a:ext cx="2450592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Redis · Neo4j · Milvus</a:t>
            </a:r>
            <a:endParaRPr lang="en-US" sz="1130" dirty="0"/>
          </a:p>
        </p:txBody>
      </p:sp>
      <p:sp>
        <p:nvSpPr>
          <p:cNvPr id="37" name="Shape 35"/>
          <p:cNvSpPr/>
          <p:nvPr/>
        </p:nvSpPr>
        <p:spPr>
          <a:xfrm>
            <a:off x="8540496" y="4379976"/>
            <a:ext cx="2706624" cy="448056"/>
          </a:xfrm>
          <a:prstGeom prst="roundRect">
            <a:avLst>
              <a:gd name="adj" fmla="val 18367"/>
            </a:avLst>
          </a:prstGeom>
          <a:solidFill>
            <a:srgbClr val="24395C"/>
          </a:solidFill>
          <a:ln w="12700">
            <a:solidFill>
              <a:srgbClr val="3E587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8" name="Text 36"/>
          <p:cNvSpPr/>
          <p:nvPr/>
        </p:nvSpPr>
        <p:spPr>
          <a:xfrm>
            <a:off x="8659368" y="4489704"/>
            <a:ext cx="2450592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Worker · 文件存储</a:t>
            </a:r>
            <a:endParaRPr lang="en-US" sz="1130" dirty="0"/>
          </a:p>
        </p:txBody>
      </p:sp>
      <p:sp>
        <p:nvSpPr>
          <p:cNvPr id="39" name="Text 37"/>
          <p:cNvSpPr/>
          <p:nvPr/>
        </p:nvSpPr>
        <p:spPr>
          <a:xfrm>
            <a:off x="8494776" y="5138928"/>
            <a:ext cx="2816352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rgbClr val="B5C6E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本地：WSL2 + Docker Desktop；Milvus Standalone</a:t>
            </a:r>
            <a:endParaRPr lang="en-US" sz="1060" dirty="0"/>
          </a:p>
        </p:txBody>
      </p:sp>
      <p:sp>
        <p:nvSpPr>
          <p:cNvPr id="40" name="Text 38"/>
          <p:cNvSpPr/>
          <p:nvPr/>
        </p:nvSpPr>
        <p:spPr>
          <a:xfrm>
            <a:off x="713232" y="6044184"/>
            <a:ext cx="10698480" cy="26517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安全约束：所有访问先做权限校验；数据库不直连公网；原文件与元数据分离保存。</a:t>
            </a:r>
            <a:endParaRPr lang="en-US" sz="114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526BEA"/>
          </a:solidFill>
          <a:ln w="12700">
            <a:solidFill>
              <a:srgbClr val="526BE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/>
          <p:nvPr/>
        </p:nvSpPr>
        <p:spPr>
          <a:xfrm>
            <a:off x="548640" y="310896"/>
            <a:ext cx="731520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26BE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 / 核心课程实验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B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五组实验：验证异构 NoSQL 协同与检索性能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16128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实验以同机器、固定负载、可重复脚本为原则；本页展示计划指标，不代表已有测试结果。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6528816"/>
            <a:ext cx="11091672" cy="0"/>
          </a:xfrm>
          <a:prstGeom prst="line">
            <a:avLst/>
          </a:prstGeom>
          <a:noFill/>
          <a:ln w="8890">
            <a:solidFill>
              <a:srgbClr val="E2EAF4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/>
          <p:nvPr/>
        </p:nvSpPr>
        <p:spPr>
          <a:xfrm>
            <a:off x="566928" y="6574536"/>
            <a:ext cx="658368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知序 KnowledgeHub  /  大数据管理课程项目</a:t>
            </a:r>
            <a:endParaRPr lang="en-US" sz="830" dirty="0"/>
          </a:p>
        </p:txBody>
      </p:sp>
      <p:sp>
        <p:nvSpPr>
          <p:cNvPr id="8" name="Text 6"/>
          <p:cNvSpPr/>
          <p:nvPr/>
        </p:nvSpPr>
        <p:spPr>
          <a:xfrm>
            <a:off x="11109960" y="6547104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16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85216" y="1664208"/>
            <a:ext cx="11027664" cy="722376"/>
          </a:xfrm>
          <a:prstGeom prst="roundRect">
            <a:avLst>
              <a:gd name="adj" fmla="val 13924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0" name="Shape 8"/>
          <p:cNvSpPr/>
          <p:nvPr/>
        </p:nvSpPr>
        <p:spPr>
          <a:xfrm>
            <a:off x="768096" y="1828800"/>
            <a:ext cx="374904" cy="374904"/>
          </a:xfrm>
          <a:prstGeom prst="ellipse">
            <a:avLst/>
          </a:prstGeom>
          <a:solidFill>
            <a:srgbClr val="526BEA"/>
          </a:solidFill>
          <a:ln w="12700">
            <a:solidFill>
              <a:srgbClr val="526BE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1" name="Text 9"/>
          <p:cNvSpPr/>
          <p:nvPr/>
        </p:nvSpPr>
        <p:spPr>
          <a:xfrm>
            <a:off x="777240" y="1911096"/>
            <a:ext cx="356616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335024" y="1810512"/>
            <a:ext cx="132588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B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MongoDB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2788920" y="182880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10" b="1" dirty="0">
                <a:solidFill>
                  <a:srgbClr val="526BE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索引优化</a:t>
            </a:r>
            <a:endParaRPr lang="en-US" sz="1310" dirty="0"/>
          </a:p>
        </p:txBody>
      </p:sp>
      <p:sp>
        <p:nvSpPr>
          <p:cNvPr id="14" name="Text 12"/>
          <p:cNvSpPr/>
          <p:nvPr/>
        </p:nvSpPr>
        <p:spPr>
          <a:xfrm>
            <a:off x="4379976" y="1773936"/>
            <a:ext cx="4398264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2130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1万/10万/100万条笔记；复合索引对照</a:t>
            </a:r>
            <a:endParaRPr lang="en-US" sz="1180" dirty="0"/>
          </a:p>
        </p:txBody>
      </p:sp>
      <p:sp>
        <p:nvSpPr>
          <p:cNvPr id="15" name="Text 13"/>
          <p:cNvSpPr/>
          <p:nvPr/>
        </p:nvSpPr>
        <p:spPr>
          <a:xfrm>
            <a:off x="8860536" y="1810512"/>
            <a:ext cx="2423160" cy="3931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P95 · Docs Examined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585216" y="2514600"/>
            <a:ext cx="11027664" cy="722376"/>
          </a:xfrm>
          <a:prstGeom prst="roundRect">
            <a:avLst>
              <a:gd name="adj" fmla="val 13924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7" name="Shape 15"/>
          <p:cNvSpPr/>
          <p:nvPr/>
        </p:nvSpPr>
        <p:spPr>
          <a:xfrm>
            <a:off x="768096" y="2679192"/>
            <a:ext cx="374904" cy="374904"/>
          </a:xfrm>
          <a:prstGeom prst="ellipse">
            <a:avLst/>
          </a:prstGeom>
          <a:solidFill>
            <a:srgbClr val="16AE9C"/>
          </a:solidFill>
          <a:ln w="12700">
            <a:solidFill>
              <a:srgbClr val="16AE9C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8" name="Text 16"/>
          <p:cNvSpPr/>
          <p:nvPr/>
        </p:nvSpPr>
        <p:spPr>
          <a:xfrm>
            <a:off x="777240" y="2761488"/>
            <a:ext cx="356616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335024" y="2660904"/>
            <a:ext cx="132588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B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Redis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2788920" y="267919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10" b="1" dirty="0">
                <a:solidFill>
                  <a:srgbClr val="16AE9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缓存收益</a:t>
            </a:r>
            <a:endParaRPr lang="en-US" sz="1310" dirty="0"/>
          </a:p>
        </p:txBody>
      </p:sp>
      <p:sp>
        <p:nvSpPr>
          <p:cNvPr id="21" name="Text 19"/>
          <p:cNvSpPr/>
          <p:nvPr/>
        </p:nvSpPr>
        <p:spPr>
          <a:xfrm>
            <a:off x="4379976" y="2624328"/>
            <a:ext cx="4398264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2130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无缓存 / Cache-Aside；热点访问与 TTL</a:t>
            </a:r>
            <a:endParaRPr lang="en-US" sz="1180" dirty="0"/>
          </a:p>
        </p:txBody>
      </p:sp>
      <p:sp>
        <p:nvSpPr>
          <p:cNvPr id="22" name="Text 20"/>
          <p:cNvSpPr/>
          <p:nvPr/>
        </p:nvSpPr>
        <p:spPr>
          <a:xfrm>
            <a:off x="8860536" y="2660904"/>
            <a:ext cx="2423160" cy="3931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命中率 · P95 · QPS</a:t>
            </a:r>
            <a:endParaRPr lang="en-US" sz="1120" dirty="0"/>
          </a:p>
        </p:txBody>
      </p:sp>
      <p:sp>
        <p:nvSpPr>
          <p:cNvPr id="23" name="Shape 21"/>
          <p:cNvSpPr/>
          <p:nvPr/>
        </p:nvSpPr>
        <p:spPr>
          <a:xfrm>
            <a:off x="585216" y="3364992"/>
            <a:ext cx="11027664" cy="722376"/>
          </a:xfrm>
          <a:prstGeom prst="roundRect">
            <a:avLst>
              <a:gd name="adj" fmla="val 13924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4" name="Shape 22"/>
          <p:cNvSpPr/>
          <p:nvPr/>
        </p:nvSpPr>
        <p:spPr>
          <a:xfrm>
            <a:off x="768096" y="3529584"/>
            <a:ext cx="374904" cy="374904"/>
          </a:xfrm>
          <a:prstGeom prst="ellipse">
            <a:avLst/>
          </a:prstGeom>
          <a:solidFill>
            <a:srgbClr val="8B71E8"/>
          </a:solidFill>
          <a:ln w="12700">
            <a:solidFill>
              <a:srgbClr val="8B71E8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5" name="Text 23"/>
          <p:cNvSpPr/>
          <p:nvPr/>
        </p:nvSpPr>
        <p:spPr>
          <a:xfrm>
            <a:off x="777240" y="3611880"/>
            <a:ext cx="356616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335024" y="3511296"/>
            <a:ext cx="132588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B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Neo4j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2788920" y="3529584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10" b="1" dirty="0">
                <a:solidFill>
                  <a:srgbClr val="8B71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图查询</a:t>
            </a:r>
            <a:endParaRPr lang="en-US" sz="1310" dirty="0"/>
          </a:p>
        </p:txBody>
      </p:sp>
      <p:sp>
        <p:nvSpPr>
          <p:cNvPr id="28" name="Text 26"/>
          <p:cNvSpPr/>
          <p:nvPr/>
        </p:nvSpPr>
        <p:spPr>
          <a:xfrm>
            <a:off x="4379976" y="3474720"/>
            <a:ext cx="4398264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2130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一跳/两跳/路径查询；关系密度对照</a:t>
            </a:r>
            <a:endParaRPr lang="en-US" sz="1180" dirty="0"/>
          </a:p>
        </p:txBody>
      </p:sp>
      <p:sp>
        <p:nvSpPr>
          <p:cNvPr id="29" name="Text 27"/>
          <p:cNvSpPr/>
          <p:nvPr/>
        </p:nvSpPr>
        <p:spPr>
          <a:xfrm>
            <a:off x="8860536" y="3511296"/>
            <a:ext cx="2423160" cy="3931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查询耗时 · 访问节点数</a:t>
            </a:r>
            <a:endParaRPr lang="en-US" sz="1120" dirty="0"/>
          </a:p>
        </p:txBody>
      </p:sp>
      <p:sp>
        <p:nvSpPr>
          <p:cNvPr id="30" name="Shape 28"/>
          <p:cNvSpPr/>
          <p:nvPr/>
        </p:nvSpPr>
        <p:spPr>
          <a:xfrm>
            <a:off x="585216" y="4215384"/>
            <a:ext cx="11027664" cy="722376"/>
          </a:xfrm>
          <a:prstGeom prst="roundRect">
            <a:avLst>
              <a:gd name="adj" fmla="val 13924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768096" y="4379976"/>
            <a:ext cx="374904" cy="374904"/>
          </a:xfrm>
          <a:prstGeom prst="ellipse">
            <a:avLst/>
          </a:prstGeom>
          <a:solidFill>
            <a:srgbClr val="EFA942"/>
          </a:solidFill>
          <a:ln w="12700">
            <a:solidFill>
              <a:srgbClr val="EFA942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/>
          <p:nvPr/>
        </p:nvSpPr>
        <p:spPr>
          <a:xfrm>
            <a:off x="777240" y="4462272"/>
            <a:ext cx="356616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335024" y="4361688"/>
            <a:ext cx="132588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B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Milvus</a:t>
            </a:r>
            <a:endParaRPr lang="en-US" sz="1550" dirty="0"/>
          </a:p>
        </p:txBody>
      </p:sp>
      <p:sp>
        <p:nvSpPr>
          <p:cNvPr id="34" name="Text 32"/>
          <p:cNvSpPr/>
          <p:nvPr/>
        </p:nvSpPr>
        <p:spPr>
          <a:xfrm>
            <a:off x="2788920" y="4379976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10" b="1" dirty="0">
                <a:solidFill>
                  <a:srgbClr val="EFA9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多索引对比</a:t>
            </a:r>
            <a:endParaRPr lang="en-US" sz="1310" dirty="0"/>
          </a:p>
        </p:txBody>
      </p:sp>
      <p:sp>
        <p:nvSpPr>
          <p:cNvPr id="35" name="Text 33"/>
          <p:cNvSpPr/>
          <p:nvPr/>
        </p:nvSpPr>
        <p:spPr>
          <a:xfrm>
            <a:off x="4379976" y="4325112"/>
            <a:ext cx="4398264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2130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FLAT / IVF_FLAT / HNSW；BM25（P1）</a:t>
            </a:r>
            <a:endParaRPr lang="en-US" sz="1180" dirty="0"/>
          </a:p>
        </p:txBody>
      </p:sp>
      <p:sp>
        <p:nvSpPr>
          <p:cNvPr id="36" name="Text 34"/>
          <p:cNvSpPr/>
          <p:nvPr/>
        </p:nvSpPr>
        <p:spPr>
          <a:xfrm>
            <a:off x="8860536" y="4361688"/>
            <a:ext cx="2423160" cy="3931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ANN Recall@K · P95 · QPS</a:t>
            </a:r>
            <a:endParaRPr lang="en-US" sz="1120" dirty="0"/>
          </a:p>
        </p:txBody>
      </p:sp>
      <p:sp>
        <p:nvSpPr>
          <p:cNvPr id="37" name="Shape 35"/>
          <p:cNvSpPr/>
          <p:nvPr/>
        </p:nvSpPr>
        <p:spPr>
          <a:xfrm>
            <a:off x="585216" y="5065776"/>
            <a:ext cx="11027664" cy="722376"/>
          </a:xfrm>
          <a:prstGeom prst="roundRect">
            <a:avLst>
              <a:gd name="adj" fmla="val 13924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8" name="Shape 36"/>
          <p:cNvSpPr/>
          <p:nvPr/>
        </p:nvSpPr>
        <p:spPr>
          <a:xfrm>
            <a:off x="768096" y="5230368"/>
            <a:ext cx="374904" cy="374904"/>
          </a:xfrm>
          <a:prstGeom prst="ellipse">
            <a:avLst/>
          </a:prstGeom>
          <a:solidFill>
            <a:srgbClr val="E36F73"/>
          </a:solidFill>
          <a:ln w="12700">
            <a:solidFill>
              <a:srgbClr val="E36F73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9" name="Text 37"/>
          <p:cNvSpPr/>
          <p:nvPr/>
        </p:nvSpPr>
        <p:spPr>
          <a:xfrm>
            <a:off x="777240" y="5312664"/>
            <a:ext cx="356616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1335024" y="5212080"/>
            <a:ext cx="132588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B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跨库协同</a:t>
            </a:r>
            <a:endParaRPr lang="en-US" sz="1550" dirty="0"/>
          </a:p>
        </p:txBody>
      </p:sp>
      <p:sp>
        <p:nvSpPr>
          <p:cNvPr id="41" name="Text 39"/>
          <p:cNvSpPr/>
          <p:nvPr/>
        </p:nvSpPr>
        <p:spPr>
          <a:xfrm>
            <a:off x="2788920" y="523036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10" b="1" dirty="0">
                <a:solidFill>
                  <a:srgbClr val="E36F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故障恢复</a:t>
            </a:r>
            <a:endParaRPr lang="en-US" sz="1310" dirty="0"/>
          </a:p>
        </p:txBody>
      </p:sp>
      <p:sp>
        <p:nvSpPr>
          <p:cNvPr id="42" name="Text 40"/>
          <p:cNvSpPr/>
          <p:nvPr/>
        </p:nvSpPr>
        <p:spPr>
          <a:xfrm>
            <a:off x="4379976" y="5175504"/>
            <a:ext cx="4398264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2130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停止 Worker / 重复事件 / 版本乱序</a:t>
            </a:r>
            <a:endParaRPr lang="en-US" sz="1180" dirty="0"/>
          </a:p>
        </p:txBody>
      </p:sp>
      <p:sp>
        <p:nvSpPr>
          <p:cNvPr id="43" name="Text 41"/>
          <p:cNvSpPr/>
          <p:nvPr/>
        </p:nvSpPr>
        <p:spPr>
          <a:xfrm>
            <a:off x="8860536" y="5212080"/>
            <a:ext cx="2423160" cy="3931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一致率 · 恢复时长</a:t>
            </a:r>
            <a:endParaRPr lang="en-US" sz="1120" dirty="0"/>
          </a:p>
        </p:txBody>
      </p:sp>
      <p:sp>
        <p:nvSpPr>
          <p:cNvPr id="44" name="Shape 42"/>
          <p:cNvSpPr/>
          <p:nvPr/>
        </p:nvSpPr>
        <p:spPr>
          <a:xfrm>
            <a:off x="594360" y="6035040"/>
            <a:ext cx="10972800" cy="256032"/>
          </a:xfrm>
          <a:prstGeom prst="roundRect">
            <a:avLst>
              <a:gd name="adj" fmla="val 21429"/>
            </a:avLst>
          </a:prstGeom>
          <a:solidFill>
            <a:srgbClr val="ECF0F8"/>
          </a:solidFill>
          <a:ln w="12700">
            <a:solidFill>
              <a:srgbClr val="ECF0F8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5" name="Text 43"/>
          <p:cNvSpPr/>
          <p:nvPr/>
        </p:nvSpPr>
        <p:spPr>
          <a:xfrm>
            <a:off x="795528" y="6044184"/>
            <a:ext cx="10588752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实验产出：数据生成脚本 + 执行计划 / 日志 + 原始 CSV + 对比图 + 结论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526BEA"/>
          </a:solidFill>
          <a:ln w="12700">
            <a:solidFill>
              <a:srgbClr val="526BE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/>
          <p:nvPr/>
        </p:nvSpPr>
        <p:spPr>
          <a:xfrm>
            <a:off x="548640" y="310896"/>
            <a:ext cx="731520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26BE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09 / 项目计划安排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B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六阶段迭代：每个里程碑都能独立验证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16128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优先打通 P0 主链路，再扩展 AI 体验；具体周次可按课程截止日期调整。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6528816"/>
            <a:ext cx="11091672" cy="0"/>
          </a:xfrm>
          <a:prstGeom prst="line">
            <a:avLst/>
          </a:prstGeom>
          <a:noFill/>
          <a:ln w="8890">
            <a:solidFill>
              <a:srgbClr val="E2EAF4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/>
          <p:nvPr/>
        </p:nvSpPr>
        <p:spPr>
          <a:xfrm>
            <a:off x="566928" y="6574536"/>
            <a:ext cx="658368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知序 KnowledgeHub  /  大数据管理课程项目</a:t>
            </a:r>
            <a:endParaRPr lang="en-US" sz="830" dirty="0"/>
          </a:p>
        </p:txBody>
      </p:sp>
      <p:sp>
        <p:nvSpPr>
          <p:cNvPr id="8" name="Text 6"/>
          <p:cNvSpPr/>
          <p:nvPr/>
        </p:nvSpPr>
        <p:spPr>
          <a:xfrm>
            <a:off x="11109960" y="6547104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17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243584" y="3310128"/>
            <a:ext cx="9665208" cy="0"/>
          </a:xfrm>
          <a:prstGeom prst="line">
            <a:avLst/>
          </a:prstGeom>
          <a:noFill/>
          <a:ln w="50800">
            <a:solidFill>
              <a:srgbClr val="C0CEE1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0" name="Shape 8"/>
          <p:cNvSpPr/>
          <p:nvPr/>
        </p:nvSpPr>
        <p:spPr>
          <a:xfrm>
            <a:off x="1243584" y="3099816"/>
            <a:ext cx="429768" cy="429768"/>
          </a:xfrm>
          <a:prstGeom prst="ellipse">
            <a:avLst/>
          </a:prstGeom>
          <a:solidFill>
            <a:srgbClr val="526BEA"/>
          </a:solidFill>
          <a:ln w="12700">
            <a:solidFill>
              <a:srgbClr val="526BE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1" name="Text 9"/>
          <p:cNvSpPr/>
          <p:nvPr/>
        </p:nvSpPr>
        <p:spPr>
          <a:xfrm>
            <a:off x="1252728" y="3227832"/>
            <a:ext cx="411480" cy="1737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463040" y="3529584"/>
            <a:ext cx="0" cy="164592"/>
          </a:xfrm>
          <a:prstGeom prst="line">
            <a:avLst/>
          </a:prstGeom>
          <a:noFill/>
          <a:ln w="19050">
            <a:solidFill>
              <a:srgbClr val="C0CEE1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3" name="Shape 11"/>
          <p:cNvSpPr/>
          <p:nvPr/>
        </p:nvSpPr>
        <p:spPr>
          <a:xfrm>
            <a:off x="630936" y="3739896"/>
            <a:ext cx="1673352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4" name="Shape 12"/>
          <p:cNvSpPr/>
          <p:nvPr/>
        </p:nvSpPr>
        <p:spPr>
          <a:xfrm>
            <a:off x="758952" y="3877056"/>
            <a:ext cx="475488" cy="283464"/>
          </a:xfrm>
          <a:prstGeom prst="roundRect">
            <a:avLst>
              <a:gd name="adj" fmla="val 41935"/>
            </a:avLst>
          </a:prstGeom>
          <a:solidFill>
            <a:srgbClr val="526BEA"/>
          </a:solidFill>
          <a:ln w="12700">
            <a:solidFill>
              <a:srgbClr val="526BE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5" name="Text 13"/>
          <p:cNvSpPr/>
          <p:nvPr/>
        </p:nvSpPr>
        <p:spPr>
          <a:xfrm>
            <a:off x="832104" y="3890772"/>
            <a:ext cx="329184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S1</a:t>
            </a:r>
            <a:endParaRPr lang="en-US" sz="930" dirty="0"/>
          </a:p>
        </p:txBody>
      </p:sp>
      <p:sp>
        <p:nvSpPr>
          <p:cNvPr id="16" name="Text 14"/>
          <p:cNvSpPr/>
          <p:nvPr/>
        </p:nvSpPr>
        <p:spPr>
          <a:xfrm>
            <a:off x="758952" y="4261104"/>
            <a:ext cx="1444752" cy="2834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B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环境与框架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58952" y="4663440"/>
            <a:ext cx="1444752" cy="374904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前后端、四库容器、健康检查</a:t>
            </a:r>
            <a:endParaRPr lang="en-US" sz="1040" dirty="0"/>
          </a:p>
        </p:txBody>
      </p:sp>
      <p:sp>
        <p:nvSpPr>
          <p:cNvPr id="18" name="Shape 16"/>
          <p:cNvSpPr/>
          <p:nvPr/>
        </p:nvSpPr>
        <p:spPr>
          <a:xfrm>
            <a:off x="3154680" y="3099816"/>
            <a:ext cx="429768" cy="429768"/>
          </a:xfrm>
          <a:prstGeom prst="ellipse">
            <a:avLst/>
          </a:prstGeom>
          <a:solidFill>
            <a:srgbClr val="526BEA"/>
          </a:solidFill>
          <a:ln w="12700">
            <a:solidFill>
              <a:srgbClr val="526BE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9" name="Text 17"/>
          <p:cNvSpPr/>
          <p:nvPr/>
        </p:nvSpPr>
        <p:spPr>
          <a:xfrm>
            <a:off x="3163824" y="3227832"/>
            <a:ext cx="411480" cy="1737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374136" y="2898648"/>
            <a:ext cx="0" cy="155448"/>
          </a:xfrm>
          <a:prstGeom prst="line">
            <a:avLst/>
          </a:prstGeom>
          <a:noFill/>
          <a:ln w="19050">
            <a:solidFill>
              <a:srgbClr val="C0CEE1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1" name="Shape 19"/>
          <p:cNvSpPr/>
          <p:nvPr/>
        </p:nvSpPr>
        <p:spPr>
          <a:xfrm>
            <a:off x="2542032" y="1810512"/>
            <a:ext cx="1673352" cy="1124712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2" name="Shape 20"/>
          <p:cNvSpPr/>
          <p:nvPr/>
        </p:nvSpPr>
        <p:spPr>
          <a:xfrm>
            <a:off x="2670048" y="1920240"/>
            <a:ext cx="475488" cy="283464"/>
          </a:xfrm>
          <a:prstGeom prst="roundRect">
            <a:avLst>
              <a:gd name="adj" fmla="val 41935"/>
            </a:avLst>
          </a:prstGeom>
          <a:solidFill>
            <a:srgbClr val="526BEA"/>
          </a:solidFill>
          <a:ln w="12700">
            <a:solidFill>
              <a:srgbClr val="526BE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3" name="Text 21"/>
          <p:cNvSpPr/>
          <p:nvPr/>
        </p:nvSpPr>
        <p:spPr>
          <a:xfrm>
            <a:off x="2743200" y="1933956"/>
            <a:ext cx="329184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S2</a:t>
            </a:r>
            <a:endParaRPr lang="en-US" sz="930" dirty="0"/>
          </a:p>
        </p:txBody>
      </p:sp>
      <p:sp>
        <p:nvSpPr>
          <p:cNvPr id="24" name="Text 22"/>
          <p:cNvSpPr/>
          <p:nvPr/>
        </p:nvSpPr>
        <p:spPr>
          <a:xfrm>
            <a:off x="2670048" y="2276856"/>
            <a:ext cx="1444752" cy="26517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B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笔记与文档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2670048" y="2596896"/>
            <a:ext cx="1444752" cy="265176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MongoDB CRUD、上传与索引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065776" y="3099816"/>
            <a:ext cx="429768" cy="429768"/>
          </a:xfrm>
          <a:prstGeom prst="ellipse">
            <a:avLst/>
          </a:prstGeom>
          <a:solidFill>
            <a:srgbClr val="16AE9C"/>
          </a:solidFill>
          <a:ln w="12700">
            <a:solidFill>
              <a:srgbClr val="16AE9C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/>
          <p:nvPr/>
        </p:nvSpPr>
        <p:spPr>
          <a:xfrm>
            <a:off x="5074920" y="3227832"/>
            <a:ext cx="411480" cy="1737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285232" y="3529584"/>
            <a:ext cx="0" cy="164592"/>
          </a:xfrm>
          <a:prstGeom prst="line">
            <a:avLst/>
          </a:prstGeom>
          <a:noFill/>
          <a:ln w="19050">
            <a:solidFill>
              <a:srgbClr val="C0CEE1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9" name="Shape 27"/>
          <p:cNvSpPr/>
          <p:nvPr/>
        </p:nvSpPr>
        <p:spPr>
          <a:xfrm>
            <a:off x="4453128" y="3739896"/>
            <a:ext cx="1673352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0" name="Shape 28"/>
          <p:cNvSpPr/>
          <p:nvPr/>
        </p:nvSpPr>
        <p:spPr>
          <a:xfrm>
            <a:off x="4581144" y="3877056"/>
            <a:ext cx="475488" cy="283464"/>
          </a:xfrm>
          <a:prstGeom prst="roundRect">
            <a:avLst>
              <a:gd name="adj" fmla="val 41935"/>
            </a:avLst>
          </a:prstGeom>
          <a:solidFill>
            <a:srgbClr val="16AE9C"/>
          </a:solidFill>
          <a:ln w="12700">
            <a:solidFill>
              <a:srgbClr val="16AE9C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Text 29"/>
          <p:cNvSpPr/>
          <p:nvPr/>
        </p:nvSpPr>
        <p:spPr>
          <a:xfrm>
            <a:off x="4654296" y="3890772"/>
            <a:ext cx="329184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S3</a:t>
            </a:r>
            <a:endParaRPr lang="en-US" sz="930" dirty="0"/>
          </a:p>
        </p:txBody>
      </p:sp>
      <p:sp>
        <p:nvSpPr>
          <p:cNvPr id="32" name="Text 30"/>
          <p:cNvSpPr/>
          <p:nvPr/>
        </p:nvSpPr>
        <p:spPr>
          <a:xfrm>
            <a:off x="4581144" y="4261104"/>
            <a:ext cx="1444752" cy="2834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B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异步与缓存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81144" y="4663440"/>
            <a:ext cx="1444752" cy="374904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Redis Streams、Outbox、重试</a:t>
            </a:r>
            <a:endParaRPr lang="en-US" sz="1040" dirty="0"/>
          </a:p>
        </p:txBody>
      </p:sp>
      <p:sp>
        <p:nvSpPr>
          <p:cNvPr id="34" name="Shape 32"/>
          <p:cNvSpPr/>
          <p:nvPr/>
        </p:nvSpPr>
        <p:spPr>
          <a:xfrm>
            <a:off x="6976872" y="3099816"/>
            <a:ext cx="429768" cy="429768"/>
          </a:xfrm>
          <a:prstGeom prst="ellipse">
            <a:avLst/>
          </a:prstGeom>
          <a:solidFill>
            <a:srgbClr val="8B71E8"/>
          </a:solidFill>
          <a:ln w="12700">
            <a:solidFill>
              <a:srgbClr val="8B71E8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5" name="Text 33"/>
          <p:cNvSpPr/>
          <p:nvPr/>
        </p:nvSpPr>
        <p:spPr>
          <a:xfrm>
            <a:off x="6986016" y="3227832"/>
            <a:ext cx="411480" cy="1737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196328" y="2898648"/>
            <a:ext cx="0" cy="155448"/>
          </a:xfrm>
          <a:prstGeom prst="line">
            <a:avLst/>
          </a:prstGeom>
          <a:noFill/>
          <a:ln w="19050">
            <a:solidFill>
              <a:srgbClr val="C0CEE1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7" name="Shape 35"/>
          <p:cNvSpPr/>
          <p:nvPr/>
        </p:nvSpPr>
        <p:spPr>
          <a:xfrm>
            <a:off x="6364224" y="1810512"/>
            <a:ext cx="1673352" cy="1124712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8" name="Shape 36"/>
          <p:cNvSpPr/>
          <p:nvPr/>
        </p:nvSpPr>
        <p:spPr>
          <a:xfrm>
            <a:off x="6492240" y="1920240"/>
            <a:ext cx="475488" cy="283464"/>
          </a:xfrm>
          <a:prstGeom prst="roundRect">
            <a:avLst>
              <a:gd name="adj" fmla="val 41935"/>
            </a:avLst>
          </a:prstGeom>
          <a:solidFill>
            <a:srgbClr val="8B71E8"/>
          </a:solidFill>
          <a:ln w="12700">
            <a:solidFill>
              <a:srgbClr val="8B71E8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9" name="Text 37"/>
          <p:cNvSpPr/>
          <p:nvPr/>
        </p:nvSpPr>
        <p:spPr>
          <a:xfrm>
            <a:off x="6565392" y="1933956"/>
            <a:ext cx="329184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S4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6492240" y="2276856"/>
            <a:ext cx="1444752" cy="26517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B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知识图谱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6492240" y="2596896"/>
            <a:ext cx="1444752" cy="265176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Neo4j 双向链接与可视化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8887968" y="3099816"/>
            <a:ext cx="429768" cy="429768"/>
          </a:xfrm>
          <a:prstGeom prst="ellipse">
            <a:avLst/>
          </a:prstGeom>
          <a:solidFill>
            <a:srgbClr val="EFA942"/>
          </a:solidFill>
          <a:ln w="12700">
            <a:solidFill>
              <a:srgbClr val="EFA942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3" name="Text 41"/>
          <p:cNvSpPr/>
          <p:nvPr/>
        </p:nvSpPr>
        <p:spPr>
          <a:xfrm>
            <a:off x="8897112" y="3227832"/>
            <a:ext cx="411480" cy="1737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9107424" y="3529584"/>
            <a:ext cx="0" cy="164592"/>
          </a:xfrm>
          <a:prstGeom prst="line">
            <a:avLst/>
          </a:prstGeom>
          <a:noFill/>
          <a:ln w="19050">
            <a:solidFill>
              <a:srgbClr val="C0CEE1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5" name="Shape 43"/>
          <p:cNvSpPr/>
          <p:nvPr/>
        </p:nvSpPr>
        <p:spPr>
          <a:xfrm>
            <a:off x="8275320" y="3739896"/>
            <a:ext cx="1673352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6" name="Shape 44"/>
          <p:cNvSpPr/>
          <p:nvPr/>
        </p:nvSpPr>
        <p:spPr>
          <a:xfrm>
            <a:off x="8403336" y="3877056"/>
            <a:ext cx="475488" cy="283464"/>
          </a:xfrm>
          <a:prstGeom prst="roundRect">
            <a:avLst>
              <a:gd name="adj" fmla="val 41935"/>
            </a:avLst>
          </a:prstGeom>
          <a:solidFill>
            <a:srgbClr val="EFA942"/>
          </a:solidFill>
          <a:ln w="12700">
            <a:solidFill>
              <a:srgbClr val="EFA942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7" name="Text 45"/>
          <p:cNvSpPr/>
          <p:nvPr/>
        </p:nvSpPr>
        <p:spPr>
          <a:xfrm>
            <a:off x="8476488" y="3890772"/>
            <a:ext cx="329184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S5</a:t>
            </a:r>
            <a:endParaRPr lang="en-US" sz="930" dirty="0"/>
          </a:p>
        </p:txBody>
      </p:sp>
      <p:sp>
        <p:nvSpPr>
          <p:cNvPr id="48" name="Text 46"/>
          <p:cNvSpPr/>
          <p:nvPr/>
        </p:nvSpPr>
        <p:spPr>
          <a:xfrm>
            <a:off x="8403336" y="4261104"/>
            <a:ext cx="1444752" cy="2834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B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语义检索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8403336" y="4663440"/>
            <a:ext cx="1444752" cy="374904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Milvus、分块、来源定位</a:t>
            </a:r>
            <a:endParaRPr lang="en-US" sz="1040" dirty="0"/>
          </a:p>
        </p:txBody>
      </p:sp>
      <p:sp>
        <p:nvSpPr>
          <p:cNvPr id="50" name="Shape 48"/>
          <p:cNvSpPr/>
          <p:nvPr/>
        </p:nvSpPr>
        <p:spPr>
          <a:xfrm>
            <a:off x="10799064" y="3099816"/>
            <a:ext cx="429768" cy="429768"/>
          </a:xfrm>
          <a:prstGeom prst="ellipse">
            <a:avLst/>
          </a:prstGeom>
          <a:solidFill>
            <a:srgbClr val="16AE9C"/>
          </a:solidFill>
          <a:ln w="12700">
            <a:solidFill>
              <a:srgbClr val="16AE9C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1" name="Text 49"/>
          <p:cNvSpPr/>
          <p:nvPr/>
        </p:nvSpPr>
        <p:spPr>
          <a:xfrm>
            <a:off x="10808208" y="3227832"/>
            <a:ext cx="411480" cy="1737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11018520" y="2898648"/>
            <a:ext cx="0" cy="155448"/>
          </a:xfrm>
          <a:prstGeom prst="line">
            <a:avLst/>
          </a:prstGeom>
          <a:noFill/>
          <a:ln w="19050">
            <a:solidFill>
              <a:srgbClr val="C0CEE1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3" name="Shape 51"/>
          <p:cNvSpPr/>
          <p:nvPr/>
        </p:nvSpPr>
        <p:spPr>
          <a:xfrm>
            <a:off x="10186416" y="1810512"/>
            <a:ext cx="1673352" cy="1124712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4" name="Shape 52"/>
          <p:cNvSpPr/>
          <p:nvPr/>
        </p:nvSpPr>
        <p:spPr>
          <a:xfrm>
            <a:off x="10314432" y="1920240"/>
            <a:ext cx="475488" cy="283464"/>
          </a:xfrm>
          <a:prstGeom prst="roundRect">
            <a:avLst>
              <a:gd name="adj" fmla="val 41935"/>
            </a:avLst>
          </a:prstGeom>
          <a:solidFill>
            <a:srgbClr val="16AE9C"/>
          </a:solidFill>
          <a:ln w="12700">
            <a:solidFill>
              <a:srgbClr val="16AE9C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5" name="Text 53"/>
          <p:cNvSpPr/>
          <p:nvPr/>
        </p:nvSpPr>
        <p:spPr>
          <a:xfrm>
            <a:off x="10387584" y="1933956"/>
            <a:ext cx="329184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S6</a:t>
            </a:r>
            <a:endParaRPr lang="en-US" sz="930" dirty="0"/>
          </a:p>
        </p:txBody>
      </p:sp>
      <p:sp>
        <p:nvSpPr>
          <p:cNvPr id="56" name="Text 54"/>
          <p:cNvSpPr/>
          <p:nvPr/>
        </p:nvSpPr>
        <p:spPr>
          <a:xfrm>
            <a:off x="10314432" y="2276856"/>
            <a:ext cx="1444752" cy="26517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B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实验与验收</a:t>
            </a:r>
            <a:endParaRPr lang="en-US" sz="1250" dirty="0"/>
          </a:p>
        </p:txBody>
      </p:sp>
      <p:sp>
        <p:nvSpPr>
          <p:cNvPr id="57" name="Text 55"/>
          <p:cNvSpPr/>
          <p:nvPr/>
        </p:nvSpPr>
        <p:spPr>
          <a:xfrm>
            <a:off x="10314432" y="2596896"/>
            <a:ext cx="1444752" cy="265176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性能评测、故障测试、答辩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585216" y="5321808"/>
            <a:ext cx="11027664" cy="658368"/>
          </a:xfrm>
          <a:prstGeom prst="roundRect">
            <a:avLst>
              <a:gd name="adj" fmla="val 18056"/>
            </a:avLst>
          </a:prstGeom>
          <a:solidFill>
            <a:srgbClr val="0C1428"/>
          </a:solidFill>
          <a:ln w="12700">
            <a:solidFill>
              <a:srgbClr val="0C1428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9" name="Text 57"/>
          <p:cNvSpPr/>
          <p:nvPr/>
        </p:nvSpPr>
        <p:spPr>
          <a:xfrm>
            <a:off x="813816" y="5504688"/>
            <a:ext cx="1243584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86F2D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里程碑原则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2176272" y="5468112"/>
            <a:ext cx="9079992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每阶段必须有可运行演示、测试记录和 Git 提交；核心业务跑通后再上可选功能。</a:t>
            </a:r>
            <a:endParaRPr lang="en-US" sz="127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526BEA"/>
          </a:solidFill>
          <a:ln w="12700">
            <a:solidFill>
              <a:srgbClr val="526BE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/>
          <p:nvPr/>
        </p:nvSpPr>
        <p:spPr>
          <a:xfrm>
            <a:off x="548640" y="310896"/>
            <a:ext cx="731520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26BE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 / 验收与交付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B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答辩演示分两段：先证明好用，再证明技术扎实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16128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业务闭环和数据库验证同样重要，避免只展示精美界面。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6528816"/>
            <a:ext cx="11091672" cy="0"/>
          </a:xfrm>
          <a:prstGeom prst="line">
            <a:avLst/>
          </a:prstGeom>
          <a:noFill/>
          <a:ln w="8890">
            <a:solidFill>
              <a:srgbClr val="E2EAF4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/>
          <p:nvPr/>
        </p:nvSpPr>
        <p:spPr>
          <a:xfrm>
            <a:off x="566928" y="6574536"/>
            <a:ext cx="658368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知序 KnowledgeHub  /  大数据管理课程项目</a:t>
            </a:r>
            <a:endParaRPr lang="en-US" sz="830" dirty="0"/>
          </a:p>
        </p:txBody>
      </p:sp>
      <p:sp>
        <p:nvSpPr>
          <p:cNvPr id="8" name="Text 6"/>
          <p:cNvSpPr/>
          <p:nvPr/>
        </p:nvSpPr>
        <p:spPr>
          <a:xfrm>
            <a:off x="11109960" y="6547104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18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76072" y="1728216"/>
            <a:ext cx="5404104" cy="3547872"/>
          </a:xfrm>
          <a:prstGeom prst="roundRect">
            <a:avLst>
              <a:gd name="adj" fmla="val 3866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0" name="Shape 8"/>
          <p:cNvSpPr/>
          <p:nvPr/>
        </p:nvSpPr>
        <p:spPr>
          <a:xfrm>
            <a:off x="850392" y="1956816"/>
            <a:ext cx="1024128" cy="283464"/>
          </a:xfrm>
          <a:prstGeom prst="roundRect">
            <a:avLst>
              <a:gd name="adj" fmla="val 41935"/>
            </a:avLst>
          </a:prstGeom>
          <a:solidFill>
            <a:srgbClr val="DCE5FF"/>
          </a:solidFill>
          <a:ln w="12700">
            <a:solidFill>
              <a:srgbClr val="DCE5FF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1" name="Text 9"/>
          <p:cNvSpPr/>
          <p:nvPr/>
        </p:nvSpPr>
        <p:spPr>
          <a:xfrm>
            <a:off x="923544" y="1970532"/>
            <a:ext cx="877824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26BE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业务演示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50392" y="2404872"/>
            <a:ext cx="4773168" cy="3566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B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让老师看到系统能解决问题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50392" y="3008376"/>
            <a:ext cx="310896" cy="310896"/>
          </a:xfrm>
          <a:prstGeom prst="ellipse">
            <a:avLst/>
          </a:prstGeom>
          <a:solidFill>
            <a:srgbClr val="526BEA"/>
          </a:solidFill>
          <a:ln w="12700">
            <a:solidFill>
              <a:srgbClr val="526BE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4" name="Text 12"/>
          <p:cNvSpPr/>
          <p:nvPr/>
        </p:nvSpPr>
        <p:spPr>
          <a:xfrm>
            <a:off x="850392" y="3017520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44168" y="3035808"/>
            <a:ext cx="4352544" cy="26517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2130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创建知识库与 Markdown 笔记</a:t>
            </a:r>
            <a:endParaRPr lang="en-US" sz="1280" dirty="0"/>
          </a:p>
        </p:txBody>
      </p:sp>
      <p:sp>
        <p:nvSpPr>
          <p:cNvPr id="16" name="Shape 14"/>
          <p:cNvSpPr/>
          <p:nvPr/>
        </p:nvSpPr>
        <p:spPr>
          <a:xfrm>
            <a:off x="850392" y="3493008"/>
            <a:ext cx="310896" cy="310896"/>
          </a:xfrm>
          <a:prstGeom prst="ellipse">
            <a:avLst/>
          </a:prstGeom>
          <a:solidFill>
            <a:srgbClr val="526BEA"/>
          </a:solidFill>
          <a:ln w="12700">
            <a:solidFill>
              <a:srgbClr val="526BE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7" name="Text 15"/>
          <p:cNvSpPr/>
          <p:nvPr/>
        </p:nvSpPr>
        <p:spPr>
          <a:xfrm>
            <a:off x="850392" y="3502152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44168" y="3520440"/>
            <a:ext cx="4352544" cy="26517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2130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上传 PDF 并查看索引任务状态</a:t>
            </a:r>
            <a:endParaRPr lang="en-US" sz="1280" dirty="0"/>
          </a:p>
        </p:txBody>
      </p:sp>
      <p:sp>
        <p:nvSpPr>
          <p:cNvPr id="19" name="Shape 17"/>
          <p:cNvSpPr/>
          <p:nvPr/>
        </p:nvSpPr>
        <p:spPr>
          <a:xfrm>
            <a:off x="850392" y="3977640"/>
            <a:ext cx="310896" cy="310896"/>
          </a:xfrm>
          <a:prstGeom prst="ellipse">
            <a:avLst/>
          </a:prstGeom>
          <a:solidFill>
            <a:srgbClr val="526BEA"/>
          </a:solidFill>
          <a:ln w="12700">
            <a:solidFill>
              <a:srgbClr val="526BE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0" name="Text 18"/>
          <p:cNvSpPr/>
          <p:nvPr/>
        </p:nvSpPr>
        <p:spPr>
          <a:xfrm>
            <a:off x="850392" y="3986784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344168" y="4005072"/>
            <a:ext cx="4352544" cy="26517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2130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建立双向链接，打开局部图谱</a:t>
            </a:r>
            <a:endParaRPr lang="en-US" sz="1280" dirty="0"/>
          </a:p>
        </p:txBody>
      </p:sp>
      <p:sp>
        <p:nvSpPr>
          <p:cNvPr id="22" name="Shape 20"/>
          <p:cNvSpPr/>
          <p:nvPr/>
        </p:nvSpPr>
        <p:spPr>
          <a:xfrm>
            <a:off x="850392" y="4462272"/>
            <a:ext cx="310896" cy="310896"/>
          </a:xfrm>
          <a:prstGeom prst="ellipse">
            <a:avLst/>
          </a:prstGeom>
          <a:solidFill>
            <a:srgbClr val="526BEA"/>
          </a:solidFill>
          <a:ln w="12700">
            <a:solidFill>
              <a:srgbClr val="526BE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3" name="Text 21"/>
          <p:cNvSpPr/>
          <p:nvPr/>
        </p:nvSpPr>
        <p:spPr>
          <a:xfrm>
            <a:off x="850392" y="4471416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344168" y="4489704"/>
            <a:ext cx="4352544" cy="26517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2130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自然语言搜索并定位原文来源</a:t>
            </a:r>
            <a:endParaRPr lang="en-US" sz="1280" dirty="0"/>
          </a:p>
        </p:txBody>
      </p:sp>
      <p:sp>
        <p:nvSpPr>
          <p:cNvPr id="25" name="Shape 23"/>
          <p:cNvSpPr/>
          <p:nvPr/>
        </p:nvSpPr>
        <p:spPr>
          <a:xfrm>
            <a:off x="6199632" y="1728216"/>
            <a:ext cx="5404104" cy="3547872"/>
          </a:xfrm>
          <a:prstGeom prst="roundRect">
            <a:avLst>
              <a:gd name="adj" fmla="val 3866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6473952" y="1956816"/>
            <a:ext cx="1024128" cy="283464"/>
          </a:xfrm>
          <a:prstGeom prst="roundRect">
            <a:avLst>
              <a:gd name="adj" fmla="val 41935"/>
            </a:avLst>
          </a:prstGeom>
          <a:solidFill>
            <a:srgbClr val="D9F6F0"/>
          </a:solidFill>
          <a:ln w="12700">
            <a:solidFill>
              <a:srgbClr val="D9F6F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/>
          <p:nvPr/>
        </p:nvSpPr>
        <p:spPr>
          <a:xfrm>
            <a:off x="6547104" y="1970532"/>
            <a:ext cx="877824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AE9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技术演示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73952" y="2404872"/>
            <a:ext cx="4800600" cy="3566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B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让老师看到为什么使用 NoSQL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6473952" y="3008376"/>
            <a:ext cx="310896" cy="310896"/>
          </a:xfrm>
          <a:prstGeom prst="ellipse">
            <a:avLst/>
          </a:prstGeom>
          <a:solidFill>
            <a:srgbClr val="16AE9C"/>
          </a:solidFill>
          <a:ln w="12700">
            <a:solidFill>
              <a:srgbClr val="16AE9C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0" name="Text 28"/>
          <p:cNvSpPr/>
          <p:nvPr/>
        </p:nvSpPr>
        <p:spPr>
          <a:xfrm>
            <a:off x="6473952" y="3017520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967728" y="3035808"/>
            <a:ext cx="4352544" cy="26517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2130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MongoDB 索引执行计划对照</a:t>
            </a:r>
            <a:endParaRPr lang="en-US" sz="1280" dirty="0"/>
          </a:p>
        </p:txBody>
      </p:sp>
      <p:sp>
        <p:nvSpPr>
          <p:cNvPr id="32" name="Shape 30"/>
          <p:cNvSpPr/>
          <p:nvPr/>
        </p:nvSpPr>
        <p:spPr>
          <a:xfrm>
            <a:off x="6473952" y="3493008"/>
            <a:ext cx="310896" cy="310896"/>
          </a:xfrm>
          <a:prstGeom prst="ellipse">
            <a:avLst/>
          </a:prstGeom>
          <a:solidFill>
            <a:srgbClr val="16AE9C"/>
          </a:solidFill>
          <a:ln w="12700">
            <a:solidFill>
              <a:srgbClr val="16AE9C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3" name="Text 31"/>
          <p:cNvSpPr/>
          <p:nvPr/>
        </p:nvSpPr>
        <p:spPr>
          <a:xfrm>
            <a:off x="6473952" y="3502152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967728" y="3520440"/>
            <a:ext cx="4352544" cy="26517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2130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Redis 缓存命中与响应性能</a:t>
            </a:r>
            <a:endParaRPr lang="en-US" sz="1280" dirty="0"/>
          </a:p>
        </p:txBody>
      </p:sp>
      <p:sp>
        <p:nvSpPr>
          <p:cNvPr id="35" name="Shape 33"/>
          <p:cNvSpPr/>
          <p:nvPr/>
        </p:nvSpPr>
        <p:spPr>
          <a:xfrm>
            <a:off x="6473952" y="3977640"/>
            <a:ext cx="310896" cy="310896"/>
          </a:xfrm>
          <a:prstGeom prst="ellipse">
            <a:avLst/>
          </a:prstGeom>
          <a:solidFill>
            <a:srgbClr val="16AE9C"/>
          </a:solidFill>
          <a:ln w="12700">
            <a:solidFill>
              <a:srgbClr val="16AE9C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6" name="Text 34"/>
          <p:cNvSpPr/>
          <p:nvPr/>
        </p:nvSpPr>
        <p:spPr>
          <a:xfrm>
            <a:off x="6473952" y="3986784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967728" y="4005072"/>
            <a:ext cx="4352544" cy="26517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2130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Neo4j 图查询与 Milvus 索引对比</a:t>
            </a:r>
            <a:endParaRPr lang="en-US" sz="1280" dirty="0"/>
          </a:p>
        </p:txBody>
      </p:sp>
      <p:sp>
        <p:nvSpPr>
          <p:cNvPr id="38" name="Shape 36"/>
          <p:cNvSpPr/>
          <p:nvPr/>
        </p:nvSpPr>
        <p:spPr>
          <a:xfrm>
            <a:off x="6473952" y="4462272"/>
            <a:ext cx="310896" cy="310896"/>
          </a:xfrm>
          <a:prstGeom prst="ellipse">
            <a:avLst/>
          </a:prstGeom>
          <a:solidFill>
            <a:srgbClr val="16AE9C"/>
          </a:solidFill>
          <a:ln w="12700">
            <a:solidFill>
              <a:srgbClr val="16AE9C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9" name="Text 37"/>
          <p:cNvSpPr/>
          <p:nvPr/>
        </p:nvSpPr>
        <p:spPr>
          <a:xfrm>
            <a:off x="6473952" y="4471416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967728" y="4489704"/>
            <a:ext cx="4352544" cy="26517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2130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中断 Worker → 恢复 → 校验最终一致</a:t>
            </a:r>
            <a:endParaRPr lang="en-US" sz="1280" dirty="0"/>
          </a:p>
        </p:txBody>
      </p:sp>
      <p:sp>
        <p:nvSpPr>
          <p:cNvPr id="41" name="Shape 39"/>
          <p:cNvSpPr/>
          <p:nvPr/>
        </p:nvSpPr>
        <p:spPr>
          <a:xfrm>
            <a:off x="585216" y="5541264"/>
            <a:ext cx="11018520" cy="493776"/>
          </a:xfrm>
          <a:prstGeom prst="roundRect">
            <a:avLst>
              <a:gd name="adj" fmla="val 18519"/>
            </a:avLst>
          </a:prstGeom>
          <a:solidFill>
            <a:srgbClr val="E7EDFA"/>
          </a:solidFill>
          <a:ln w="12700">
            <a:solidFill>
              <a:srgbClr val="E7EDF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2" name="Text 40"/>
          <p:cNvSpPr/>
          <p:nvPr/>
        </p:nvSpPr>
        <p:spPr>
          <a:xfrm>
            <a:off x="786384" y="5641848"/>
            <a:ext cx="10625328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交付件：源码 + Docker 配置 + 数据库设计 + 实验脚本 / 原始结果 + 课程报告 + 演示素材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6AE9C"/>
          </a:solidFill>
          <a:ln w="12700">
            <a:solidFill>
              <a:srgbClr val="16AE9C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603504" y="566928"/>
            <a:ext cx="1645920" cy="283464"/>
          </a:xfrm>
          <a:prstGeom prst="roundRect">
            <a:avLst>
              <a:gd name="adj" fmla="val 41935"/>
            </a:avLst>
          </a:prstGeom>
          <a:solidFill>
            <a:srgbClr val="243657"/>
          </a:solidFill>
          <a:ln w="12700">
            <a:solidFill>
              <a:srgbClr val="24365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" name="Text 2"/>
          <p:cNvSpPr/>
          <p:nvPr/>
        </p:nvSpPr>
        <p:spPr>
          <a:xfrm>
            <a:off x="676656" y="580644"/>
            <a:ext cx="1499616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2E3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PROJECT VALUE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03504" y="1307592"/>
            <a:ext cx="10607040" cy="5852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一套真正能使用的知识库，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03504" y="1993392"/>
            <a:ext cx="10698480" cy="6675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300" b="1" dirty="0">
                <a:solidFill>
                  <a:srgbClr val="9AB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一次完整的异构 NoSQL 协同实践。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594360" y="3337560"/>
            <a:ext cx="3602736" cy="1527048"/>
          </a:xfrm>
          <a:prstGeom prst="roundRect">
            <a:avLst>
              <a:gd name="adj" fmla="val 10180"/>
            </a:avLst>
          </a:prstGeom>
          <a:solidFill>
            <a:srgbClr val="192A48"/>
          </a:solidFill>
          <a:ln w="12700">
            <a:solidFill>
              <a:srgbClr val="314562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8" name="Shape 6"/>
          <p:cNvSpPr/>
          <p:nvPr/>
        </p:nvSpPr>
        <p:spPr>
          <a:xfrm>
            <a:off x="594360" y="3337560"/>
            <a:ext cx="3602736" cy="82296"/>
          </a:xfrm>
          <a:prstGeom prst="rect">
            <a:avLst/>
          </a:prstGeom>
          <a:solidFill>
            <a:srgbClr val="526BEA"/>
          </a:solidFill>
          <a:ln w="12700">
            <a:solidFill>
              <a:srgbClr val="526BE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832104" y="3602736"/>
            <a:ext cx="306324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用户价值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32104" y="4224528"/>
            <a:ext cx="3044952" cy="356616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B8CBE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笔记 · 文档 · 检索 · 知识图谱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98264" y="3337560"/>
            <a:ext cx="3602736" cy="1527048"/>
          </a:xfrm>
          <a:prstGeom prst="roundRect">
            <a:avLst>
              <a:gd name="adj" fmla="val 10180"/>
            </a:avLst>
          </a:prstGeom>
          <a:solidFill>
            <a:srgbClr val="192A48"/>
          </a:solidFill>
          <a:ln w="12700">
            <a:solidFill>
              <a:srgbClr val="314562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2" name="Shape 10"/>
          <p:cNvSpPr/>
          <p:nvPr/>
        </p:nvSpPr>
        <p:spPr>
          <a:xfrm>
            <a:off x="4398264" y="3337560"/>
            <a:ext cx="3602736" cy="82296"/>
          </a:xfrm>
          <a:prstGeom prst="rect">
            <a:avLst/>
          </a:prstGeom>
          <a:solidFill>
            <a:srgbClr val="16AE9C"/>
          </a:solidFill>
          <a:ln w="12700">
            <a:solidFill>
              <a:srgbClr val="16AE9C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3" name="Text 11"/>
          <p:cNvSpPr/>
          <p:nvPr/>
        </p:nvSpPr>
        <p:spPr>
          <a:xfrm>
            <a:off x="4636008" y="3602736"/>
            <a:ext cx="306324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技术价值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636008" y="4224528"/>
            <a:ext cx="3044952" cy="356616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B8CBE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文档 / 缓存 / 图 / 向量协同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02168" y="3337560"/>
            <a:ext cx="3602736" cy="1527048"/>
          </a:xfrm>
          <a:prstGeom prst="roundRect">
            <a:avLst>
              <a:gd name="adj" fmla="val 10180"/>
            </a:avLst>
          </a:prstGeom>
          <a:solidFill>
            <a:srgbClr val="192A48"/>
          </a:solidFill>
          <a:ln w="12700">
            <a:solidFill>
              <a:srgbClr val="314562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6" name="Shape 14"/>
          <p:cNvSpPr/>
          <p:nvPr/>
        </p:nvSpPr>
        <p:spPr>
          <a:xfrm>
            <a:off x="8202168" y="3337560"/>
            <a:ext cx="3602736" cy="82296"/>
          </a:xfrm>
          <a:prstGeom prst="rect">
            <a:avLst/>
          </a:prstGeom>
          <a:solidFill>
            <a:srgbClr val="8B71E8"/>
          </a:solidFill>
          <a:ln w="12700">
            <a:solidFill>
              <a:srgbClr val="8B71E8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7" name="Text 15"/>
          <p:cNvSpPr/>
          <p:nvPr/>
        </p:nvSpPr>
        <p:spPr>
          <a:xfrm>
            <a:off x="8439912" y="3602736"/>
            <a:ext cx="306324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课程价值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439912" y="4224528"/>
            <a:ext cx="3044952" cy="356616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B8CBE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可复现实验 · 可观测可靠性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" y="5669280"/>
            <a:ext cx="10908792" cy="0"/>
          </a:xfrm>
          <a:prstGeom prst="line">
            <a:avLst/>
          </a:prstGeom>
          <a:noFill/>
          <a:ln w="11430">
            <a:solidFill>
              <a:srgbClr val="3A4C6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0" name="Text 18"/>
          <p:cNvSpPr/>
          <p:nvPr/>
        </p:nvSpPr>
        <p:spPr>
          <a:xfrm>
            <a:off x="630936" y="5907024"/>
            <a:ext cx="9893808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D3E0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下一步：完成数据模型与 Docker 基础环境，启动 P0 功能开发。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0277856" y="5879592"/>
            <a:ext cx="1252728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76E8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Q&amp;A</a:t>
            </a:r>
            <a:endParaRPr lang="en-US" sz="1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526BEA"/>
          </a:solidFill>
          <a:ln w="12700">
            <a:solidFill>
              <a:srgbClr val="526BE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/>
          <p:nvPr/>
        </p:nvSpPr>
        <p:spPr>
          <a:xfrm>
            <a:off x="548640" y="310896"/>
            <a:ext cx="731520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26BE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附录 / 开源参考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B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技术依据与官方参考资源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16128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实现细节以实际使用版本的官方文档为准，开源仓库主要用于借鉴实现思路。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6528816"/>
            <a:ext cx="11091672" cy="0"/>
          </a:xfrm>
          <a:prstGeom prst="line">
            <a:avLst/>
          </a:prstGeom>
          <a:noFill/>
          <a:ln w="8890">
            <a:solidFill>
              <a:srgbClr val="E2EAF4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/>
          <p:nvPr/>
        </p:nvSpPr>
        <p:spPr>
          <a:xfrm>
            <a:off x="566928" y="6574536"/>
            <a:ext cx="658368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知序 KnowledgeHub  /  大数据管理课程项目</a:t>
            </a:r>
            <a:endParaRPr lang="en-US" sz="830" dirty="0"/>
          </a:p>
        </p:txBody>
      </p:sp>
      <p:sp>
        <p:nvSpPr>
          <p:cNvPr id="8" name="Text 6"/>
          <p:cNvSpPr/>
          <p:nvPr/>
        </p:nvSpPr>
        <p:spPr>
          <a:xfrm>
            <a:off x="11109960" y="6547104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12648" y="1719072"/>
            <a:ext cx="10954512" cy="576072"/>
          </a:xfrm>
          <a:prstGeom prst="roundRect">
            <a:avLst>
              <a:gd name="adj" fmla="val 17460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0" name="Text 8"/>
          <p:cNvSpPr/>
          <p:nvPr/>
        </p:nvSpPr>
        <p:spPr>
          <a:xfrm>
            <a:off x="859536" y="1865376"/>
            <a:ext cx="1847088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80" b="1" dirty="0">
                <a:solidFill>
                  <a:srgbClr val="1B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MongoDB</a:t>
            </a:r>
            <a:endParaRPr lang="en-US" sz="1380" dirty="0"/>
          </a:p>
        </p:txBody>
      </p:sp>
      <p:sp>
        <p:nvSpPr>
          <p:cNvPr id="11" name="Text 9"/>
          <p:cNvSpPr/>
          <p:nvPr/>
        </p:nvSpPr>
        <p:spPr>
          <a:xfrm>
            <a:off x="2843784" y="1856232"/>
            <a:ext cx="4041648" cy="2834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10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数据建模、事务、索引与聚合</a:t>
            </a:r>
            <a:endParaRPr lang="en-US" sz="1210" dirty="0"/>
          </a:p>
        </p:txBody>
      </p:sp>
      <p:sp>
        <p:nvSpPr>
          <p:cNvPr id="12" name="Text 10"/>
          <p:cNvSpPr/>
          <p:nvPr/>
        </p:nvSpPr>
        <p:spPr>
          <a:xfrm>
            <a:off x="6867144" y="1856232"/>
            <a:ext cx="4416552" cy="2834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526BE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https://www.mongodb.com/docs/manual/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612648" y="2414016"/>
            <a:ext cx="10954512" cy="576072"/>
          </a:xfrm>
          <a:prstGeom prst="roundRect">
            <a:avLst>
              <a:gd name="adj" fmla="val 17460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4" name="Text 12"/>
          <p:cNvSpPr/>
          <p:nvPr/>
        </p:nvSpPr>
        <p:spPr>
          <a:xfrm>
            <a:off x="859536" y="2560320"/>
            <a:ext cx="1847088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80" b="1" dirty="0">
                <a:solidFill>
                  <a:srgbClr val="1B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Redis Streams</a:t>
            </a:r>
            <a:endParaRPr lang="en-US" sz="1380" dirty="0"/>
          </a:p>
        </p:txBody>
      </p:sp>
      <p:sp>
        <p:nvSpPr>
          <p:cNvPr id="15" name="Text 13"/>
          <p:cNvSpPr/>
          <p:nvPr/>
        </p:nvSpPr>
        <p:spPr>
          <a:xfrm>
            <a:off x="2843784" y="2551176"/>
            <a:ext cx="4041648" cy="2834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10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消费组、ACK、重试与事件流</a:t>
            </a:r>
            <a:endParaRPr lang="en-US" sz="1210" dirty="0"/>
          </a:p>
        </p:txBody>
      </p:sp>
      <p:sp>
        <p:nvSpPr>
          <p:cNvPr id="16" name="Text 14"/>
          <p:cNvSpPr/>
          <p:nvPr/>
        </p:nvSpPr>
        <p:spPr>
          <a:xfrm>
            <a:off x="6867144" y="2551176"/>
            <a:ext cx="4416552" cy="2834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526BE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https://redis.io/docs/latest/develop/data-types/streams/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612648" y="3108960"/>
            <a:ext cx="10954512" cy="576072"/>
          </a:xfrm>
          <a:prstGeom prst="roundRect">
            <a:avLst>
              <a:gd name="adj" fmla="val 17460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8" name="Text 16"/>
          <p:cNvSpPr/>
          <p:nvPr/>
        </p:nvSpPr>
        <p:spPr>
          <a:xfrm>
            <a:off x="859536" y="3255264"/>
            <a:ext cx="1847088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80" b="1" dirty="0">
                <a:solidFill>
                  <a:srgbClr val="1B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Neo4j Cypher</a:t>
            </a:r>
            <a:endParaRPr lang="en-US" sz="1380" dirty="0"/>
          </a:p>
        </p:txBody>
      </p:sp>
      <p:sp>
        <p:nvSpPr>
          <p:cNvPr id="19" name="Text 17"/>
          <p:cNvSpPr/>
          <p:nvPr/>
        </p:nvSpPr>
        <p:spPr>
          <a:xfrm>
            <a:off x="2843784" y="3246120"/>
            <a:ext cx="4041648" cy="2834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10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节点关系建模、Cypher 查询</a:t>
            </a:r>
            <a:endParaRPr lang="en-US" sz="1210" dirty="0"/>
          </a:p>
        </p:txBody>
      </p:sp>
      <p:sp>
        <p:nvSpPr>
          <p:cNvPr id="20" name="Text 18"/>
          <p:cNvSpPr/>
          <p:nvPr/>
        </p:nvSpPr>
        <p:spPr>
          <a:xfrm>
            <a:off x="6867144" y="3246120"/>
            <a:ext cx="4416552" cy="2834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526BE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https://neo4j.com/docs/cypher-manual/current/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612648" y="3803904"/>
            <a:ext cx="10954512" cy="576072"/>
          </a:xfrm>
          <a:prstGeom prst="roundRect">
            <a:avLst>
              <a:gd name="adj" fmla="val 17460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2" name="Text 20"/>
          <p:cNvSpPr/>
          <p:nvPr/>
        </p:nvSpPr>
        <p:spPr>
          <a:xfrm>
            <a:off x="859536" y="3950208"/>
            <a:ext cx="1847088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80" b="1" dirty="0">
                <a:solidFill>
                  <a:srgbClr val="1B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Milvus</a:t>
            </a:r>
            <a:endParaRPr lang="en-US" sz="1380" dirty="0"/>
          </a:p>
        </p:txBody>
      </p:sp>
      <p:sp>
        <p:nvSpPr>
          <p:cNvPr id="23" name="Text 21"/>
          <p:cNvSpPr/>
          <p:nvPr/>
        </p:nvSpPr>
        <p:spPr>
          <a:xfrm>
            <a:off x="2843784" y="3941064"/>
            <a:ext cx="4041648" cy="2834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10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Schema、向量索引与 BM25</a:t>
            </a:r>
            <a:endParaRPr lang="en-US" sz="1210" dirty="0"/>
          </a:p>
        </p:txBody>
      </p:sp>
      <p:sp>
        <p:nvSpPr>
          <p:cNvPr id="24" name="Text 22"/>
          <p:cNvSpPr/>
          <p:nvPr/>
        </p:nvSpPr>
        <p:spPr>
          <a:xfrm>
            <a:off x="6867144" y="3941064"/>
            <a:ext cx="4416552" cy="2834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526BE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https://milvus.io/docs/</a:t>
            </a:r>
            <a:endParaRPr lang="en-US" sz="960" dirty="0"/>
          </a:p>
        </p:txBody>
      </p:sp>
      <p:sp>
        <p:nvSpPr>
          <p:cNvPr id="25" name="Shape 23"/>
          <p:cNvSpPr/>
          <p:nvPr/>
        </p:nvSpPr>
        <p:spPr>
          <a:xfrm>
            <a:off x="612648" y="4498848"/>
            <a:ext cx="10954512" cy="576072"/>
          </a:xfrm>
          <a:prstGeom prst="roundRect">
            <a:avLst>
              <a:gd name="adj" fmla="val 17460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Text 24"/>
          <p:cNvSpPr/>
          <p:nvPr/>
        </p:nvSpPr>
        <p:spPr>
          <a:xfrm>
            <a:off x="859536" y="4645152"/>
            <a:ext cx="1847088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80" b="1" dirty="0">
                <a:solidFill>
                  <a:srgbClr val="1B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FastAPI</a:t>
            </a:r>
            <a:endParaRPr lang="en-US" sz="1380" dirty="0"/>
          </a:p>
        </p:txBody>
      </p:sp>
      <p:sp>
        <p:nvSpPr>
          <p:cNvPr id="27" name="Text 25"/>
          <p:cNvSpPr/>
          <p:nvPr/>
        </p:nvSpPr>
        <p:spPr>
          <a:xfrm>
            <a:off x="2843784" y="4636008"/>
            <a:ext cx="4041648" cy="2834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10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接口、校验、异步服务</a:t>
            </a:r>
            <a:endParaRPr lang="en-US" sz="1210" dirty="0"/>
          </a:p>
        </p:txBody>
      </p:sp>
      <p:sp>
        <p:nvSpPr>
          <p:cNvPr id="28" name="Text 26"/>
          <p:cNvSpPr/>
          <p:nvPr/>
        </p:nvSpPr>
        <p:spPr>
          <a:xfrm>
            <a:off x="6867144" y="4636008"/>
            <a:ext cx="4416552" cy="2834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526BE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https://fastapi.tiangolo.com/</a:t>
            </a:r>
            <a:endParaRPr lang="en-US" sz="960" dirty="0"/>
          </a:p>
        </p:txBody>
      </p:sp>
      <p:sp>
        <p:nvSpPr>
          <p:cNvPr id="29" name="Shape 27"/>
          <p:cNvSpPr/>
          <p:nvPr/>
        </p:nvSpPr>
        <p:spPr>
          <a:xfrm>
            <a:off x="612648" y="5193792"/>
            <a:ext cx="10954512" cy="576072"/>
          </a:xfrm>
          <a:prstGeom prst="roundRect">
            <a:avLst>
              <a:gd name="adj" fmla="val 17460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0" name="Text 28"/>
          <p:cNvSpPr/>
          <p:nvPr/>
        </p:nvSpPr>
        <p:spPr>
          <a:xfrm>
            <a:off x="859536" y="5340096"/>
            <a:ext cx="1847088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80" b="1" dirty="0">
                <a:solidFill>
                  <a:srgbClr val="1B2A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Docker Compose</a:t>
            </a:r>
            <a:endParaRPr lang="en-US" sz="1380" dirty="0"/>
          </a:p>
        </p:txBody>
      </p:sp>
      <p:sp>
        <p:nvSpPr>
          <p:cNvPr id="31" name="Text 29"/>
          <p:cNvSpPr/>
          <p:nvPr/>
        </p:nvSpPr>
        <p:spPr>
          <a:xfrm>
            <a:off x="2843784" y="5330952"/>
            <a:ext cx="4041648" cy="2834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10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多容器部署与健康检查</a:t>
            </a:r>
            <a:endParaRPr lang="en-US" sz="1210" dirty="0"/>
          </a:p>
        </p:txBody>
      </p:sp>
      <p:sp>
        <p:nvSpPr>
          <p:cNvPr id="32" name="Text 30"/>
          <p:cNvSpPr/>
          <p:nvPr/>
        </p:nvSpPr>
        <p:spPr>
          <a:xfrm>
            <a:off x="6867144" y="5330952"/>
            <a:ext cx="4416552" cy="2834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526BE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https://docs.docker.com/compose/</a:t>
            </a:r>
            <a:endParaRPr lang="en-US" sz="960" dirty="0"/>
          </a:p>
        </p:txBody>
      </p:sp>
      <p:sp>
        <p:nvSpPr>
          <p:cNvPr id="33" name="Shape 31"/>
          <p:cNvSpPr/>
          <p:nvPr/>
        </p:nvSpPr>
        <p:spPr>
          <a:xfrm>
            <a:off x="612648" y="6007608"/>
            <a:ext cx="10954512" cy="265176"/>
          </a:xfrm>
          <a:prstGeom prst="roundRect">
            <a:avLst>
              <a:gd name="adj" fmla="val 24138"/>
            </a:avLst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4" name="Text 32"/>
          <p:cNvSpPr/>
          <p:nvPr/>
        </p:nvSpPr>
        <p:spPr>
          <a:xfrm>
            <a:off x="777240" y="6025896"/>
            <a:ext cx="1056132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66779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项目规划文档：《基于异构 NoSQL 数据库协同的个人知识管理与智能检索系统》</a:t>
            </a:r>
            <a:endParaRPr lang="en-US" sz="104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19.6,&quot;left&quot;:43.2,&quot;top&quot;:142.56,&quot;width&quot;:882.72}"/>
</p:tagLst>
</file>

<file path=ppt/tags/tag2.xml><?xml version="1.0" encoding="utf-8"?>
<p:tagLst xmlns:p="http://schemas.openxmlformats.org/presentationml/2006/main">
  <p:tag name="KSO_WM_DIAGRAM_VIRTUALLY_FRAME" val="{&quot;height&quot;:219.6,&quot;left&quot;:43.2,&quot;top&quot;:142.56,&quot;width&quot;:882.72}"/>
</p:tagLst>
</file>

<file path=ppt/tags/tag3.xml><?xml version="1.0" encoding="utf-8"?>
<p:tagLst xmlns:p="http://schemas.openxmlformats.org/presentationml/2006/main">
  <p:tag name="KSO_WM_DIAGRAM_VIRTUALLY_FRAME" val="{&quot;height&quot;:219.6,&quot;left&quot;:43.2,&quot;top&quot;:142.56,&quot;width&quot;:882.72}"/>
</p:tagLst>
</file>

<file path=ppt/tags/tag4.xml><?xml version="1.0" encoding="utf-8"?>
<p:tagLst xmlns:p="http://schemas.openxmlformats.org/presentationml/2006/main">
  <p:tag name="KSO_WM_DIAGRAM_VIRTUALLY_FRAME" val="{&quot;height&quot;:219.6,&quot;left&quot;:43.2,&quot;top&quot;:142.56,&quot;width&quot;:882.72}"/>
</p:tagLst>
</file>

<file path=ppt/tags/tag5.xml><?xml version="1.0" encoding="utf-8"?>
<p:tagLst xmlns:p="http://schemas.openxmlformats.org/presentationml/2006/main">
  <p:tag name="KSO_WM_DIAGRAM_VIRTUALLY_FRAME" val="{&quot;height&quot;:219.6,&quot;left&quot;:43.2,&quot;top&quot;:142.56,&quot;width&quot;:882.72}"/>
</p:tagLst>
</file>

<file path=ppt/tags/tag6.xml><?xml version="1.0" encoding="utf-8"?>
<p:tagLst xmlns:p="http://schemas.openxmlformats.org/presentationml/2006/main">
  <p:tag name="KSO_WM_DIAGRAM_VIRTUALLY_FRAME" val="{&quot;height&quot;:219.6,&quot;left&quot;:43.2,&quot;top&quot;:142.56,&quot;width&quot;:882.72}"/>
</p:tagLst>
</file>

<file path=ppt/tags/tag7.xml><?xml version="1.0" encoding="utf-8"?>
<p:tagLst xmlns:p="http://schemas.openxmlformats.org/presentationml/2006/main">
  <p:tag name="KSO_WM_DIAGRAM_VIRTUALLY_FRAME" val="{&quot;height&quot;:219.6,&quot;left&quot;:43.2,&quot;top&quot;:142.56,&quot;width&quot;:882.72}"/>
</p:tagLst>
</file>

<file path=ppt/tags/tag8.xml><?xml version="1.0" encoding="utf-8"?>
<p:tagLst xmlns:p="http://schemas.openxmlformats.org/presentationml/2006/main">
  <p:tag name="KSO_WM_DIAGRAM_VIRTUALLY_FRAME" val="{&quot;height&quot;:219.6,&quot;left&quot;:43.2,&quot;top&quot;:142.56,&quot;width&quot;:882.72}"/>
</p:tagLst>
</file>

<file path=ppt/tags/tag9.xml><?xml version="1.0" encoding="utf-8"?>
<p:tagLst xmlns:p="http://schemas.openxmlformats.org/presentationml/2006/main">
  <p:tag name="KSO_WM_DIAGRAM_VIRTUALLY_FRAME" val="{&quot;height&quot;:219.6,&quot;left&quot;:43.2,&quot;top&quot;:142.56,&quot;width&quot;:882.72}"/>
</p:tagLst>
</file>

<file path=ppt/tags/tag10.xml><?xml version="1.0" encoding="utf-8"?>
<p:tagLst xmlns:p="http://schemas.openxmlformats.org/presentationml/2006/main">
  <p:tag name="KSO_WM_DIAGRAM_VIRTUALLY_FRAME" val="{&quot;height&quot;:219.6,&quot;left&quot;:43.2,&quot;top&quot;:142.56,&quot;width&quot;:882.72}"/>
</p:tagLst>
</file>

<file path=ppt/tags/tag11.xml><?xml version="1.0" encoding="utf-8"?>
<p:tagLst xmlns:p="http://schemas.openxmlformats.org/presentationml/2006/main">
  <p:tag name="KSO_WM_DIAGRAM_VIRTUALLY_FRAME" val="{&quot;height&quot;:219.6,&quot;left&quot;:43.2,&quot;top&quot;:142.56,&quot;width&quot;:882.72}"/>
</p:tagLst>
</file>

<file path=ppt/tags/tag12.xml><?xml version="1.0" encoding="utf-8"?>
<p:tagLst xmlns:p="http://schemas.openxmlformats.org/presentationml/2006/main">
  <p:tag name="KSO_WM_DIAGRAM_VIRTUALLY_FRAME" val="{&quot;height&quot;:219.6,&quot;left&quot;:43.2,&quot;top&quot;:142.56,&quot;width&quot;:882.72}"/>
</p:tagLst>
</file>

<file path=ppt/tags/tag13.xml><?xml version="1.0" encoding="utf-8"?>
<p:tagLst xmlns:p="http://schemas.openxmlformats.org/presentationml/2006/main">
  <p:tag name="KSO_WM_DIAGRAM_VIRTUALLY_FRAME" val="{&quot;height&quot;:219.6,&quot;left&quot;:43.2,&quot;top&quot;:142.56,&quot;width&quot;:882.72}"/>
</p:tagLst>
</file>

<file path=ppt/tags/tag14.xml><?xml version="1.0" encoding="utf-8"?>
<p:tagLst xmlns:p="http://schemas.openxmlformats.org/presentationml/2006/main">
  <p:tag name="KSO_WM_DIAGRAM_VIRTUALLY_FRAME" val="{&quot;height&quot;:219.6,&quot;left&quot;:43.2,&quot;top&quot;:142.56,&quot;width&quot;:882.72}"/>
</p:tagLst>
</file>

<file path=ppt/tags/tag15.xml><?xml version="1.0" encoding="utf-8"?>
<p:tagLst xmlns:p="http://schemas.openxmlformats.org/presentationml/2006/main">
  <p:tag name="KSO_WM_DIAGRAM_VIRTUALLY_FRAME" val="{&quot;height&quot;:219.6,&quot;left&quot;:43.2,&quot;top&quot;:142.56,&quot;width&quot;:882.72}"/>
</p:tagLst>
</file>

<file path=ppt/tags/tag16.xml><?xml version="1.0" encoding="utf-8"?>
<p:tagLst xmlns:p="http://schemas.openxmlformats.org/presentationml/2006/main">
  <p:tag name="KSO_WM_DIAGRAM_VIRTUALLY_FRAME" val="{&quot;height&quot;:144,&quot;left&quot;:45.36,&quot;top&quot;:151.2,&quot;width&quot;:888.4799999999999}"/>
</p:tagLst>
</file>

<file path=ppt/tags/tag17.xml><?xml version="1.0" encoding="utf-8"?>
<p:tagLst xmlns:p="http://schemas.openxmlformats.org/presentationml/2006/main">
  <p:tag name="KSO_WM_DIAGRAM_VIRTUALLY_FRAME" val="{&quot;height&quot;:144,&quot;left&quot;:45.36,&quot;top&quot;:151.2,&quot;width&quot;:888.4799999999999}"/>
</p:tagLst>
</file>

<file path=ppt/tags/tag18.xml><?xml version="1.0" encoding="utf-8"?>
<p:tagLst xmlns:p="http://schemas.openxmlformats.org/presentationml/2006/main">
  <p:tag name="KSO_WM_DIAGRAM_VIRTUALLY_FRAME" val="{&quot;height&quot;:144,&quot;left&quot;:45.36,&quot;top&quot;:151.2,&quot;width&quot;:888.4799999999999}"/>
</p:tagLst>
</file>

<file path=ppt/tags/tag19.xml><?xml version="1.0" encoding="utf-8"?>
<p:tagLst xmlns:p="http://schemas.openxmlformats.org/presentationml/2006/main">
  <p:tag name="KSO_WM_DIAGRAM_VIRTUALLY_FRAME" val="{&quot;height&quot;:144,&quot;left&quot;:45.36,&quot;top&quot;:151.2,&quot;width&quot;:888.4799999999999}"/>
</p:tagLst>
</file>

<file path=ppt/tags/tag20.xml><?xml version="1.0" encoding="utf-8"?>
<p:tagLst xmlns:p="http://schemas.openxmlformats.org/presentationml/2006/main">
  <p:tag name="KSO_WM_DIAGRAM_VIRTUALLY_FRAME" val="{&quot;height&quot;:144,&quot;left&quot;:45.36,&quot;top&quot;:151.2,&quot;width&quot;:888.4799999999999}"/>
</p:tagLst>
</file>

<file path=ppt/tags/tag21.xml><?xml version="1.0" encoding="utf-8"?>
<p:tagLst xmlns:p="http://schemas.openxmlformats.org/presentationml/2006/main">
  <p:tag name="KSO_WM_DIAGRAM_VIRTUALLY_FRAME" val="{&quot;height&quot;:144,&quot;left&quot;:45.36,&quot;top&quot;:151.2,&quot;width&quot;:888.4799999999999}"/>
</p:tagLst>
</file>

<file path=ppt/tags/tag22.xml><?xml version="1.0" encoding="utf-8"?>
<p:tagLst xmlns:p="http://schemas.openxmlformats.org/presentationml/2006/main">
  <p:tag name="KSO_WM_DIAGRAM_VIRTUALLY_FRAME" val="{&quot;height&quot;:144,&quot;left&quot;:45.36,&quot;top&quot;:151.2,&quot;width&quot;:888.4799999999999}"/>
</p:tagLst>
</file>

<file path=ppt/tags/tag23.xml><?xml version="1.0" encoding="utf-8"?>
<p:tagLst xmlns:p="http://schemas.openxmlformats.org/presentationml/2006/main">
  <p:tag name="KSO_WM_DIAGRAM_VIRTUALLY_FRAME" val="{&quot;height&quot;:144,&quot;left&quot;:45.36,&quot;top&quot;:151.2,&quot;width&quot;:888.4799999999999}"/>
</p:tagLst>
</file>

<file path=ppt/tags/tag24.xml><?xml version="1.0" encoding="utf-8"?>
<p:tagLst xmlns:p="http://schemas.openxmlformats.org/presentationml/2006/main">
  <p:tag name="KSO_WM_DIAGRAM_VIRTUALLY_FRAME" val="{&quot;height&quot;:144,&quot;left&quot;:45.36,&quot;top&quot;:151.2,&quot;width&quot;:888.4799999999999}"/>
</p:tagLst>
</file>

<file path=ppt/tags/tag25.xml><?xml version="1.0" encoding="utf-8"?>
<p:tagLst xmlns:p="http://schemas.openxmlformats.org/presentationml/2006/main">
  <p:tag name="KSO_WM_DIAGRAM_VIRTUALLY_FRAME" val="{&quot;height&quot;:144,&quot;left&quot;:45.36,&quot;top&quot;:151.2,&quot;width&quot;:888.4799999999999}"/>
</p:tagLst>
</file>

<file path=ppt/tags/tag26.xml><?xml version="1.0" encoding="utf-8"?>
<p:tagLst xmlns:p="http://schemas.openxmlformats.org/presentationml/2006/main">
  <p:tag name="KSO_WM_DIAGRAM_VIRTUALLY_FRAME" val="{&quot;height&quot;:144,&quot;left&quot;:45.36,&quot;top&quot;:151.2,&quot;width&quot;:888.4799999999999}"/>
</p:tagLst>
</file>

<file path=ppt/tags/tag27.xml><?xml version="1.0" encoding="utf-8"?>
<p:tagLst xmlns:p="http://schemas.openxmlformats.org/presentationml/2006/main">
  <p:tag name="KSO_WM_DIAGRAM_VIRTUALLY_FRAME" val="{&quot;height&quot;:144,&quot;left&quot;:45.36,&quot;top&quot;:151.2,&quot;width&quot;:888.4799999999999}"/>
</p:tagLst>
</file>

<file path=ppt/tags/tag28.xml><?xml version="1.0" encoding="utf-8"?>
<p:tagLst xmlns:p="http://schemas.openxmlformats.org/presentationml/2006/main">
  <p:tag name="KSO_WM_DIAGRAM_VIRTUALLY_FRAME" val="{&quot;height&quot;:144,&quot;left&quot;:45.36,&quot;top&quot;:151.2,&quot;width&quot;:888.4799999999999}"/>
</p:tagLst>
</file>

<file path=ppt/tags/tag29.xml><?xml version="1.0" encoding="utf-8"?>
<p:tagLst xmlns:p="http://schemas.openxmlformats.org/presentationml/2006/main">
  <p:tag name="KSO_WM_DIAGRAM_VIRTUALLY_FRAME" val="{&quot;height&quot;:144,&quot;left&quot;:45.36,&quot;top&quot;:151.2,&quot;width&quot;:888.4799999999999}"/>
</p:tagLst>
</file>

<file path=ppt/tags/tag30.xml><?xml version="1.0" encoding="utf-8"?>
<p:tagLst xmlns:p="http://schemas.openxmlformats.org/presentationml/2006/main">
  <p:tag name="KSO_WM_DIAGRAM_VIRTUALLY_FRAME" val="{&quot;height&quot;:144,&quot;left&quot;:45.36,&quot;top&quot;:151.2,&quot;width&quot;:888.4799999999999}"/>
</p:tagLst>
</file>

<file path=ppt/tags/tag31.xml><?xml version="1.0" encoding="utf-8"?>
<p:tagLst xmlns:p="http://schemas.openxmlformats.org/presentationml/2006/main">
  <p:tag name="KSO_WM_DIAGRAM_VIRTUALLY_FRAME" val="{&quot;height&quot;:144,&quot;left&quot;:45.36,&quot;top&quot;:151.2,&quot;width&quot;:888.4799999999999}"/>
</p:tagLst>
</file>

<file path=ppt/tags/tag32.xml><?xml version="1.0" encoding="utf-8"?>
<p:tagLst xmlns:p="http://schemas.openxmlformats.org/presentationml/2006/main">
  <p:tag name="KSO_WM_DIAGRAM_VIRTUALLY_FRAME" val="{&quot;height&quot;:144,&quot;left&quot;:45.36,&quot;top&quot;:151.2,&quot;width&quot;:888.4799999999999}"/>
</p:tagLst>
</file>

<file path=ppt/tags/tag33.xml><?xml version="1.0" encoding="utf-8"?>
<p:tagLst xmlns:p="http://schemas.openxmlformats.org/presentationml/2006/main">
  <p:tag name="KSO_WM_DIAGRAM_VIRTUALLY_FRAME" val="{&quot;height&quot;:144,&quot;left&quot;:45.36,&quot;top&quot;:151.2,&quot;width&quot;:888.4799999999999}"/>
</p:tagLst>
</file>

<file path=ppt/tags/tag34.xml><?xml version="1.0" encoding="utf-8"?>
<p:tagLst xmlns:p="http://schemas.openxmlformats.org/presentationml/2006/main">
  <p:tag name="KSO_WM_DIAGRAM_VIRTUALLY_FRAME" val="{&quot;height&quot;:144,&quot;left&quot;:45.36,&quot;top&quot;:151.2,&quot;width&quot;:888.4799999999999}"/>
</p:tagLst>
</file>

<file path=ppt/tags/tag35.xml><?xml version="1.0" encoding="utf-8"?>
<p:tagLst xmlns:p="http://schemas.openxmlformats.org/presentationml/2006/main">
  <p:tag name="KSO_WM_DIAGRAM_VIRTUALLY_FRAME" val="{&quot;height&quot;:144,&quot;left&quot;:45.36,&quot;top&quot;:151.2,&quot;width&quot;:888.4799999999999}"/>
</p:tagLst>
</file>

<file path=ppt/tags/tag36.xml><?xml version="1.0" encoding="utf-8"?>
<p:tagLst xmlns:p="http://schemas.openxmlformats.org/presentationml/2006/main">
  <p:tag name="KSO_WM_DIAGRAM_VIRTUALLY_FRAME" val="{&quot;height&quot;:144,&quot;left&quot;:45.36,&quot;top&quot;:151.2,&quot;width&quot;:888.4799999999999}"/>
</p:tagLst>
</file>

<file path=ppt/tags/tag37.xml><?xml version="1.0" encoding="utf-8"?>
<p:tagLst xmlns:p="http://schemas.openxmlformats.org/presentationml/2006/main">
  <p:tag name="KSO_WM_DIAGRAM_VIRTUALLY_FRAME" val="{&quot;height&quot;:144,&quot;left&quot;:45.36,&quot;top&quot;:151.2,&quot;width&quot;:888.4799999999999}"/>
</p:tagLst>
</file>

<file path=ppt/tags/tag38.xml><?xml version="1.0" encoding="utf-8"?>
<p:tagLst xmlns:p="http://schemas.openxmlformats.org/presentationml/2006/main">
  <p:tag name="KSO_WM_DIAGRAM_VIRTUALLY_FRAME" val="{&quot;height&quot;:144,&quot;left&quot;:45.36,&quot;top&quot;:151.2,&quot;width&quot;:888.4799999999999}"/>
</p:tagLst>
</file>

<file path=ppt/tags/tag39.xml><?xml version="1.0" encoding="utf-8"?>
<p:tagLst xmlns:p="http://schemas.openxmlformats.org/presentationml/2006/main">
  <p:tag name="KSO_WM_DIAGRAM_VIRTUALLY_FRAME" val="{&quot;height&quot;:144,&quot;left&quot;:45.36,&quot;top&quot;:151.2,&quot;width&quot;:888.4799999999999}"/>
</p:tagLst>
</file>

<file path=ppt/tags/tag40.xml><?xml version="1.0" encoding="utf-8"?>
<p:tagLst xmlns:p="http://schemas.openxmlformats.org/presentationml/2006/main">
  <p:tag name="KSO_WM_DIAGRAM_VIRTUALLY_FRAME" val="{&quot;height&quot;:144,&quot;left&quot;:45.36,&quot;top&quot;:151.2,&quot;width&quot;:888.4799999999999}"/>
</p:tagLst>
</file>

<file path=ppt/tags/tag41.xml><?xml version="1.0" encoding="utf-8"?>
<p:tagLst xmlns:p="http://schemas.openxmlformats.org/presentationml/2006/main">
  <p:tag name="KSO_WM_DIAGRAM_VIRTUALLY_FRAME" val="{&quot;height&quot;:144,&quot;left&quot;:45.36,&quot;top&quot;:151.2,&quot;width&quot;:888.4799999999999}"/>
</p:tagLst>
</file>

<file path=ppt/tags/tag42.xml><?xml version="1.0" encoding="utf-8"?>
<p:tagLst xmlns:p="http://schemas.openxmlformats.org/presentationml/2006/main">
  <p:tag name="KSO_WM_DIAGRAM_VIRTUALLY_FRAME" val="{&quot;height&quot;:144,&quot;left&quot;:45.36,&quot;top&quot;:151.2,&quot;width&quot;:888.4799999999999}"/>
</p:tagLst>
</file>

<file path=ppt/tags/tag43.xml><?xml version="1.0" encoding="utf-8"?>
<p:tagLst xmlns:p="http://schemas.openxmlformats.org/presentationml/2006/main">
  <p:tag name="KSO_WM_DIAGRAM_VIRTUALLY_FRAME" val="{&quot;height&quot;:144,&quot;left&quot;:45.36,&quot;top&quot;:151.2,&quot;width&quot;:888.4799999999999}"/>
</p:tagLst>
</file>

<file path=ppt/tags/tag44.xml><?xml version="1.0" encoding="utf-8"?>
<p:tagLst xmlns:p="http://schemas.openxmlformats.org/presentationml/2006/main">
  <p:tag name="KSO_WM_DIAGRAM_VIRTUALLY_FRAME" val="{&quot;height&quot;:144,&quot;left&quot;:45.36,&quot;top&quot;:151.2,&quot;width&quot;:888.4799999999999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6064</Words>
  <Application>WPS 演示</Application>
  <PresentationFormat>On-screen Show (16:9)</PresentationFormat>
  <Paragraphs>944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1" baseType="lpstr">
      <vt:lpstr>Arial</vt:lpstr>
      <vt:lpstr>宋体</vt:lpstr>
      <vt:lpstr>Wingdings</vt:lpstr>
      <vt:lpstr>Noto Sans CJK SC</vt:lpstr>
      <vt:lpstr>FFont-Family</vt:lpstr>
      <vt:lpstr>Noto Sans CJK SC</vt:lpstr>
      <vt:lpstr>Noto Sans CJK SC</vt:lpstr>
      <vt:lpstr>微软雅黑</vt:lpstr>
      <vt:lpstr>Arial Unicode MS</vt:lpstr>
      <vt:lpstr>MingLiU-ExtB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课程项目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基于异构 NoSQL 数据库协同的个人知识管理与智能检索系统</dc:title>
  <dc:creator>KnowledgeHub · 项目设计</dc:creator>
  <cp:keywords>异构NoSQL,知识库,MongoDB,Redis,Neo4j,Milvus,课程设计</cp:keywords>
  <dc:subject>知序 KnowledgeHub · MongoDB / Redis / Neo4j / Milvus 课程项目汇报</dc:subject>
  <cp:lastModifiedBy>松鼠</cp:lastModifiedBy>
  <cp:revision>2</cp:revision>
  <dcterms:created xsi:type="dcterms:W3CDTF">2026-10-16T04:09:00Z</dcterms:created>
  <dcterms:modified xsi:type="dcterms:W3CDTF">2026-10-20T11:56:03Z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5AFF2C8B65FA49BAA2A54FEBC1A0CFDA_12</vt:lpwstr>
  </property>
</Properties>
</file>